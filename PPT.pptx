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8"/>
  </p:handoutMasterIdLst>
  <p:sldIdLst>
    <p:sldId id="544" r:id="rId3"/>
    <p:sldId id="566" r:id="rId4"/>
    <p:sldId id="564" r:id="rId5"/>
    <p:sldId id="563" r:id="rId6"/>
    <p:sldId id="539" r:id="rId7"/>
    <p:sldId id="523" r:id="rId8"/>
    <p:sldId id="535" r:id="rId9"/>
    <p:sldId id="565" r:id="rId10"/>
    <p:sldId id="562" r:id="rId11"/>
    <p:sldId id="548" r:id="rId12"/>
    <p:sldId id="547" r:id="rId13"/>
    <p:sldId id="546" r:id="rId14"/>
    <p:sldId id="549" r:id="rId15"/>
    <p:sldId id="550" r:id="rId16"/>
    <p:sldId id="551" r:id="rId17"/>
    <p:sldId id="552" r:id="rId18"/>
    <p:sldId id="553" r:id="rId19"/>
    <p:sldId id="554" r:id="rId20"/>
    <p:sldId id="555" r:id="rId21"/>
    <p:sldId id="556" r:id="rId22"/>
    <p:sldId id="557" r:id="rId23"/>
    <p:sldId id="558" r:id="rId24"/>
    <p:sldId id="559" r:id="rId25"/>
    <p:sldId id="560" r:id="rId26"/>
    <p:sldId id="561" r:id="rId27"/>
  </p:sldIdLst>
  <p:sldSz cx="12192000" cy="6858000"/>
  <p:notesSz cx="6858000" cy="9144000"/>
  <p:embeddedFontLst>
    <p:embeddedFont>
      <p:font typeface="微软雅黑" panose="020B0503020204020204" charset="-122"/>
      <p:regular r:id="rId32"/>
    </p:embeddedFont>
    <p:embeddedFont>
      <p:font typeface="Century Gothic" panose="020B0502020202020204" charset="0"/>
      <p:regular r:id="rId33"/>
      <p:bold r:id="rId34"/>
      <p:italic r:id="rId35"/>
      <p:boldItalic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6" userDrawn="1">
          <p15:clr>
            <a:srgbClr val="A4A3A4"/>
          </p15:clr>
        </p15:guide>
        <p15:guide id="2" orient="horz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E0E6"/>
    <a:srgbClr val="79B0B7"/>
    <a:srgbClr val="87C1C7"/>
    <a:srgbClr val="72B7BE"/>
    <a:srgbClr val="6CC4C4"/>
    <a:srgbClr val="FF9812"/>
    <a:srgbClr val="333561"/>
    <a:srgbClr val="FD270E"/>
    <a:srgbClr val="F26C4F"/>
    <a:srgbClr val="1B32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15" y="216"/>
      </p:cViewPr>
      <p:guideLst>
        <p:guide pos="3846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font" Target="fonts/font9.fntdata"/><Relationship Id="rId4" Type="http://schemas.openxmlformats.org/officeDocument/2006/relationships/slide" Target="slides/slide2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55450-8C65-4306-B253-0BD2E9ED92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7C348-F274-4D5B-A66D-CD14918D50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11486684" y="6291262"/>
            <a:ext cx="362435" cy="362435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Shape 13"/>
          <p:cNvSpPr txBox="1"/>
          <p:nvPr userDrawn="1"/>
        </p:nvSpPr>
        <p:spPr>
          <a:xfrm>
            <a:off x="11404113" y="6331607"/>
            <a:ext cx="503762" cy="276981"/>
          </a:xfrm>
          <a:prstGeom prst="rect">
            <a:avLst/>
          </a:prstGeom>
          <a:noFill/>
          <a:ln>
            <a:noFill/>
          </a:ln>
        </p:spPr>
        <p:txBody>
          <a:bodyPr lIns="91413" tIns="45700" rIns="9141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pc="100" baseline="0">
                <a:solidFill>
                  <a:schemeClr val="accent1"/>
                </a:solidFill>
                <a:latin typeface="+mn-lt"/>
                <a:ea typeface="Lato"/>
                <a:cs typeface="Lato"/>
                <a:sym typeface="Lato"/>
              </a:rPr>
            </a:fld>
            <a:endParaRPr lang="en-US" sz="1200" b="0" i="0" u="none" strike="noStrike" cap="none" spc="100" baseline="0" dirty="0">
              <a:solidFill>
                <a:schemeClr val="accent1"/>
              </a:solidFill>
              <a:latin typeface="+mn-lt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 userDrawn="1"/>
        </p:nvSpPr>
        <p:spPr>
          <a:xfrm>
            <a:off x="1621894" y="-634912"/>
            <a:ext cx="1567884" cy="1567884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908"/>
            <a:ext cx="12192000" cy="6858907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214129" y="3312793"/>
            <a:ext cx="6983180" cy="3549273"/>
            <a:chOff x="5219701" y="3308727"/>
            <a:chExt cx="6983180" cy="3549273"/>
          </a:xfrm>
        </p:grpSpPr>
        <p:sp>
          <p:nvSpPr>
            <p:cNvPr id="164" name="Freeform 5"/>
            <p:cNvSpPr/>
            <p:nvPr/>
          </p:nvSpPr>
          <p:spPr bwMode="auto">
            <a:xfrm>
              <a:off x="6339288" y="5918729"/>
              <a:ext cx="2715465" cy="936083"/>
            </a:xfrm>
            <a:custGeom>
              <a:avLst/>
              <a:gdLst>
                <a:gd name="T0" fmla="*/ 975 w 975"/>
                <a:gd name="T1" fmla="*/ 336 h 336"/>
                <a:gd name="T2" fmla="*/ 0 w 975"/>
                <a:gd name="T3" fmla="*/ 336 h 336"/>
                <a:gd name="T4" fmla="*/ 568 w 975"/>
                <a:gd name="T5" fmla="*/ 49 h 336"/>
                <a:gd name="T6" fmla="*/ 975 w 975"/>
                <a:gd name="T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5" h="336">
                  <a:moveTo>
                    <a:pt x="975" y="336"/>
                  </a:moveTo>
                  <a:cubicBezTo>
                    <a:pt x="0" y="336"/>
                    <a:pt x="0" y="336"/>
                    <a:pt x="0" y="336"/>
                  </a:cubicBezTo>
                  <a:cubicBezTo>
                    <a:pt x="199" y="195"/>
                    <a:pt x="302" y="0"/>
                    <a:pt x="568" y="49"/>
                  </a:cubicBezTo>
                  <a:cubicBezTo>
                    <a:pt x="803" y="92"/>
                    <a:pt x="919" y="230"/>
                    <a:pt x="975" y="336"/>
                  </a:cubicBezTo>
                </a:path>
              </a:pathLst>
            </a:custGeom>
            <a:solidFill>
              <a:srgbClr val="C4E0E6"/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Freeform 6"/>
            <p:cNvSpPr/>
            <p:nvPr/>
          </p:nvSpPr>
          <p:spPr bwMode="auto">
            <a:xfrm>
              <a:off x="5219701" y="3638317"/>
              <a:ext cx="6975260" cy="3216495"/>
            </a:xfrm>
            <a:custGeom>
              <a:avLst/>
              <a:gdLst>
                <a:gd name="T0" fmla="*/ 2505 w 2505"/>
                <a:gd name="T1" fmla="*/ 45 h 1155"/>
                <a:gd name="T2" fmla="*/ 2505 w 2505"/>
                <a:gd name="T3" fmla="*/ 1155 h 1155"/>
                <a:gd name="T4" fmla="*/ 0 w 2505"/>
                <a:gd name="T5" fmla="*/ 1155 h 1155"/>
                <a:gd name="T6" fmla="*/ 485 w 2505"/>
                <a:gd name="T7" fmla="*/ 973 h 1155"/>
                <a:gd name="T8" fmla="*/ 1951 w 2505"/>
                <a:gd name="T9" fmla="*/ 460 h 1155"/>
                <a:gd name="T10" fmla="*/ 2505 w 2505"/>
                <a:gd name="T11" fmla="*/ 45 h 1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5" h="1155">
                  <a:moveTo>
                    <a:pt x="2505" y="45"/>
                  </a:moveTo>
                  <a:cubicBezTo>
                    <a:pt x="2505" y="1155"/>
                    <a:pt x="2505" y="1155"/>
                    <a:pt x="2505" y="1155"/>
                  </a:cubicBezTo>
                  <a:cubicBezTo>
                    <a:pt x="0" y="1155"/>
                    <a:pt x="0" y="1155"/>
                    <a:pt x="0" y="1155"/>
                  </a:cubicBezTo>
                  <a:cubicBezTo>
                    <a:pt x="99" y="1018"/>
                    <a:pt x="269" y="860"/>
                    <a:pt x="485" y="973"/>
                  </a:cubicBezTo>
                  <a:cubicBezTo>
                    <a:pt x="832" y="1155"/>
                    <a:pt x="1574" y="1142"/>
                    <a:pt x="1951" y="460"/>
                  </a:cubicBezTo>
                  <a:cubicBezTo>
                    <a:pt x="2154" y="93"/>
                    <a:pt x="2343" y="0"/>
                    <a:pt x="2505" y="4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Freeform 7"/>
            <p:cNvSpPr/>
            <p:nvPr/>
          </p:nvSpPr>
          <p:spPr bwMode="auto">
            <a:xfrm>
              <a:off x="8030010" y="3801203"/>
              <a:ext cx="4164949" cy="3053609"/>
            </a:xfrm>
            <a:custGeom>
              <a:avLst/>
              <a:gdLst>
                <a:gd name="T0" fmla="*/ 1496 w 1496"/>
                <a:gd name="T1" fmla="*/ 289 h 1097"/>
                <a:gd name="T2" fmla="*/ 1496 w 1496"/>
                <a:gd name="T3" fmla="*/ 1097 h 1097"/>
                <a:gd name="T4" fmla="*/ 0 w 1496"/>
                <a:gd name="T5" fmla="*/ 1097 h 1097"/>
                <a:gd name="T6" fmla="*/ 540 w 1496"/>
                <a:gd name="T7" fmla="*/ 307 h 1097"/>
                <a:gd name="T8" fmla="*/ 1496 w 1496"/>
                <a:gd name="T9" fmla="*/ 289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6" h="1097">
                  <a:moveTo>
                    <a:pt x="1496" y="289"/>
                  </a:moveTo>
                  <a:cubicBezTo>
                    <a:pt x="1496" y="1097"/>
                    <a:pt x="1496" y="1097"/>
                    <a:pt x="1496" y="1097"/>
                  </a:cubicBezTo>
                  <a:cubicBezTo>
                    <a:pt x="0" y="1097"/>
                    <a:pt x="0" y="1097"/>
                    <a:pt x="0" y="1097"/>
                  </a:cubicBezTo>
                  <a:cubicBezTo>
                    <a:pt x="176" y="889"/>
                    <a:pt x="250" y="551"/>
                    <a:pt x="540" y="307"/>
                  </a:cubicBezTo>
                  <a:cubicBezTo>
                    <a:pt x="906" y="0"/>
                    <a:pt x="1286" y="154"/>
                    <a:pt x="1496" y="28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6" name="任意多边形 435"/>
            <p:cNvSpPr/>
            <p:nvPr/>
          </p:nvSpPr>
          <p:spPr bwMode="auto">
            <a:xfrm>
              <a:off x="9341714" y="5860517"/>
              <a:ext cx="2758" cy="5569"/>
            </a:xfrm>
            <a:custGeom>
              <a:avLst/>
              <a:gdLst>
                <a:gd name="connsiteX0" fmla="*/ 2758 w 2758"/>
                <a:gd name="connsiteY0" fmla="*/ 0 h 5569"/>
                <a:gd name="connsiteX1" fmla="*/ 2758 w 2758"/>
                <a:gd name="connsiteY1" fmla="*/ 5569 h 5569"/>
                <a:gd name="connsiteX2" fmla="*/ 0 w 2758"/>
                <a:gd name="connsiteY2" fmla="*/ 5517 h 5569"/>
                <a:gd name="connsiteX3" fmla="*/ 322 w 2758"/>
                <a:gd name="connsiteY3" fmla="*/ 4873 h 5569"/>
                <a:gd name="connsiteX4" fmla="*/ 2758 w 2758"/>
                <a:gd name="connsiteY4" fmla="*/ 0 h 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8" h="5569">
                  <a:moveTo>
                    <a:pt x="2758" y="0"/>
                  </a:moveTo>
                  <a:cubicBezTo>
                    <a:pt x="2758" y="0"/>
                    <a:pt x="2758" y="0"/>
                    <a:pt x="2758" y="5569"/>
                  </a:cubicBezTo>
                  <a:lnTo>
                    <a:pt x="0" y="5517"/>
                  </a:lnTo>
                  <a:lnTo>
                    <a:pt x="322" y="4873"/>
                  </a:lnTo>
                  <a:cubicBezTo>
                    <a:pt x="670" y="4177"/>
                    <a:pt x="1366" y="2785"/>
                    <a:pt x="2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4" name="任意多边形 443"/>
            <p:cNvSpPr/>
            <p:nvPr/>
          </p:nvSpPr>
          <p:spPr bwMode="auto">
            <a:xfrm>
              <a:off x="9341714" y="5860517"/>
              <a:ext cx="2758" cy="5569"/>
            </a:xfrm>
            <a:custGeom>
              <a:avLst/>
              <a:gdLst>
                <a:gd name="connsiteX0" fmla="*/ 2758 w 2758"/>
                <a:gd name="connsiteY0" fmla="*/ 0 h 5569"/>
                <a:gd name="connsiteX1" fmla="*/ 2758 w 2758"/>
                <a:gd name="connsiteY1" fmla="*/ 5569 h 5569"/>
                <a:gd name="connsiteX2" fmla="*/ 0 w 2758"/>
                <a:gd name="connsiteY2" fmla="*/ 5517 h 5569"/>
                <a:gd name="connsiteX3" fmla="*/ 322 w 2758"/>
                <a:gd name="connsiteY3" fmla="*/ 4873 h 5569"/>
                <a:gd name="connsiteX4" fmla="*/ 2758 w 2758"/>
                <a:gd name="connsiteY4" fmla="*/ 0 h 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8" h="5569">
                  <a:moveTo>
                    <a:pt x="2758" y="0"/>
                  </a:moveTo>
                  <a:cubicBezTo>
                    <a:pt x="2758" y="0"/>
                    <a:pt x="2758" y="0"/>
                    <a:pt x="2758" y="5569"/>
                  </a:cubicBezTo>
                  <a:lnTo>
                    <a:pt x="0" y="5517"/>
                  </a:lnTo>
                  <a:lnTo>
                    <a:pt x="322" y="4873"/>
                  </a:lnTo>
                  <a:cubicBezTo>
                    <a:pt x="670" y="4177"/>
                    <a:pt x="1366" y="2785"/>
                    <a:pt x="2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2" name="任意多边形 441"/>
            <p:cNvSpPr/>
            <p:nvPr/>
          </p:nvSpPr>
          <p:spPr bwMode="auto">
            <a:xfrm>
              <a:off x="6608284" y="3308727"/>
              <a:ext cx="5594597" cy="3549273"/>
            </a:xfrm>
            <a:custGeom>
              <a:avLst/>
              <a:gdLst>
                <a:gd name="connsiteX0" fmla="*/ 5594597 w 5594597"/>
                <a:gd name="connsiteY0" fmla="*/ 0 h 3549273"/>
                <a:gd name="connsiteX1" fmla="*/ 5594597 w 5594597"/>
                <a:gd name="connsiteY1" fmla="*/ 11925 h 3549273"/>
                <a:gd name="connsiteX2" fmla="*/ 5592265 w 5594597"/>
                <a:gd name="connsiteY2" fmla="*/ 12898 h 3549273"/>
                <a:gd name="connsiteX3" fmla="*/ 5467789 w 5594597"/>
                <a:gd name="connsiteY3" fmla="*/ 87302 h 3549273"/>
                <a:gd name="connsiteX4" fmla="*/ 5038975 w 5594597"/>
                <a:gd name="connsiteY4" fmla="*/ 546783 h 3549273"/>
                <a:gd name="connsiteX5" fmla="*/ 4373479 w 5594597"/>
                <a:gd name="connsiteY5" fmla="*/ 1905732 h 3549273"/>
                <a:gd name="connsiteX6" fmla="*/ 3866698 w 5594597"/>
                <a:gd name="connsiteY6" fmla="*/ 2504450 h 3549273"/>
                <a:gd name="connsiteX7" fmla="*/ 3273599 w 5594597"/>
                <a:gd name="connsiteY7" fmla="*/ 2646471 h 3549273"/>
                <a:gd name="connsiteX8" fmla="*/ 2733405 w 5594597"/>
                <a:gd name="connsiteY8" fmla="*/ 2557359 h 3549273"/>
                <a:gd name="connsiteX9" fmla="*/ 2733431 w 5594597"/>
                <a:gd name="connsiteY9" fmla="*/ 2557307 h 3549273"/>
                <a:gd name="connsiteX10" fmla="*/ 2736189 w 5594597"/>
                <a:gd name="connsiteY10" fmla="*/ 2557359 h 3549273"/>
                <a:gd name="connsiteX11" fmla="*/ 2736189 w 5594597"/>
                <a:gd name="connsiteY11" fmla="*/ 2551790 h 3549273"/>
                <a:gd name="connsiteX12" fmla="*/ 2733753 w 5594597"/>
                <a:gd name="connsiteY12" fmla="*/ 2556663 h 3549273"/>
                <a:gd name="connsiteX13" fmla="*/ 2733431 w 5594597"/>
                <a:gd name="connsiteY13" fmla="*/ 2557307 h 3549273"/>
                <a:gd name="connsiteX14" fmla="*/ 2588610 w 5594597"/>
                <a:gd name="connsiteY14" fmla="*/ 2554575 h 3549273"/>
                <a:gd name="connsiteX15" fmla="*/ 394420 w 5594597"/>
                <a:gd name="connsiteY15" fmla="*/ 3186709 h 3549273"/>
                <a:gd name="connsiteX16" fmla="*/ 24287 w 5594597"/>
                <a:gd name="connsiteY16" fmla="*/ 3535676 h 3549273"/>
                <a:gd name="connsiteX17" fmla="*/ 13568 w 5594597"/>
                <a:gd name="connsiteY17" fmla="*/ 3549273 h 3549273"/>
                <a:gd name="connsiteX18" fmla="*/ 0 w 5594597"/>
                <a:gd name="connsiteY18" fmla="*/ 3549273 h 3549273"/>
                <a:gd name="connsiteX19" fmla="*/ 82207 w 5594597"/>
                <a:gd name="connsiteY19" fmla="*/ 3454000 h 3549273"/>
                <a:gd name="connsiteX20" fmla="*/ 347083 w 5594597"/>
                <a:gd name="connsiteY20" fmla="*/ 3208987 h 3549273"/>
                <a:gd name="connsiteX21" fmla="*/ 2588610 w 5594597"/>
                <a:gd name="connsiteY21" fmla="*/ 2543436 h 3549273"/>
                <a:gd name="connsiteX22" fmla="*/ 2736189 w 5594597"/>
                <a:gd name="connsiteY22" fmla="*/ 2546221 h 3549273"/>
                <a:gd name="connsiteX23" fmla="*/ 2738973 w 5594597"/>
                <a:gd name="connsiteY23" fmla="*/ 2546221 h 3549273"/>
                <a:gd name="connsiteX24" fmla="*/ 2747327 w 5594597"/>
                <a:gd name="connsiteY24" fmla="*/ 2549005 h 3549273"/>
                <a:gd name="connsiteX25" fmla="*/ 2777957 w 5594597"/>
                <a:gd name="connsiteY25" fmla="*/ 2560144 h 3549273"/>
                <a:gd name="connsiteX26" fmla="*/ 2892121 w 5594597"/>
                <a:gd name="connsiteY26" fmla="*/ 2590776 h 3549273"/>
                <a:gd name="connsiteX27" fmla="*/ 3273599 w 5594597"/>
                <a:gd name="connsiteY27" fmla="*/ 2635332 h 3549273"/>
                <a:gd name="connsiteX28" fmla="*/ 3861129 w 5594597"/>
                <a:gd name="connsiteY28" fmla="*/ 2493311 h 3549273"/>
                <a:gd name="connsiteX29" fmla="*/ 4365125 w 5594597"/>
                <a:gd name="connsiteY29" fmla="*/ 1900163 h 3549273"/>
                <a:gd name="connsiteX30" fmla="*/ 4846845 w 5594597"/>
                <a:gd name="connsiteY30" fmla="*/ 844749 h 3549273"/>
                <a:gd name="connsiteX31" fmla="*/ 5462220 w 5594597"/>
                <a:gd name="connsiteY31" fmla="*/ 78948 h 3549273"/>
                <a:gd name="connsiteX32" fmla="*/ 5587566 w 5594597"/>
                <a:gd name="connsiteY32" fmla="*/ 2934 h 3549273"/>
                <a:gd name="connsiteX33" fmla="*/ 5594597 w 5594597"/>
                <a:gd name="connsiteY33" fmla="*/ 0 h 354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594597" h="3549273">
                  <a:moveTo>
                    <a:pt x="5594597" y="0"/>
                  </a:moveTo>
                  <a:lnTo>
                    <a:pt x="5594597" y="11925"/>
                  </a:lnTo>
                  <a:lnTo>
                    <a:pt x="5592265" y="12898"/>
                  </a:lnTo>
                  <a:cubicBezTo>
                    <a:pt x="5549584" y="34566"/>
                    <a:pt x="5508165" y="59455"/>
                    <a:pt x="5467789" y="87302"/>
                  </a:cubicBezTo>
                  <a:cubicBezTo>
                    <a:pt x="5306288" y="198691"/>
                    <a:pt x="5167063" y="357421"/>
                    <a:pt x="5038975" y="546783"/>
                  </a:cubicBezTo>
                  <a:cubicBezTo>
                    <a:pt x="4782801" y="925507"/>
                    <a:pt x="4579532" y="1423974"/>
                    <a:pt x="4373479" y="1905732"/>
                  </a:cubicBezTo>
                  <a:cubicBezTo>
                    <a:pt x="4245391" y="2209268"/>
                    <a:pt x="4061613" y="2393060"/>
                    <a:pt x="3866698" y="2504450"/>
                  </a:cubicBezTo>
                  <a:cubicBezTo>
                    <a:pt x="3668999" y="2613054"/>
                    <a:pt x="3457376" y="2646471"/>
                    <a:pt x="3273599" y="2646471"/>
                  </a:cubicBezTo>
                  <a:cubicBezTo>
                    <a:pt x="2970087" y="2646471"/>
                    <a:pt x="2733405" y="2557359"/>
                    <a:pt x="2733405" y="2557359"/>
                  </a:cubicBezTo>
                  <a:lnTo>
                    <a:pt x="2733431" y="2557307"/>
                  </a:lnTo>
                  <a:lnTo>
                    <a:pt x="2736189" y="2557359"/>
                  </a:lnTo>
                  <a:cubicBezTo>
                    <a:pt x="2736189" y="2551790"/>
                    <a:pt x="2736189" y="2551790"/>
                    <a:pt x="2736189" y="2551790"/>
                  </a:cubicBezTo>
                  <a:cubicBezTo>
                    <a:pt x="2734797" y="2554575"/>
                    <a:pt x="2734101" y="2555967"/>
                    <a:pt x="2733753" y="2556663"/>
                  </a:cubicBezTo>
                  <a:lnTo>
                    <a:pt x="2733431" y="2557307"/>
                  </a:lnTo>
                  <a:lnTo>
                    <a:pt x="2588610" y="2554575"/>
                  </a:lnTo>
                  <a:cubicBezTo>
                    <a:pt x="1505438" y="2554575"/>
                    <a:pt x="817665" y="2866465"/>
                    <a:pt x="394420" y="3186709"/>
                  </a:cubicBezTo>
                  <a:cubicBezTo>
                    <a:pt x="235703" y="3306801"/>
                    <a:pt x="114577" y="3428459"/>
                    <a:pt x="24287" y="3535676"/>
                  </a:cubicBezTo>
                  <a:lnTo>
                    <a:pt x="13568" y="3549273"/>
                  </a:lnTo>
                  <a:lnTo>
                    <a:pt x="0" y="3549273"/>
                  </a:lnTo>
                  <a:lnTo>
                    <a:pt x="82207" y="3454000"/>
                  </a:lnTo>
                  <a:cubicBezTo>
                    <a:pt x="154430" y="3375897"/>
                    <a:pt x="241968" y="3292529"/>
                    <a:pt x="347083" y="3208987"/>
                  </a:cubicBezTo>
                  <a:cubicBezTo>
                    <a:pt x="767544" y="2877604"/>
                    <a:pt x="1469239" y="2543436"/>
                    <a:pt x="2588610" y="2543436"/>
                  </a:cubicBezTo>
                  <a:cubicBezTo>
                    <a:pt x="2635947" y="2543436"/>
                    <a:pt x="2686068" y="2543436"/>
                    <a:pt x="2736189" y="2546221"/>
                  </a:cubicBezTo>
                  <a:cubicBezTo>
                    <a:pt x="2736189" y="2546221"/>
                    <a:pt x="2738973" y="2546221"/>
                    <a:pt x="2738973" y="2546221"/>
                  </a:cubicBezTo>
                  <a:cubicBezTo>
                    <a:pt x="2741758" y="2549005"/>
                    <a:pt x="2744543" y="2549005"/>
                    <a:pt x="2747327" y="2549005"/>
                  </a:cubicBezTo>
                  <a:cubicBezTo>
                    <a:pt x="2755681" y="2551790"/>
                    <a:pt x="2764034" y="2557359"/>
                    <a:pt x="2777957" y="2560144"/>
                  </a:cubicBezTo>
                  <a:cubicBezTo>
                    <a:pt x="2805802" y="2568498"/>
                    <a:pt x="2844785" y="2579637"/>
                    <a:pt x="2892121" y="2590776"/>
                  </a:cubicBezTo>
                  <a:cubicBezTo>
                    <a:pt x="2989579" y="2613054"/>
                    <a:pt x="3123235" y="2635332"/>
                    <a:pt x="3273599" y="2635332"/>
                  </a:cubicBezTo>
                  <a:cubicBezTo>
                    <a:pt x="3457376" y="2635332"/>
                    <a:pt x="3666214" y="2601915"/>
                    <a:pt x="3861129" y="2493311"/>
                  </a:cubicBezTo>
                  <a:cubicBezTo>
                    <a:pt x="4053260" y="2384706"/>
                    <a:pt x="4234253" y="2200914"/>
                    <a:pt x="4365125" y="1900163"/>
                  </a:cubicBezTo>
                  <a:cubicBezTo>
                    <a:pt x="4518273" y="1538148"/>
                    <a:pt x="4671421" y="1167778"/>
                    <a:pt x="4846845" y="844749"/>
                  </a:cubicBezTo>
                  <a:cubicBezTo>
                    <a:pt x="5022268" y="521720"/>
                    <a:pt x="5217183" y="246032"/>
                    <a:pt x="5462220" y="78948"/>
                  </a:cubicBezTo>
                  <a:cubicBezTo>
                    <a:pt x="5502595" y="50405"/>
                    <a:pt x="5544363" y="24994"/>
                    <a:pt x="5587566" y="2934"/>
                  </a:cubicBezTo>
                  <a:lnTo>
                    <a:pt x="5594597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7" name="任意多边形 446"/>
            <p:cNvSpPr/>
            <p:nvPr/>
          </p:nvSpPr>
          <p:spPr bwMode="auto">
            <a:xfrm>
              <a:off x="5995122" y="4349658"/>
              <a:ext cx="6207758" cy="2508342"/>
            </a:xfrm>
            <a:custGeom>
              <a:avLst/>
              <a:gdLst>
                <a:gd name="connsiteX0" fmla="*/ 6161039 w 6207758"/>
                <a:gd name="connsiteY0" fmla="*/ 0 h 2508342"/>
                <a:gd name="connsiteX1" fmla="*/ 6207758 w 6207758"/>
                <a:gd name="connsiteY1" fmla="*/ 2553 h 2508342"/>
                <a:gd name="connsiteX2" fmla="*/ 6207758 w 6207758"/>
                <a:gd name="connsiteY2" fmla="*/ 13707 h 2508342"/>
                <a:gd name="connsiteX3" fmla="*/ 6161039 w 6207758"/>
                <a:gd name="connsiteY3" fmla="*/ 11134 h 2508342"/>
                <a:gd name="connsiteX4" fmla="*/ 4462613 w 6207758"/>
                <a:gd name="connsiteY4" fmla="*/ 1219136 h 2508342"/>
                <a:gd name="connsiteX5" fmla="*/ 3677439 w 6207758"/>
                <a:gd name="connsiteY5" fmla="*/ 1979009 h 2508342"/>
                <a:gd name="connsiteX6" fmla="*/ 2850500 w 6207758"/>
                <a:gd name="connsiteY6" fmla="*/ 2168281 h 2508342"/>
                <a:gd name="connsiteX7" fmla="*/ 1177133 w 6207758"/>
                <a:gd name="connsiteY7" fmla="*/ 2004059 h 2508342"/>
                <a:gd name="connsiteX8" fmla="*/ 1071329 w 6207758"/>
                <a:gd name="connsiteY8" fmla="*/ 2001276 h 2508342"/>
                <a:gd name="connsiteX9" fmla="*/ 372469 w 6207758"/>
                <a:gd name="connsiteY9" fmla="*/ 2162714 h 2508342"/>
                <a:gd name="connsiteX10" fmla="*/ 68632 w 6207758"/>
                <a:gd name="connsiteY10" fmla="*/ 2426529 h 2508342"/>
                <a:gd name="connsiteX11" fmla="*/ 14684 w 6207758"/>
                <a:gd name="connsiteY11" fmla="*/ 2508342 h 2508342"/>
                <a:gd name="connsiteX12" fmla="*/ 0 w 6207758"/>
                <a:gd name="connsiteY12" fmla="*/ 2508342 h 2508342"/>
                <a:gd name="connsiteX13" fmla="*/ 8041 w 6207758"/>
                <a:gd name="connsiteY13" fmla="*/ 2494370 h 2508342"/>
                <a:gd name="connsiteX14" fmla="*/ 366900 w 6207758"/>
                <a:gd name="connsiteY14" fmla="*/ 2151580 h 2508342"/>
                <a:gd name="connsiteX15" fmla="*/ 1071329 w 6207758"/>
                <a:gd name="connsiteY15" fmla="*/ 1990142 h 2508342"/>
                <a:gd name="connsiteX16" fmla="*/ 1179917 w 6207758"/>
                <a:gd name="connsiteY16" fmla="*/ 1992926 h 2508342"/>
                <a:gd name="connsiteX17" fmla="*/ 2850500 w 6207758"/>
                <a:gd name="connsiteY17" fmla="*/ 2157147 h 2508342"/>
                <a:gd name="connsiteX18" fmla="*/ 3671870 w 6207758"/>
                <a:gd name="connsiteY18" fmla="*/ 1967875 h 2508342"/>
                <a:gd name="connsiteX19" fmla="*/ 4454260 w 6207758"/>
                <a:gd name="connsiteY19" fmla="*/ 1210786 h 2508342"/>
                <a:gd name="connsiteX20" fmla="*/ 6161039 w 6207758"/>
                <a:gd name="connsiteY20" fmla="*/ 0 h 2508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7758" h="2508342">
                  <a:moveTo>
                    <a:pt x="6161039" y="0"/>
                  </a:moveTo>
                  <a:lnTo>
                    <a:pt x="6207758" y="2553"/>
                  </a:lnTo>
                  <a:lnTo>
                    <a:pt x="6207758" y="13707"/>
                  </a:lnTo>
                  <a:lnTo>
                    <a:pt x="6161039" y="11134"/>
                  </a:lnTo>
                  <a:cubicBezTo>
                    <a:pt x="5654296" y="11134"/>
                    <a:pt x="5055670" y="359061"/>
                    <a:pt x="4462613" y="1219136"/>
                  </a:cubicBezTo>
                  <a:cubicBezTo>
                    <a:pt x="4200888" y="1600464"/>
                    <a:pt x="3941948" y="1837054"/>
                    <a:pt x="3677439" y="1979009"/>
                  </a:cubicBezTo>
                  <a:cubicBezTo>
                    <a:pt x="3410146" y="2120963"/>
                    <a:pt x="3140068" y="2168281"/>
                    <a:pt x="2850500" y="2168281"/>
                  </a:cubicBezTo>
                  <a:cubicBezTo>
                    <a:pt x="2360463" y="2168281"/>
                    <a:pt x="1823092" y="2034677"/>
                    <a:pt x="1177133" y="2004059"/>
                  </a:cubicBezTo>
                  <a:cubicBezTo>
                    <a:pt x="1140937" y="2001276"/>
                    <a:pt x="1104741" y="2001276"/>
                    <a:pt x="1071329" y="2001276"/>
                  </a:cubicBezTo>
                  <a:cubicBezTo>
                    <a:pt x="770625" y="2001276"/>
                    <a:pt x="542312" y="2065295"/>
                    <a:pt x="372469" y="2162714"/>
                  </a:cubicBezTo>
                  <a:cubicBezTo>
                    <a:pt x="242999" y="2235779"/>
                    <a:pt x="143286" y="2327632"/>
                    <a:pt x="68632" y="2426529"/>
                  </a:cubicBezTo>
                  <a:lnTo>
                    <a:pt x="14684" y="2508342"/>
                  </a:lnTo>
                  <a:lnTo>
                    <a:pt x="0" y="2508342"/>
                  </a:lnTo>
                  <a:lnTo>
                    <a:pt x="8041" y="2494370"/>
                  </a:lnTo>
                  <a:cubicBezTo>
                    <a:pt x="88688" y="2366425"/>
                    <a:pt x="203323" y="2243781"/>
                    <a:pt x="366900" y="2151580"/>
                  </a:cubicBezTo>
                  <a:cubicBezTo>
                    <a:pt x="539527" y="2054161"/>
                    <a:pt x="767840" y="1990142"/>
                    <a:pt x="1071329" y="1990142"/>
                  </a:cubicBezTo>
                  <a:cubicBezTo>
                    <a:pt x="1104741" y="1990142"/>
                    <a:pt x="1140937" y="1990142"/>
                    <a:pt x="1179917" y="1992926"/>
                  </a:cubicBezTo>
                  <a:cubicBezTo>
                    <a:pt x="1825876" y="2023543"/>
                    <a:pt x="2363247" y="2157147"/>
                    <a:pt x="2850500" y="2157147"/>
                  </a:cubicBezTo>
                  <a:cubicBezTo>
                    <a:pt x="3137284" y="2157147"/>
                    <a:pt x="3407361" y="2109829"/>
                    <a:pt x="3671870" y="1967875"/>
                  </a:cubicBezTo>
                  <a:cubicBezTo>
                    <a:pt x="3933595" y="1828704"/>
                    <a:pt x="4192535" y="1592114"/>
                    <a:pt x="4454260" y="1210786"/>
                  </a:cubicBezTo>
                  <a:cubicBezTo>
                    <a:pt x="5047317" y="353494"/>
                    <a:pt x="5648727" y="0"/>
                    <a:pt x="6161039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-1602" y="-21859"/>
            <a:ext cx="6831027" cy="2830031"/>
            <a:chOff x="-1602" y="-21859"/>
            <a:chExt cx="7405943" cy="3068213"/>
          </a:xfrm>
        </p:grpSpPr>
        <p:sp>
          <p:nvSpPr>
            <p:cNvPr id="301" name="Freeform 8"/>
            <p:cNvSpPr/>
            <p:nvPr/>
          </p:nvSpPr>
          <p:spPr bwMode="auto">
            <a:xfrm>
              <a:off x="-1602" y="-2810"/>
              <a:ext cx="5892984" cy="3049164"/>
            </a:xfrm>
            <a:custGeom>
              <a:avLst/>
              <a:gdLst>
                <a:gd name="T0" fmla="*/ 2253 w 2253"/>
                <a:gd name="T1" fmla="*/ 0 h 1166"/>
                <a:gd name="T2" fmla="*/ 861 w 2253"/>
                <a:gd name="T3" fmla="*/ 765 h 1166"/>
                <a:gd name="T4" fmla="*/ 0 w 2253"/>
                <a:gd name="T5" fmla="*/ 490 h 1166"/>
                <a:gd name="T6" fmla="*/ 0 w 2253"/>
                <a:gd name="T7" fmla="*/ 0 h 1166"/>
                <a:gd name="T8" fmla="*/ 2253 w 2253"/>
                <a:gd name="T9" fmla="*/ 0 h 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3" h="1166">
                  <a:moveTo>
                    <a:pt x="2253" y="0"/>
                  </a:moveTo>
                  <a:cubicBezTo>
                    <a:pt x="1812" y="346"/>
                    <a:pt x="1330" y="1166"/>
                    <a:pt x="861" y="765"/>
                  </a:cubicBezTo>
                  <a:cubicBezTo>
                    <a:pt x="521" y="476"/>
                    <a:pt x="205" y="456"/>
                    <a:pt x="0" y="49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53" y="0"/>
                  </a:lnTo>
                  <a:close/>
                </a:path>
              </a:pathLst>
            </a:custGeom>
            <a:solidFill>
              <a:srgbClr val="C4E0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2" name="Freeform 9"/>
            <p:cNvSpPr/>
            <p:nvPr/>
          </p:nvSpPr>
          <p:spPr bwMode="auto">
            <a:xfrm>
              <a:off x="-1602" y="-2810"/>
              <a:ext cx="7405943" cy="2570674"/>
            </a:xfrm>
            <a:custGeom>
              <a:avLst/>
              <a:gdLst>
                <a:gd name="T0" fmla="*/ 2831 w 2831"/>
                <a:gd name="T1" fmla="*/ 0 h 983"/>
                <a:gd name="T2" fmla="*/ 2209 w 2831"/>
                <a:gd name="T3" fmla="*/ 450 h 983"/>
                <a:gd name="T4" fmla="*/ 635 w 2831"/>
                <a:gd name="T5" fmla="*/ 353 h 983"/>
                <a:gd name="T6" fmla="*/ 0 w 2831"/>
                <a:gd name="T7" fmla="*/ 631 h 983"/>
                <a:gd name="T8" fmla="*/ 0 w 2831"/>
                <a:gd name="T9" fmla="*/ 0 h 983"/>
                <a:gd name="T10" fmla="*/ 2831 w 2831"/>
                <a:gd name="T11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31" h="983">
                  <a:moveTo>
                    <a:pt x="2831" y="0"/>
                  </a:moveTo>
                  <a:cubicBezTo>
                    <a:pt x="2611" y="110"/>
                    <a:pt x="2383" y="257"/>
                    <a:pt x="2209" y="450"/>
                  </a:cubicBezTo>
                  <a:cubicBezTo>
                    <a:pt x="1731" y="983"/>
                    <a:pt x="1229" y="504"/>
                    <a:pt x="635" y="353"/>
                  </a:cubicBezTo>
                  <a:cubicBezTo>
                    <a:pt x="329" y="275"/>
                    <a:pt x="125" y="446"/>
                    <a:pt x="0" y="63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8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1" name="任意多边形 430"/>
            <p:cNvSpPr/>
            <p:nvPr/>
          </p:nvSpPr>
          <p:spPr bwMode="auto">
            <a:xfrm>
              <a:off x="1" y="-21859"/>
              <a:ext cx="5827955" cy="2494815"/>
            </a:xfrm>
            <a:custGeom>
              <a:avLst/>
              <a:gdLst>
                <a:gd name="connsiteX0" fmla="*/ 5816086 w 5827955"/>
                <a:gd name="connsiteY0" fmla="*/ 0 h 2494815"/>
                <a:gd name="connsiteX1" fmla="*/ 5827955 w 5827955"/>
                <a:gd name="connsiteY1" fmla="*/ 0 h 2494815"/>
                <a:gd name="connsiteX2" fmla="*/ 5670175 w 5827955"/>
                <a:gd name="connsiteY2" fmla="*/ 368290 h 2494815"/>
                <a:gd name="connsiteX3" fmla="*/ 4997819 w 5827955"/>
                <a:gd name="connsiteY3" fmla="*/ 1108774 h 2494815"/>
                <a:gd name="connsiteX4" fmla="*/ 4074309 w 5827955"/>
                <a:gd name="connsiteY4" fmla="*/ 1271000 h 2494815"/>
                <a:gd name="connsiteX5" fmla="*/ 2993830 w 5827955"/>
                <a:gd name="connsiteY5" fmla="*/ 1234369 h 2494815"/>
                <a:gd name="connsiteX6" fmla="*/ 2606636 w 5827955"/>
                <a:gd name="connsiteY6" fmla="*/ 1252685 h 2494815"/>
                <a:gd name="connsiteX7" fmla="*/ 832870 w 5827955"/>
                <a:gd name="connsiteY7" fmla="*/ 1807393 h 2494815"/>
                <a:gd name="connsiteX8" fmla="*/ 45693 w 5827955"/>
                <a:gd name="connsiteY8" fmla="*/ 2438841 h 2494815"/>
                <a:gd name="connsiteX9" fmla="*/ 0 w 5827955"/>
                <a:gd name="connsiteY9" fmla="*/ 2494815 h 2494815"/>
                <a:gd name="connsiteX10" fmla="*/ 0 w 5827955"/>
                <a:gd name="connsiteY10" fmla="*/ 2477528 h 2494815"/>
                <a:gd name="connsiteX11" fmla="*/ 36833 w 5827955"/>
                <a:gd name="connsiteY11" fmla="*/ 2432131 h 2494815"/>
                <a:gd name="connsiteX12" fmla="*/ 827638 w 5827955"/>
                <a:gd name="connsiteY12" fmla="*/ 1796927 h 2494815"/>
                <a:gd name="connsiteX13" fmla="*/ 2604020 w 5827955"/>
                <a:gd name="connsiteY13" fmla="*/ 1242218 h 2494815"/>
                <a:gd name="connsiteX14" fmla="*/ 2993830 w 5827955"/>
                <a:gd name="connsiteY14" fmla="*/ 1223902 h 2494815"/>
                <a:gd name="connsiteX15" fmla="*/ 4074309 w 5827955"/>
                <a:gd name="connsiteY15" fmla="*/ 1260534 h 2494815"/>
                <a:gd name="connsiteX16" fmla="*/ 4992586 w 5827955"/>
                <a:gd name="connsiteY16" fmla="*/ 1100925 h 2494815"/>
                <a:gd name="connsiteX17" fmla="*/ 5659711 w 5827955"/>
                <a:gd name="connsiteY17" fmla="*/ 365674 h 2494815"/>
                <a:gd name="connsiteX18" fmla="*/ 5811204 w 5827955"/>
                <a:gd name="connsiteY18" fmla="*/ 11172 h 2494815"/>
                <a:gd name="connsiteX19" fmla="*/ 5816086 w 5827955"/>
                <a:gd name="connsiteY19" fmla="*/ 0 h 2494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27955" h="2494815">
                  <a:moveTo>
                    <a:pt x="5816086" y="0"/>
                  </a:moveTo>
                  <a:lnTo>
                    <a:pt x="5827955" y="0"/>
                  </a:lnTo>
                  <a:lnTo>
                    <a:pt x="5670175" y="368290"/>
                  </a:lnTo>
                  <a:cubicBezTo>
                    <a:pt x="5505356" y="752923"/>
                    <a:pt x="5272517" y="980563"/>
                    <a:pt x="4997819" y="1108774"/>
                  </a:cubicBezTo>
                  <a:cubicBezTo>
                    <a:pt x="4723121" y="1239602"/>
                    <a:pt x="4406564" y="1271000"/>
                    <a:pt x="4074309" y="1271000"/>
                  </a:cubicBezTo>
                  <a:cubicBezTo>
                    <a:pt x="3721126" y="1271000"/>
                    <a:pt x="3349629" y="1234369"/>
                    <a:pt x="2993830" y="1234369"/>
                  </a:cubicBezTo>
                  <a:cubicBezTo>
                    <a:pt x="2863021" y="1234369"/>
                    <a:pt x="2732212" y="1239602"/>
                    <a:pt x="2606636" y="1252685"/>
                  </a:cubicBezTo>
                  <a:cubicBezTo>
                    <a:pt x="1986603" y="1323331"/>
                    <a:pt x="1371802" y="1490791"/>
                    <a:pt x="832870" y="1807393"/>
                  </a:cubicBezTo>
                  <a:cubicBezTo>
                    <a:pt x="549996" y="1972563"/>
                    <a:pt x="271210" y="2184749"/>
                    <a:pt x="45693" y="2438841"/>
                  </a:cubicBezTo>
                  <a:lnTo>
                    <a:pt x="0" y="2494815"/>
                  </a:lnTo>
                  <a:lnTo>
                    <a:pt x="0" y="2477528"/>
                  </a:lnTo>
                  <a:lnTo>
                    <a:pt x="36833" y="2432131"/>
                  </a:lnTo>
                  <a:cubicBezTo>
                    <a:pt x="262708" y="2176532"/>
                    <a:pt x="543129" y="1963733"/>
                    <a:pt x="827638" y="1796927"/>
                  </a:cubicBezTo>
                  <a:cubicBezTo>
                    <a:pt x="1369186" y="1482941"/>
                    <a:pt x="1986603" y="1312865"/>
                    <a:pt x="2604020" y="1242218"/>
                  </a:cubicBezTo>
                  <a:cubicBezTo>
                    <a:pt x="2732212" y="1229136"/>
                    <a:pt x="2860405" y="1223902"/>
                    <a:pt x="2993830" y="1223902"/>
                  </a:cubicBezTo>
                  <a:cubicBezTo>
                    <a:pt x="3349629" y="1223902"/>
                    <a:pt x="3721126" y="1260534"/>
                    <a:pt x="4074309" y="1260534"/>
                  </a:cubicBezTo>
                  <a:cubicBezTo>
                    <a:pt x="4403947" y="1260534"/>
                    <a:pt x="4720504" y="1229136"/>
                    <a:pt x="4992586" y="1100925"/>
                  </a:cubicBezTo>
                  <a:cubicBezTo>
                    <a:pt x="5264668" y="970097"/>
                    <a:pt x="5497508" y="747690"/>
                    <a:pt x="5659711" y="365674"/>
                  </a:cubicBezTo>
                  <a:cubicBezTo>
                    <a:pt x="5710072" y="247929"/>
                    <a:pt x="5760434" y="129367"/>
                    <a:pt x="5811204" y="11172"/>
                  </a:cubicBezTo>
                  <a:lnTo>
                    <a:pt x="581608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28" name="任意多边形 427"/>
            <p:cNvSpPr/>
            <p:nvPr/>
          </p:nvSpPr>
          <p:spPr bwMode="auto">
            <a:xfrm>
              <a:off x="0" y="-2810"/>
              <a:ext cx="5659388" cy="2044911"/>
            </a:xfrm>
            <a:custGeom>
              <a:avLst/>
              <a:gdLst>
                <a:gd name="connsiteX0" fmla="*/ 5644902 w 5659388"/>
                <a:gd name="connsiteY0" fmla="*/ 0 h 2044911"/>
                <a:gd name="connsiteX1" fmla="*/ 5659388 w 5659388"/>
                <a:gd name="connsiteY1" fmla="*/ 0 h 2044911"/>
                <a:gd name="connsiteX2" fmla="*/ 5566846 w 5659388"/>
                <a:gd name="connsiteY2" fmla="*/ 91856 h 2044911"/>
                <a:gd name="connsiteX3" fmla="*/ 4987114 w 5659388"/>
                <a:gd name="connsiteY3" fmla="*/ 809974 h 2044911"/>
                <a:gd name="connsiteX4" fmla="*/ 3964326 w 5659388"/>
                <a:gd name="connsiteY4" fmla="*/ 1798970 h 2044911"/>
                <a:gd name="connsiteX5" fmla="*/ 2889221 w 5659388"/>
                <a:gd name="connsiteY5" fmla="*/ 2044911 h 2044911"/>
                <a:gd name="connsiteX6" fmla="*/ 712854 w 5659388"/>
                <a:gd name="connsiteY6" fmla="*/ 1830367 h 2044911"/>
                <a:gd name="connsiteX7" fmla="*/ 571600 w 5659388"/>
                <a:gd name="connsiteY7" fmla="*/ 1827750 h 2044911"/>
                <a:gd name="connsiteX8" fmla="*/ 54647 w 5659388"/>
                <a:gd name="connsiteY8" fmla="*/ 1885311 h 2044911"/>
                <a:gd name="connsiteX9" fmla="*/ 0 w 5659388"/>
                <a:gd name="connsiteY9" fmla="*/ 1900486 h 2044911"/>
                <a:gd name="connsiteX10" fmla="*/ 0 w 5659388"/>
                <a:gd name="connsiteY10" fmla="*/ 1889408 h 2044911"/>
                <a:gd name="connsiteX11" fmla="*/ 51051 w 5659388"/>
                <a:gd name="connsiteY11" fmla="*/ 1875173 h 2044911"/>
                <a:gd name="connsiteX12" fmla="*/ 571600 w 5659388"/>
                <a:gd name="connsiteY12" fmla="*/ 1817285 h 2044911"/>
                <a:gd name="connsiteX13" fmla="*/ 712854 w 5659388"/>
                <a:gd name="connsiteY13" fmla="*/ 1819901 h 2044911"/>
                <a:gd name="connsiteX14" fmla="*/ 2889221 w 5659388"/>
                <a:gd name="connsiteY14" fmla="*/ 2034445 h 2044911"/>
                <a:gd name="connsiteX15" fmla="*/ 3959094 w 5659388"/>
                <a:gd name="connsiteY15" fmla="*/ 1791121 h 2044911"/>
                <a:gd name="connsiteX16" fmla="*/ 4979266 w 5659388"/>
                <a:gd name="connsiteY16" fmla="*/ 802125 h 2044911"/>
                <a:gd name="connsiteX17" fmla="*/ 5559489 w 5659388"/>
                <a:gd name="connsiteY17" fmla="*/ 84702 h 2044911"/>
                <a:gd name="connsiteX18" fmla="*/ 5644902 w 5659388"/>
                <a:gd name="connsiteY18" fmla="*/ 0 h 204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59388" h="2044911">
                  <a:moveTo>
                    <a:pt x="5644902" y="0"/>
                  </a:moveTo>
                  <a:lnTo>
                    <a:pt x="5659388" y="0"/>
                  </a:lnTo>
                  <a:lnTo>
                    <a:pt x="5566846" y="91856"/>
                  </a:lnTo>
                  <a:cubicBezTo>
                    <a:pt x="5374583" y="291765"/>
                    <a:pt x="5180685" y="530020"/>
                    <a:pt x="4987114" y="809974"/>
                  </a:cubicBezTo>
                  <a:cubicBezTo>
                    <a:pt x="4644440" y="1304472"/>
                    <a:pt x="4309615" y="1613206"/>
                    <a:pt x="3964326" y="1798970"/>
                  </a:cubicBezTo>
                  <a:cubicBezTo>
                    <a:pt x="3619037" y="1984734"/>
                    <a:pt x="3265900" y="2044911"/>
                    <a:pt x="2889221" y="2044911"/>
                  </a:cubicBezTo>
                  <a:cubicBezTo>
                    <a:pt x="2253576" y="2044911"/>
                    <a:pt x="1552534" y="1872229"/>
                    <a:pt x="712854" y="1830367"/>
                  </a:cubicBezTo>
                  <a:cubicBezTo>
                    <a:pt x="665769" y="1830367"/>
                    <a:pt x="618685" y="1827750"/>
                    <a:pt x="571600" y="1827750"/>
                  </a:cubicBezTo>
                  <a:cubicBezTo>
                    <a:pt x="376721" y="1827750"/>
                    <a:pt x="205384" y="1848681"/>
                    <a:pt x="54647" y="1885311"/>
                  </a:cubicBezTo>
                  <a:lnTo>
                    <a:pt x="0" y="1900486"/>
                  </a:lnTo>
                  <a:lnTo>
                    <a:pt x="0" y="1889408"/>
                  </a:lnTo>
                  <a:lnTo>
                    <a:pt x="51051" y="1875173"/>
                  </a:lnTo>
                  <a:cubicBezTo>
                    <a:pt x="202769" y="1838216"/>
                    <a:pt x="375413" y="1817285"/>
                    <a:pt x="571600" y="1817285"/>
                  </a:cubicBezTo>
                  <a:cubicBezTo>
                    <a:pt x="618685" y="1817285"/>
                    <a:pt x="665769" y="1819901"/>
                    <a:pt x="712854" y="1819901"/>
                  </a:cubicBezTo>
                  <a:cubicBezTo>
                    <a:pt x="1555150" y="1861764"/>
                    <a:pt x="2256191" y="2034445"/>
                    <a:pt x="2889221" y="2034445"/>
                  </a:cubicBezTo>
                  <a:cubicBezTo>
                    <a:pt x="3265900" y="2034445"/>
                    <a:pt x="3616421" y="1974268"/>
                    <a:pt x="3959094" y="1791121"/>
                  </a:cubicBezTo>
                  <a:cubicBezTo>
                    <a:pt x="4301767" y="1605357"/>
                    <a:pt x="4636593" y="1299239"/>
                    <a:pt x="4979266" y="802125"/>
                  </a:cubicBezTo>
                  <a:cubicBezTo>
                    <a:pt x="5172837" y="522825"/>
                    <a:pt x="5366899" y="284734"/>
                    <a:pt x="5559489" y="84702"/>
                  </a:cubicBezTo>
                  <a:lnTo>
                    <a:pt x="564490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 rot="5400000">
            <a:off x="-781484" y="1788411"/>
            <a:ext cx="3587030" cy="628289"/>
            <a:chOff x="869268" y="6105837"/>
            <a:chExt cx="3946526" cy="691257"/>
          </a:xfrm>
          <a:solidFill>
            <a:srgbClr val="E1E1EF"/>
          </a:solidFill>
        </p:grpSpPr>
        <p:sp>
          <p:nvSpPr>
            <p:cNvPr id="112" name="椭圆 111"/>
            <p:cNvSpPr/>
            <p:nvPr/>
          </p:nvSpPr>
          <p:spPr>
            <a:xfrm>
              <a:off x="473083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73083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473083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440755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440755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440755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408427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408427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408427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3760999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3760999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/>
            <p:cNvSpPr/>
            <p:nvPr/>
          </p:nvSpPr>
          <p:spPr>
            <a:xfrm>
              <a:off x="3760999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椭圆 123"/>
            <p:cNvSpPr/>
            <p:nvPr/>
          </p:nvSpPr>
          <p:spPr>
            <a:xfrm>
              <a:off x="343787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/>
            <p:cNvSpPr/>
            <p:nvPr/>
          </p:nvSpPr>
          <p:spPr>
            <a:xfrm>
              <a:off x="343787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343787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311459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/>
          </p:nvSpPr>
          <p:spPr>
            <a:xfrm>
              <a:off x="311459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311459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/>
          </p:nvSpPr>
          <p:spPr>
            <a:xfrm>
              <a:off x="279131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/>
          </p:nvSpPr>
          <p:spPr>
            <a:xfrm>
              <a:off x="279131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279131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/>
          </p:nvSpPr>
          <p:spPr>
            <a:xfrm>
              <a:off x="246804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246804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246804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/>
          </p:nvSpPr>
          <p:spPr>
            <a:xfrm>
              <a:off x="216756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/>
          </p:nvSpPr>
          <p:spPr>
            <a:xfrm>
              <a:off x="216756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/>
          </p:nvSpPr>
          <p:spPr>
            <a:xfrm>
              <a:off x="216756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/>
          </p:nvSpPr>
          <p:spPr>
            <a:xfrm>
              <a:off x="1844285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/>
          </p:nvSpPr>
          <p:spPr>
            <a:xfrm>
              <a:off x="1844285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44285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/>
          </p:nvSpPr>
          <p:spPr>
            <a:xfrm>
              <a:off x="152100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/>
          </p:nvSpPr>
          <p:spPr>
            <a:xfrm>
              <a:off x="152100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/>
          </p:nvSpPr>
          <p:spPr>
            <a:xfrm>
              <a:off x="152100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/>
          </p:nvSpPr>
          <p:spPr>
            <a:xfrm>
              <a:off x="119773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/>
          </p:nvSpPr>
          <p:spPr>
            <a:xfrm>
              <a:off x="119773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/>
          </p:nvSpPr>
          <p:spPr>
            <a:xfrm>
              <a:off x="119773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/>
          </p:nvSpPr>
          <p:spPr>
            <a:xfrm>
              <a:off x="86926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/>
            <p:cNvSpPr/>
            <p:nvPr/>
          </p:nvSpPr>
          <p:spPr>
            <a:xfrm>
              <a:off x="86926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椭圆 149"/>
            <p:cNvSpPr/>
            <p:nvPr/>
          </p:nvSpPr>
          <p:spPr>
            <a:xfrm>
              <a:off x="86926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rot="5400000">
            <a:off x="9441985" y="4262444"/>
            <a:ext cx="3946526" cy="691257"/>
            <a:chOff x="869268" y="6105837"/>
            <a:chExt cx="3946526" cy="691257"/>
          </a:xfrm>
          <a:solidFill>
            <a:srgbClr val="E1E1EF"/>
          </a:solidFill>
        </p:grpSpPr>
        <p:sp>
          <p:nvSpPr>
            <p:cNvPr id="71" name="椭圆 70"/>
            <p:cNvSpPr/>
            <p:nvPr/>
          </p:nvSpPr>
          <p:spPr>
            <a:xfrm>
              <a:off x="473083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473083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473083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440755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440755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440755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408427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408427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408427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3760999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3760999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3760999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343787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343787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343787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311459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311459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311459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279131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279131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279131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246804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246804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246804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216756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216756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216756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1844285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1844285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1844285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152100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152100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152100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119773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119773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19773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86926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86926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86926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8" name="文本框 447"/>
          <p:cNvSpPr txBox="1"/>
          <p:nvPr/>
        </p:nvSpPr>
        <p:spPr>
          <a:xfrm>
            <a:off x="1050925" y="2349818"/>
            <a:ext cx="9663430" cy="21228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zh-CN" altLang="en-US" sz="6600" spc="100" dirty="0">
                <a:effectLst>
                  <a:outerShdw blurRad="127000" dist="63500" dir="2700000" algn="tl" rotWithShape="0">
                    <a:schemeClr val="tx1">
                      <a:lumMod val="65000"/>
                      <a:lumOff val="35000"/>
                      <a:alpha val="20000"/>
                    </a:schemeClr>
                  </a:outerShdw>
                </a:effectLst>
                <a:latin typeface="+mj-ea"/>
              </a:rPr>
              <a:t>基于</a:t>
            </a:r>
            <a:r>
              <a:rPr lang="en-US" altLang="zh-CN" sz="6600" spc="100" dirty="0">
                <a:effectLst>
                  <a:outerShdw blurRad="127000" dist="63500" dir="2700000" algn="tl" rotWithShape="0">
                    <a:schemeClr val="tx1">
                      <a:lumMod val="65000"/>
                      <a:lumOff val="35000"/>
                      <a:alpha val="20000"/>
                    </a:schemeClr>
                  </a:outerShdw>
                </a:effectLst>
                <a:latin typeface="+mj-ea"/>
              </a:rPr>
              <a:t>OpenDigger</a:t>
            </a:r>
            <a:r>
              <a:rPr lang="zh-CN" altLang="en-US" sz="6600" spc="100" dirty="0">
                <a:effectLst>
                  <a:outerShdw blurRad="127000" dist="63500" dir="2700000" algn="tl" rotWithShape="0">
                    <a:schemeClr val="tx1">
                      <a:lumMod val="65000"/>
                      <a:lumOff val="35000"/>
                      <a:alpha val="20000"/>
                    </a:schemeClr>
                  </a:outerShdw>
                </a:effectLst>
                <a:latin typeface="+mj-ea"/>
              </a:rPr>
              <a:t>的开源项目健康度量化评估研究</a:t>
            </a:r>
            <a:endParaRPr lang="zh-CN" altLang="en-US" sz="6600" spc="100" dirty="0">
              <a:effectLst>
                <a:outerShdw blurRad="127000" dist="63500" dir="2700000" algn="tl" rotWithShape="0">
                  <a:schemeClr val="tx1">
                    <a:lumMod val="65000"/>
                    <a:lumOff val="35000"/>
                    <a:alpha val="20000"/>
                  </a:schemeClr>
                </a:outerShdw>
              </a:effectLst>
              <a:latin typeface="+mj-ea"/>
            </a:endParaRPr>
          </a:p>
        </p:txBody>
      </p:sp>
      <p:sp>
        <p:nvSpPr>
          <p:cNvPr id="450" name="文本框 449"/>
          <p:cNvSpPr txBox="1"/>
          <p:nvPr/>
        </p:nvSpPr>
        <p:spPr>
          <a:xfrm>
            <a:off x="5950585" y="437792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2000" spc="200" dirty="0">
              <a:solidFill>
                <a:srgbClr val="2D3C65"/>
              </a:solidFill>
              <a:latin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8495" y="4879975"/>
            <a:ext cx="3482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苏妍昱</a:t>
            </a:r>
            <a:r>
              <a:rPr lang="en-US" altLang="zh-CN" sz="2400"/>
              <a:t> </a:t>
            </a:r>
            <a:r>
              <a:rPr lang="zh-CN" altLang="en-US" sz="2400"/>
              <a:t>袁睿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214129" y="3312793"/>
            <a:ext cx="6983180" cy="3549273"/>
            <a:chOff x="5219701" y="3308727"/>
            <a:chExt cx="6983180" cy="3549273"/>
          </a:xfrm>
        </p:grpSpPr>
        <p:sp>
          <p:nvSpPr>
            <p:cNvPr id="164" name="Freeform 5"/>
            <p:cNvSpPr/>
            <p:nvPr/>
          </p:nvSpPr>
          <p:spPr bwMode="auto">
            <a:xfrm>
              <a:off x="6339288" y="5918729"/>
              <a:ext cx="2715465" cy="936083"/>
            </a:xfrm>
            <a:custGeom>
              <a:avLst/>
              <a:gdLst>
                <a:gd name="T0" fmla="*/ 975 w 975"/>
                <a:gd name="T1" fmla="*/ 336 h 336"/>
                <a:gd name="T2" fmla="*/ 0 w 975"/>
                <a:gd name="T3" fmla="*/ 336 h 336"/>
                <a:gd name="T4" fmla="*/ 568 w 975"/>
                <a:gd name="T5" fmla="*/ 49 h 336"/>
                <a:gd name="T6" fmla="*/ 975 w 975"/>
                <a:gd name="T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5" h="336">
                  <a:moveTo>
                    <a:pt x="975" y="336"/>
                  </a:moveTo>
                  <a:cubicBezTo>
                    <a:pt x="0" y="336"/>
                    <a:pt x="0" y="336"/>
                    <a:pt x="0" y="336"/>
                  </a:cubicBezTo>
                  <a:cubicBezTo>
                    <a:pt x="199" y="195"/>
                    <a:pt x="302" y="0"/>
                    <a:pt x="568" y="49"/>
                  </a:cubicBezTo>
                  <a:cubicBezTo>
                    <a:pt x="803" y="92"/>
                    <a:pt x="919" y="230"/>
                    <a:pt x="975" y="336"/>
                  </a:cubicBezTo>
                </a:path>
              </a:pathLst>
            </a:custGeom>
            <a:solidFill>
              <a:srgbClr val="C4E0E6"/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Freeform 6"/>
            <p:cNvSpPr/>
            <p:nvPr/>
          </p:nvSpPr>
          <p:spPr bwMode="auto">
            <a:xfrm>
              <a:off x="5219701" y="3638317"/>
              <a:ext cx="6975260" cy="3216495"/>
            </a:xfrm>
            <a:custGeom>
              <a:avLst/>
              <a:gdLst>
                <a:gd name="T0" fmla="*/ 2505 w 2505"/>
                <a:gd name="T1" fmla="*/ 45 h 1155"/>
                <a:gd name="T2" fmla="*/ 2505 w 2505"/>
                <a:gd name="T3" fmla="*/ 1155 h 1155"/>
                <a:gd name="T4" fmla="*/ 0 w 2505"/>
                <a:gd name="T5" fmla="*/ 1155 h 1155"/>
                <a:gd name="T6" fmla="*/ 485 w 2505"/>
                <a:gd name="T7" fmla="*/ 973 h 1155"/>
                <a:gd name="T8" fmla="*/ 1951 w 2505"/>
                <a:gd name="T9" fmla="*/ 460 h 1155"/>
                <a:gd name="T10" fmla="*/ 2505 w 2505"/>
                <a:gd name="T11" fmla="*/ 45 h 1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5" h="1155">
                  <a:moveTo>
                    <a:pt x="2505" y="45"/>
                  </a:moveTo>
                  <a:cubicBezTo>
                    <a:pt x="2505" y="1155"/>
                    <a:pt x="2505" y="1155"/>
                    <a:pt x="2505" y="1155"/>
                  </a:cubicBezTo>
                  <a:cubicBezTo>
                    <a:pt x="0" y="1155"/>
                    <a:pt x="0" y="1155"/>
                    <a:pt x="0" y="1155"/>
                  </a:cubicBezTo>
                  <a:cubicBezTo>
                    <a:pt x="99" y="1018"/>
                    <a:pt x="269" y="860"/>
                    <a:pt x="485" y="973"/>
                  </a:cubicBezTo>
                  <a:cubicBezTo>
                    <a:pt x="832" y="1155"/>
                    <a:pt x="1574" y="1142"/>
                    <a:pt x="1951" y="460"/>
                  </a:cubicBezTo>
                  <a:cubicBezTo>
                    <a:pt x="2154" y="93"/>
                    <a:pt x="2343" y="0"/>
                    <a:pt x="2505" y="4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Freeform 7"/>
            <p:cNvSpPr/>
            <p:nvPr/>
          </p:nvSpPr>
          <p:spPr bwMode="auto">
            <a:xfrm>
              <a:off x="8030010" y="3801203"/>
              <a:ext cx="4164949" cy="3053609"/>
            </a:xfrm>
            <a:custGeom>
              <a:avLst/>
              <a:gdLst>
                <a:gd name="T0" fmla="*/ 1496 w 1496"/>
                <a:gd name="T1" fmla="*/ 289 h 1097"/>
                <a:gd name="T2" fmla="*/ 1496 w 1496"/>
                <a:gd name="T3" fmla="*/ 1097 h 1097"/>
                <a:gd name="T4" fmla="*/ 0 w 1496"/>
                <a:gd name="T5" fmla="*/ 1097 h 1097"/>
                <a:gd name="T6" fmla="*/ 540 w 1496"/>
                <a:gd name="T7" fmla="*/ 307 h 1097"/>
                <a:gd name="T8" fmla="*/ 1496 w 1496"/>
                <a:gd name="T9" fmla="*/ 289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6" h="1097">
                  <a:moveTo>
                    <a:pt x="1496" y="289"/>
                  </a:moveTo>
                  <a:cubicBezTo>
                    <a:pt x="1496" y="1097"/>
                    <a:pt x="1496" y="1097"/>
                    <a:pt x="1496" y="1097"/>
                  </a:cubicBezTo>
                  <a:cubicBezTo>
                    <a:pt x="0" y="1097"/>
                    <a:pt x="0" y="1097"/>
                    <a:pt x="0" y="1097"/>
                  </a:cubicBezTo>
                  <a:cubicBezTo>
                    <a:pt x="176" y="889"/>
                    <a:pt x="250" y="551"/>
                    <a:pt x="540" y="307"/>
                  </a:cubicBezTo>
                  <a:cubicBezTo>
                    <a:pt x="906" y="0"/>
                    <a:pt x="1286" y="154"/>
                    <a:pt x="1496" y="28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Freeform 592"/>
            <p:cNvSpPr/>
            <p:nvPr/>
          </p:nvSpPr>
          <p:spPr bwMode="auto">
            <a:xfrm>
              <a:off x="5939288" y="4806301"/>
              <a:ext cx="6255671" cy="2048511"/>
            </a:xfrm>
            <a:custGeom>
              <a:avLst/>
              <a:gdLst>
                <a:gd name="T0" fmla="*/ 2247 w 2247"/>
                <a:gd name="T1" fmla="*/ 180 h 779"/>
                <a:gd name="T2" fmla="*/ 2247 w 2247"/>
                <a:gd name="T3" fmla="*/ 779 h 779"/>
                <a:gd name="T4" fmla="*/ 0 w 2247"/>
                <a:gd name="T5" fmla="*/ 779 h 779"/>
                <a:gd name="T6" fmla="*/ 27 w 2247"/>
                <a:gd name="T7" fmla="*/ 772 h 779"/>
                <a:gd name="T8" fmla="*/ 318 w 2247"/>
                <a:gd name="T9" fmla="*/ 726 h 779"/>
                <a:gd name="T10" fmla="*/ 417 w 2247"/>
                <a:gd name="T11" fmla="*/ 727 h 779"/>
                <a:gd name="T12" fmla="*/ 648 w 2247"/>
                <a:gd name="T13" fmla="*/ 710 h 779"/>
                <a:gd name="T14" fmla="*/ 1323 w 2247"/>
                <a:gd name="T15" fmla="*/ 81 h 779"/>
                <a:gd name="T16" fmla="*/ 1888 w 2247"/>
                <a:gd name="T17" fmla="*/ 102 h 779"/>
                <a:gd name="T18" fmla="*/ 2247 w 2247"/>
                <a:gd name="T19" fmla="*/ 18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47" h="779">
                  <a:moveTo>
                    <a:pt x="2247" y="180"/>
                  </a:moveTo>
                  <a:cubicBezTo>
                    <a:pt x="2247" y="779"/>
                    <a:pt x="2247" y="779"/>
                    <a:pt x="2247" y="779"/>
                  </a:cubicBezTo>
                  <a:cubicBezTo>
                    <a:pt x="0" y="779"/>
                    <a:pt x="0" y="779"/>
                    <a:pt x="0" y="779"/>
                  </a:cubicBezTo>
                  <a:cubicBezTo>
                    <a:pt x="9" y="776"/>
                    <a:pt x="18" y="774"/>
                    <a:pt x="27" y="772"/>
                  </a:cubicBezTo>
                  <a:cubicBezTo>
                    <a:pt x="122" y="747"/>
                    <a:pt x="220" y="728"/>
                    <a:pt x="318" y="726"/>
                  </a:cubicBezTo>
                  <a:cubicBezTo>
                    <a:pt x="351" y="725"/>
                    <a:pt x="384" y="726"/>
                    <a:pt x="417" y="727"/>
                  </a:cubicBezTo>
                  <a:cubicBezTo>
                    <a:pt x="496" y="729"/>
                    <a:pt x="574" y="732"/>
                    <a:pt x="648" y="710"/>
                  </a:cubicBezTo>
                  <a:cubicBezTo>
                    <a:pt x="949" y="623"/>
                    <a:pt x="1039" y="211"/>
                    <a:pt x="1323" y="81"/>
                  </a:cubicBezTo>
                  <a:cubicBezTo>
                    <a:pt x="1498" y="0"/>
                    <a:pt x="1703" y="47"/>
                    <a:pt x="1888" y="102"/>
                  </a:cubicBezTo>
                  <a:cubicBezTo>
                    <a:pt x="2005" y="136"/>
                    <a:pt x="2127" y="172"/>
                    <a:pt x="2247" y="1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6" name="任意多边形 435"/>
            <p:cNvSpPr/>
            <p:nvPr/>
          </p:nvSpPr>
          <p:spPr bwMode="auto">
            <a:xfrm>
              <a:off x="9341714" y="5860517"/>
              <a:ext cx="2758" cy="5569"/>
            </a:xfrm>
            <a:custGeom>
              <a:avLst/>
              <a:gdLst>
                <a:gd name="connsiteX0" fmla="*/ 2758 w 2758"/>
                <a:gd name="connsiteY0" fmla="*/ 0 h 5569"/>
                <a:gd name="connsiteX1" fmla="*/ 2758 w 2758"/>
                <a:gd name="connsiteY1" fmla="*/ 5569 h 5569"/>
                <a:gd name="connsiteX2" fmla="*/ 0 w 2758"/>
                <a:gd name="connsiteY2" fmla="*/ 5517 h 5569"/>
                <a:gd name="connsiteX3" fmla="*/ 322 w 2758"/>
                <a:gd name="connsiteY3" fmla="*/ 4873 h 5569"/>
                <a:gd name="connsiteX4" fmla="*/ 2758 w 2758"/>
                <a:gd name="connsiteY4" fmla="*/ 0 h 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8" h="5569">
                  <a:moveTo>
                    <a:pt x="2758" y="0"/>
                  </a:moveTo>
                  <a:cubicBezTo>
                    <a:pt x="2758" y="0"/>
                    <a:pt x="2758" y="0"/>
                    <a:pt x="2758" y="5569"/>
                  </a:cubicBezTo>
                  <a:lnTo>
                    <a:pt x="0" y="5517"/>
                  </a:lnTo>
                  <a:lnTo>
                    <a:pt x="322" y="4873"/>
                  </a:lnTo>
                  <a:cubicBezTo>
                    <a:pt x="670" y="4177"/>
                    <a:pt x="1366" y="2785"/>
                    <a:pt x="2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4" name="任意多边形 443"/>
            <p:cNvSpPr/>
            <p:nvPr/>
          </p:nvSpPr>
          <p:spPr bwMode="auto">
            <a:xfrm>
              <a:off x="9341714" y="5860517"/>
              <a:ext cx="2758" cy="5569"/>
            </a:xfrm>
            <a:custGeom>
              <a:avLst/>
              <a:gdLst>
                <a:gd name="connsiteX0" fmla="*/ 2758 w 2758"/>
                <a:gd name="connsiteY0" fmla="*/ 0 h 5569"/>
                <a:gd name="connsiteX1" fmla="*/ 2758 w 2758"/>
                <a:gd name="connsiteY1" fmla="*/ 5569 h 5569"/>
                <a:gd name="connsiteX2" fmla="*/ 0 w 2758"/>
                <a:gd name="connsiteY2" fmla="*/ 5517 h 5569"/>
                <a:gd name="connsiteX3" fmla="*/ 322 w 2758"/>
                <a:gd name="connsiteY3" fmla="*/ 4873 h 5569"/>
                <a:gd name="connsiteX4" fmla="*/ 2758 w 2758"/>
                <a:gd name="connsiteY4" fmla="*/ 0 h 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8" h="5569">
                  <a:moveTo>
                    <a:pt x="2758" y="0"/>
                  </a:moveTo>
                  <a:cubicBezTo>
                    <a:pt x="2758" y="0"/>
                    <a:pt x="2758" y="0"/>
                    <a:pt x="2758" y="5569"/>
                  </a:cubicBezTo>
                  <a:lnTo>
                    <a:pt x="0" y="5517"/>
                  </a:lnTo>
                  <a:lnTo>
                    <a:pt x="322" y="4873"/>
                  </a:lnTo>
                  <a:cubicBezTo>
                    <a:pt x="670" y="4177"/>
                    <a:pt x="1366" y="2785"/>
                    <a:pt x="2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2" name="任意多边形 441"/>
            <p:cNvSpPr/>
            <p:nvPr/>
          </p:nvSpPr>
          <p:spPr bwMode="auto">
            <a:xfrm>
              <a:off x="6608284" y="3308727"/>
              <a:ext cx="5594597" cy="3549273"/>
            </a:xfrm>
            <a:custGeom>
              <a:avLst/>
              <a:gdLst>
                <a:gd name="connsiteX0" fmla="*/ 5594597 w 5594597"/>
                <a:gd name="connsiteY0" fmla="*/ 0 h 3549273"/>
                <a:gd name="connsiteX1" fmla="*/ 5594597 w 5594597"/>
                <a:gd name="connsiteY1" fmla="*/ 11925 h 3549273"/>
                <a:gd name="connsiteX2" fmla="*/ 5592265 w 5594597"/>
                <a:gd name="connsiteY2" fmla="*/ 12898 h 3549273"/>
                <a:gd name="connsiteX3" fmla="*/ 5467789 w 5594597"/>
                <a:gd name="connsiteY3" fmla="*/ 87302 h 3549273"/>
                <a:gd name="connsiteX4" fmla="*/ 5038975 w 5594597"/>
                <a:gd name="connsiteY4" fmla="*/ 546783 h 3549273"/>
                <a:gd name="connsiteX5" fmla="*/ 4373479 w 5594597"/>
                <a:gd name="connsiteY5" fmla="*/ 1905732 h 3549273"/>
                <a:gd name="connsiteX6" fmla="*/ 3866698 w 5594597"/>
                <a:gd name="connsiteY6" fmla="*/ 2504450 h 3549273"/>
                <a:gd name="connsiteX7" fmla="*/ 3273599 w 5594597"/>
                <a:gd name="connsiteY7" fmla="*/ 2646471 h 3549273"/>
                <a:gd name="connsiteX8" fmla="*/ 2733405 w 5594597"/>
                <a:gd name="connsiteY8" fmla="*/ 2557359 h 3549273"/>
                <a:gd name="connsiteX9" fmla="*/ 2733431 w 5594597"/>
                <a:gd name="connsiteY9" fmla="*/ 2557307 h 3549273"/>
                <a:gd name="connsiteX10" fmla="*/ 2736189 w 5594597"/>
                <a:gd name="connsiteY10" fmla="*/ 2557359 h 3549273"/>
                <a:gd name="connsiteX11" fmla="*/ 2736189 w 5594597"/>
                <a:gd name="connsiteY11" fmla="*/ 2551790 h 3549273"/>
                <a:gd name="connsiteX12" fmla="*/ 2733753 w 5594597"/>
                <a:gd name="connsiteY12" fmla="*/ 2556663 h 3549273"/>
                <a:gd name="connsiteX13" fmla="*/ 2733431 w 5594597"/>
                <a:gd name="connsiteY13" fmla="*/ 2557307 h 3549273"/>
                <a:gd name="connsiteX14" fmla="*/ 2588610 w 5594597"/>
                <a:gd name="connsiteY14" fmla="*/ 2554575 h 3549273"/>
                <a:gd name="connsiteX15" fmla="*/ 394420 w 5594597"/>
                <a:gd name="connsiteY15" fmla="*/ 3186709 h 3549273"/>
                <a:gd name="connsiteX16" fmla="*/ 24287 w 5594597"/>
                <a:gd name="connsiteY16" fmla="*/ 3535676 h 3549273"/>
                <a:gd name="connsiteX17" fmla="*/ 13568 w 5594597"/>
                <a:gd name="connsiteY17" fmla="*/ 3549273 h 3549273"/>
                <a:gd name="connsiteX18" fmla="*/ 0 w 5594597"/>
                <a:gd name="connsiteY18" fmla="*/ 3549273 h 3549273"/>
                <a:gd name="connsiteX19" fmla="*/ 82207 w 5594597"/>
                <a:gd name="connsiteY19" fmla="*/ 3454000 h 3549273"/>
                <a:gd name="connsiteX20" fmla="*/ 347083 w 5594597"/>
                <a:gd name="connsiteY20" fmla="*/ 3208987 h 3549273"/>
                <a:gd name="connsiteX21" fmla="*/ 2588610 w 5594597"/>
                <a:gd name="connsiteY21" fmla="*/ 2543436 h 3549273"/>
                <a:gd name="connsiteX22" fmla="*/ 2736189 w 5594597"/>
                <a:gd name="connsiteY22" fmla="*/ 2546221 h 3549273"/>
                <a:gd name="connsiteX23" fmla="*/ 2738973 w 5594597"/>
                <a:gd name="connsiteY23" fmla="*/ 2546221 h 3549273"/>
                <a:gd name="connsiteX24" fmla="*/ 2747327 w 5594597"/>
                <a:gd name="connsiteY24" fmla="*/ 2549005 h 3549273"/>
                <a:gd name="connsiteX25" fmla="*/ 2777957 w 5594597"/>
                <a:gd name="connsiteY25" fmla="*/ 2560144 h 3549273"/>
                <a:gd name="connsiteX26" fmla="*/ 2892121 w 5594597"/>
                <a:gd name="connsiteY26" fmla="*/ 2590776 h 3549273"/>
                <a:gd name="connsiteX27" fmla="*/ 3273599 w 5594597"/>
                <a:gd name="connsiteY27" fmla="*/ 2635332 h 3549273"/>
                <a:gd name="connsiteX28" fmla="*/ 3861129 w 5594597"/>
                <a:gd name="connsiteY28" fmla="*/ 2493311 h 3549273"/>
                <a:gd name="connsiteX29" fmla="*/ 4365125 w 5594597"/>
                <a:gd name="connsiteY29" fmla="*/ 1900163 h 3549273"/>
                <a:gd name="connsiteX30" fmla="*/ 4846845 w 5594597"/>
                <a:gd name="connsiteY30" fmla="*/ 844749 h 3549273"/>
                <a:gd name="connsiteX31" fmla="*/ 5462220 w 5594597"/>
                <a:gd name="connsiteY31" fmla="*/ 78948 h 3549273"/>
                <a:gd name="connsiteX32" fmla="*/ 5587566 w 5594597"/>
                <a:gd name="connsiteY32" fmla="*/ 2934 h 3549273"/>
                <a:gd name="connsiteX33" fmla="*/ 5594597 w 5594597"/>
                <a:gd name="connsiteY33" fmla="*/ 0 h 354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594597" h="3549273">
                  <a:moveTo>
                    <a:pt x="5594597" y="0"/>
                  </a:moveTo>
                  <a:lnTo>
                    <a:pt x="5594597" y="11925"/>
                  </a:lnTo>
                  <a:lnTo>
                    <a:pt x="5592265" y="12898"/>
                  </a:lnTo>
                  <a:cubicBezTo>
                    <a:pt x="5549584" y="34566"/>
                    <a:pt x="5508165" y="59455"/>
                    <a:pt x="5467789" y="87302"/>
                  </a:cubicBezTo>
                  <a:cubicBezTo>
                    <a:pt x="5306288" y="198691"/>
                    <a:pt x="5167063" y="357421"/>
                    <a:pt x="5038975" y="546783"/>
                  </a:cubicBezTo>
                  <a:cubicBezTo>
                    <a:pt x="4782801" y="925507"/>
                    <a:pt x="4579532" y="1423974"/>
                    <a:pt x="4373479" y="1905732"/>
                  </a:cubicBezTo>
                  <a:cubicBezTo>
                    <a:pt x="4245391" y="2209268"/>
                    <a:pt x="4061613" y="2393060"/>
                    <a:pt x="3866698" y="2504450"/>
                  </a:cubicBezTo>
                  <a:cubicBezTo>
                    <a:pt x="3668999" y="2613054"/>
                    <a:pt x="3457376" y="2646471"/>
                    <a:pt x="3273599" y="2646471"/>
                  </a:cubicBezTo>
                  <a:cubicBezTo>
                    <a:pt x="2970087" y="2646471"/>
                    <a:pt x="2733405" y="2557359"/>
                    <a:pt x="2733405" y="2557359"/>
                  </a:cubicBezTo>
                  <a:lnTo>
                    <a:pt x="2733431" y="2557307"/>
                  </a:lnTo>
                  <a:lnTo>
                    <a:pt x="2736189" y="2557359"/>
                  </a:lnTo>
                  <a:cubicBezTo>
                    <a:pt x="2736189" y="2551790"/>
                    <a:pt x="2736189" y="2551790"/>
                    <a:pt x="2736189" y="2551790"/>
                  </a:cubicBezTo>
                  <a:cubicBezTo>
                    <a:pt x="2734797" y="2554575"/>
                    <a:pt x="2734101" y="2555967"/>
                    <a:pt x="2733753" y="2556663"/>
                  </a:cubicBezTo>
                  <a:lnTo>
                    <a:pt x="2733431" y="2557307"/>
                  </a:lnTo>
                  <a:lnTo>
                    <a:pt x="2588610" y="2554575"/>
                  </a:lnTo>
                  <a:cubicBezTo>
                    <a:pt x="1505438" y="2554575"/>
                    <a:pt x="817665" y="2866465"/>
                    <a:pt x="394420" y="3186709"/>
                  </a:cubicBezTo>
                  <a:cubicBezTo>
                    <a:pt x="235703" y="3306801"/>
                    <a:pt x="114577" y="3428459"/>
                    <a:pt x="24287" y="3535676"/>
                  </a:cubicBezTo>
                  <a:lnTo>
                    <a:pt x="13568" y="3549273"/>
                  </a:lnTo>
                  <a:lnTo>
                    <a:pt x="0" y="3549273"/>
                  </a:lnTo>
                  <a:lnTo>
                    <a:pt x="82207" y="3454000"/>
                  </a:lnTo>
                  <a:cubicBezTo>
                    <a:pt x="154430" y="3375897"/>
                    <a:pt x="241968" y="3292529"/>
                    <a:pt x="347083" y="3208987"/>
                  </a:cubicBezTo>
                  <a:cubicBezTo>
                    <a:pt x="767544" y="2877604"/>
                    <a:pt x="1469239" y="2543436"/>
                    <a:pt x="2588610" y="2543436"/>
                  </a:cubicBezTo>
                  <a:cubicBezTo>
                    <a:pt x="2635947" y="2543436"/>
                    <a:pt x="2686068" y="2543436"/>
                    <a:pt x="2736189" y="2546221"/>
                  </a:cubicBezTo>
                  <a:cubicBezTo>
                    <a:pt x="2736189" y="2546221"/>
                    <a:pt x="2738973" y="2546221"/>
                    <a:pt x="2738973" y="2546221"/>
                  </a:cubicBezTo>
                  <a:cubicBezTo>
                    <a:pt x="2741758" y="2549005"/>
                    <a:pt x="2744543" y="2549005"/>
                    <a:pt x="2747327" y="2549005"/>
                  </a:cubicBezTo>
                  <a:cubicBezTo>
                    <a:pt x="2755681" y="2551790"/>
                    <a:pt x="2764034" y="2557359"/>
                    <a:pt x="2777957" y="2560144"/>
                  </a:cubicBezTo>
                  <a:cubicBezTo>
                    <a:pt x="2805802" y="2568498"/>
                    <a:pt x="2844785" y="2579637"/>
                    <a:pt x="2892121" y="2590776"/>
                  </a:cubicBezTo>
                  <a:cubicBezTo>
                    <a:pt x="2989579" y="2613054"/>
                    <a:pt x="3123235" y="2635332"/>
                    <a:pt x="3273599" y="2635332"/>
                  </a:cubicBezTo>
                  <a:cubicBezTo>
                    <a:pt x="3457376" y="2635332"/>
                    <a:pt x="3666214" y="2601915"/>
                    <a:pt x="3861129" y="2493311"/>
                  </a:cubicBezTo>
                  <a:cubicBezTo>
                    <a:pt x="4053260" y="2384706"/>
                    <a:pt x="4234253" y="2200914"/>
                    <a:pt x="4365125" y="1900163"/>
                  </a:cubicBezTo>
                  <a:cubicBezTo>
                    <a:pt x="4518273" y="1538148"/>
                    <a:pt x="4671421" y="1167778"/>
                    <a:pt x="4846845" y="844749"/>
                  </a:cubicBezTo>
                  <a:cubicBezTo>
                    <a:pt x="5022268" y="521720"/>
                    <a:pt x="5217183" y="246032"/>
                    <a:pt x="5462220" y="78948"/>
                  </a:cubicBezTo>
                  <a:cubicBezTo>
                    <a:pt x="5502595" y="50405"/>
                    <a:pt x="5544363" y="24994"/>
                    <a:pt x="5587566" y="2934"/>
                  </a:cubicBezTo>
                  <a:lnTo>
                    <a:pt x="5594597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7" name="任意多边形 446"/>
            <p:cNvSpPr/>
            <p:nvPr/>
          </p:nvSpPr>
          <p:spPr bwMode="auto">
            <a:xfrm>
              <a:off x="5995122" y="4349658"/>
              <a:ext cx="6207758" cy="2508342"/>
            </a:xfrm>
            <a:custGeom>
              <a:avLst/>
              <a:gdLst>
                <a:gd name="connsiteX0" fmla="*/ 6161039 w 6207758"/>
                <a:gd name="connsiteY0" fmla="*/ 0 h 2508342"/>
                <a:gd name="connsiteX1" fmla="*/ 6207758 w 6207758"/>
                <a:gd name="connsiteY1" fmla="*/ 2553 h 2508342"/>
                <a:gd name="connsiteX2" fmla="*/ 6207758 w 6207758"/>
                <a:gd name="connsiteY2" fmla="*/ 13707 h 2508342"/>
                <a:gd name="connsiteX3" fmla="*/ 6161039 w 6207758"/>
                <a:gd name="connsiteY3" fmla="*/ 11134 h 2508342"/>
                <a:gd name="connsiteX4" fmla="*/ 4462613 w 6207758"/>
                <a:gd name="connsiteY4" fmla="*/ 1219136 h 2508342"/>
                <a:gd name="connsiteX5" fmla="*/ 3677439 w 6207758"/>
                <a:gd name="connsiteY5" fmla="*/ 1979009 h 2508342"/>
                <a:gd name="connsiteX6" fmla="*/ 2850500 w 6207758"/>
                <a:gd name="connsiteY6" fmla="*/ 2168281 h 2508342"/>
                <a:gd name="connsiteX7" fmla="*/ 1177133 w 6207758"/>
                <a:gd name="connsiteY7" fmla="*/ 2004059 h 2508342"/>
                <a:gd name="connsiteX8" fmla="*/ 1071329 w 6207758"/>
                <a:gd name="connsiteY8" fmla="*/ 2001276 h 2508342"/>
                <a:gd name="connsiteX9" fmla="*/ 372469 w 6207758"/>
                <a:gd name="connsiteY9" fmla="*/ 2162714 h 2508342"/>
                <a:gd name="connsiteX10" fmla="*/ 68632 w 6207758"/>
                <a:gd name="connsiteY10" fmla="*/ 2426529 h 2508342"/>
                <a:gd name="connsiteX11" fmla="*/ 14684 w 6207758"/>
                <a:gd name="connsiteY11" fmla="*/ 2508342 h 2508342"/>
                <a:gd name="connsiteX12" fmla="*/ 0 w 6207758"/>
                <a:gd name="connsiteY12" fmla="*/ 2508342 h 2508342"/>
                <a:gd name="connsiteX13" fmla="*/ 8041 w 6207758"/>
                <a:gd name="connsiteY13" fmla="*/ 2494370 h 2508342"/>
                <a:gd name="connsiteX14" fmla="*/ 366900 w 6207758"/>
                <a:gd name="connsiteY14" fmla="*/ 2151580 h 2508342"/>
                <a:gd name="connsiteX15" fmla="*/ 1071329 w 6207758"/>
                <a:gd name="connsiteY15" fmla="*/ 1990142 h 2508342"/>
                <a:gd name="connsiteX16" fmla="*/ 1179917 w 6207758"/>
                <a:gd name="connsiteY16" fmla="*/ 1992926 h 2508342"/>
                <a:gd name="connsiteX17" fmla="*/ 2850500 w 6207758"/>
                <a:gd name="connsiteY17" fmla="*/ 2157147 h 2508342"/>
                <a:gd name="connsiteX18" fmla="*/ 3671870 w 6207758"/>
                <a:gd name="connsiteY18" fmla="*/ 1967875 h 2508342"/>
                <a:gd name="connsiteX19" fmla="*/ 4454260 w 6207758"/>
                <a:gd name="connsiteY19" fmla="*/ 1210786 h 2508342"/>
                <a:gd name="connsiteX20" fmla="*/ 6161039 w 6207758"/>
                <a:gd name="connsiteY20" fmla="*/ 0 h 2508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7758" h="2508342">
                  <a:moveTo>
                    <a:pt x="6161039" y="0"/>
                  </a:moveTo>
                  <a:lnTo>
                    <a:pt x="6207758" y="2553"/>
                  </a:lnTo>
                  <a:lnTo>
                    <a:pt x="6207758" y="13707"/>
                  </a:lnTo>
                  <a:lnTo>
                    <a:pt x="6161039" y="11134"/>
                  </a:lnTo>
                  <a:cubicBezTo>
                    <a:pt x="5654296" y="11134"/>
                    <a:pt x="5055670" y="359061"/>
                    <a:pt x="4462613" y="1219136"/>
                  </a:cubicBezTo>
                  <a:cubicBezTo>
                    <a:pt x="4200888" y="1600464"/>
                    <a:pt x="3941948" y="1837054"/>
                    <a:pt x="3677439" y="1979009"/>
                  </a:cubicBezTo>
                  <a:cubicBezTo>
                    <a:pt x="3410146" y="2120963"/>
                    <a:pt x="3140068" y="2168281"/>
                    <a:pt x="2850500" y="2168281"/>
                  </a:cubicBezTo>
                  <a:cubicBezTo>
                    <a:pt x="2360463" y="2168281"/>
                    <a:pt x="1823092" y="2034677"/>
                    <a:pt x="1177133" y="2004059"/>
                  </a:cubicBezTo>
                  <a:cubicBezTo>
                    <a:pt x="1140937" y="2001276"/>
                    <a:pt x="1104741" y="2001276"/>
                    <a:pt x="1071329" y="2001276"/>
                  </a:cubicBezTo>
                  <a:cubicBezTo>
                    <a:pt x="770625" y="2001276"/>
                    <a:pt x="542312" y="2065295"/>
                    <a:pt x="372469" y="2162714"/>
                  </a:cubicBezTo>
                  <a:cubicBezTo>
                    <a:pt x="242999" y="2235779"/>
                    <a:pt x="143286" y="2327632"/>
                    <a:pt x="68632" y="2426529"/>
                  </a:cubicBezTo>
                  <a:lnTo>
                    <a:pt x="14684" y="2508342"/>
                  </a:lnTo>
                  <a:lnTo>
                    <a:pt x="0" y="2508342"/>
                  </a:lnTo>
                  <a:lnTo>
                    <a:pt x="8041" y="2494370"/>
                  </a:lnTo>
                  <a:cubicBezTo>
                    <a:pt x="88688" y="2366425"/>
                    <a:pt x="203323" y="2243781"/>
                    <a:pt x="366900" y="2151580"/>
                  </a:cubicBezTo>
                  <a:cubicBezTo>
                    <a:pt x="539527" y="2054161"/>
                    <a:pt x="767840" y="1990142"/>
                    <a:pt x="1071329" y="1990142"/>
                  </a:cubicBezTo>
                  <a:cubicBezTo>
                    <a:pt x="1104741" y="1990142"/>
                    <a:pt x="1140937" y="1990142"/>
                    <a:pt x="1179917" y="1992926"/>
                  </a:cubicBezTo>
                  <a:cubicBezTo>
                    <a:pt x="1825876" y="2023543"/>
                    <a:pt x="2363247" y="2157147"/>
                    <a:pt x="2850500" y="2157147"/>
                  </a:cubicBezTo>
                  <a:cubicBezTo>
                    <a:pt x="3137284" y="2157147"/>
                    <a:pt x="3407361" y="2109829"/>
                    <a:pt x="3671870" y="1967875"/>
                  </a:cubicBezTo>
                  <a:cubicBezTo>
                    <a:pt x="3933595" y="1828704"/>
                    <a:pt x="4192535" y="1592114"/>
                    <a:pt x="4454260" y="1210786"/>
                  </a:cubicBezTo>
                  <a:cubicBezTo>
                    <a:pt x="5047317" y="353494"/>
                    <a:pt x="5648727" y="0"/>
                    <a:pt x="6161039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-1602" y="-21859"/>
            <a:ext cx="6831027" cy="2830031"/>
            <a:chOff x="-1602" y="-21859"/>
            <a:chExt cx="7405943" cy="3068213"/>
          </a:xfrm>
        </p:grpSpPr>
        <p:sp>
          <p:nvSpPr>
            <p:cNvPr id="301" name="Freeform 8"/>
            <p:cNvSpPr/>
            <p:nvPr/>
          </p:nvSpPr>
          <p:spPr bwMode="auto">
            <a:xfrm>
              <a:off x="-1602" y="-2810"/>
              <a:ext cx="5892984" cy="3049164"/>
            </a:xfrm>
            <a:custGeom>
              <a:avLst/>
              <a:gdLst>
                <a:gd name="T0" fmla="*/ 2253 w 2253"/>
                <a:gd name="T1" fmla="*/ 0 h 1166"/>
                <a:gd name="T2" fmla="*/ 861 w 2253"/>
                <a:gd name="T3" fmla="*/ 765 h 1166"/>
                <a:gd name="T4" fmla="*/ 0 w 2253"/>
                <a:gd name="T5" fmla="*/ 490 h 1166"/>
                <a:gd name="T6" fmla="*/ 0 w 2253"/>
                <a:gd name="T7" fmla="*/ 0 h 1166"/>
                <a:gd name="T8" fmla="*/ 2253 w 2253"/>
                <a:gd name="T9" fmla="*/ 0 h 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3" h="1166">
                  <a:moveTo>
                    <a:pt x="2253" y="0"/>
                  </a:moveTo>
                  <a:cubicBezTo>
                    <a:pt x="1812" y="346"/>
                    <a:pt x="1330" y="1166"/>
                    <a:pt x="861" y="765"/>
                  </a:cubicBezTo>
                  <a:cubicBezTo>
                    <a:pt x="521" y="476"/>
                    <a:pt x="205" y="456"/>
                    <a:pt x="0" y="49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53" y="0"/>
                  </a:lnTo>
                  <a:close/>
                </a:path>
              </a:pathLst>
            </a:custGeom>
            <a:solidFill>
              <a:srgbClr val="C4E0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2" name="Freeform 9"/>
            <p:cNvSpPr/>
            <p:nvPr/>
          </p:nvSpPr>
          <p:spPr bwMode="auto">
            <a:xfrm>
              <a:off x="-1602" y="-2810"/>
              <a:ext cx="7405943" cy="2570674"/>
            </a:xfrm>
            <a:custGeom>
              <a:avLst/>
              <a:gdLst>
                <a:gd name="T0" fmla="*/ 2831 w 2831"/>
                <a:gd name="T1" fmla="*/ 0 h 983"/>
                <a:gd name="T2" fmla="*/ 2209 w 2831"/>
                <a:gd name="T3" fmla="*/ 450 h 983"/>
                <a:gd name="T4" fmla="*/ 635 w 2831"/>
                <a:gd name="T5" fmla="*/ 353 h 983"/>
                <a:gd name="T6" fmla="*/ 0 w 2831"/>
                <a:gd name="T7" fmla="*/ 631 h 983"/>
                <a:gd name="T8" fmla="*/ 0 w 2831"/>
                <a:gd name="T9" fmla="*/ 0 h 983"/>
                <a:gd name="T10" fmla="*/ 2831 w 2831"/>
                <a:gd name="T11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31" h="983">
                  <a:moveTo>
                    <a:pt x="2831" y="0"/>
                  </a:moveTo>
                  <a:cubicBezTo>
                    <a:pt x="2611" y="110"/>
                    <a:pt x="2383" y="257"/>
                    <a:pt x="2209" y="450"/>
                  </a:cubicBezTo>
                  <a:cubicBezTo>
                    <a:pt x="1731" y="983"/>
                    <a:pt x="1229" y="504"/>
                    <a:pt x="635" y="353"/>
                  </a:cubicBezTo>
                  <a:cubicBezTo>
                    <a:pt x="329" y="275"/>
                    <a:pt x="125" y="446"/>
                    <a:pt x="0" y="63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8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3" name="Freeform 10"/>
            <p:cNvSpPr/>
            <p:nvPr/>
          </p:nvSpPr>
          <p:spPr bwMode="auto">
            <a:xfrm>
              <a:off x="-1602" y="-2810"/>
              <a:ext cx="5493919" cy="1968202"/>
            </a:xfrm>
            <a:custGeom>
              <a:avLst/>
              <a:gdLst>
                <a:gd name="T0" fmla="*/ 2100 w 2100"/>
                <a:gd name="T1" fmla="*/ 0 h 753"/>
                <a:gd name="T2" fmla="*/ 1476 w 2100"/>
                <a:gd name="T3" fmla="*/ 620 h 753"/>
                <a:gd name="T4" fmla="*/ 896 w 2100"/>
                <a:gd name="T5" fmla="*/ 598 h 753"/>
                <a:gd name="T6" fmla="*/ 314 w 2100"/>
                <a:gd name="T7" fmla="*/ 541 h 753"/>
                <a:gd name="T8" fmla="*/ 0 w 2100"/>
                <a:gd name="T9" fmla="*/ 753 h 753"/>
                <a:gd name="T10" fmla="*/ 0 w 2100"/>
                <a:gd name="T11" fmla="*/ 0 h 753"/>
                <a:gd name="T12" fmla="*/ 2100 w 2100"/>
                <a:gd name="T13" fmla="*/ 0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00" h="753">
                  <a:moveTo>
                    <a:pt x="2100" y="0"/>
                  </a:moveTo>
                  <a:cubicBezTo>
                    <a:pt x="1845" y="127"/>
                    <a:pt x="1745" y="496"/>
                    <a:pt x="1476" y="620"/>
                  </a:cubicBezTo>
                  <a:cubicBezTo>
                    <a:pt x="1296" y="702"/>
                    <a:pt x="1086" y="654"/>
                    <a:pt x="896" y="598"/>
                  </a:cubicBezTo>
                  <a:cubicBezTo>
                    <a:pt x="706" y="543"/>
                    <a:pt x="503" y="481"/>
                    <a:pt x="314" y="541"/>
                  </a:cubicBezTo>
                  <a:cubicBezTo>
                    <a:pt x="192" y="579"/>
                    <a:pt x="92" y="663"/>
                    <a:pt x="0" y="75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100" y="0"/>
                  </a:lnTo>
                  <a:close/>
                </a:path>
              </a:pathLst>
            </a:custGeom>
            <a:solidFill>
              <a:srgbClr val="3335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1" name="任意多边形 430"/>
            <p:cNvSpPr/>
            <p:nvPr/>
          </p:nvSpPr>
          <p:spPr bwMode="auto">
            <a:xfrm>
              <a:off x="1" y="-21859"/>
              <a:ext cx="5827955" cy="2494815"/>
            </a:xfrm>
            <a:custGeom>
              <a:avLst/>
              <a:gdLst>
                <a:gd name="connsiteX0" fmla="*/ 5816086 w 5827955"/>
                <a:gd name="connsiteY0" fmla="*/ 0 h 2494815"/>
                <a:gd name="connsiteX1" fmla="*/ 5827955 w 5827955"/>
                <a:gd name="connsiteY1" fmla="*/ 0 h 2494815"/>
                <a:gd name="connsiteX2" fmla="*/ 5670175 w 5827955"/>
                <a:gd name="connsiteY2" fmla="*/ 368290 h 2494815"/>
                <a:gd name="connsiteX3" fmla="*/ 4997819 w 5827955"/>
                <a:gd name="connsiteY3" fmla="*/ 1108774 h 2494815"/>
                <a:gd name="connsiteX4" fmla="*/ 4074309 w 5827955"/>
                <a:gd name="connsiteY4" fmla="*/ 1271000 h 2494815"/>
                <a:gd name="connsiteX5" fmla="*/ 2993830 w 5827955"/>
                <a:gd name="connsiteY5" fmla="*/ 1234369 h 2494815"/>
                <a:gd name="connsiteX6" fmla="*/ 2606636 w 5827955"/>
                <a:gd name="connsiteY6" fmla="*/ 1252685 h 2494815"/>
                <a:gd name="connsiteX7" fmla="*/ 832870 w 5827955"/>
                <a:gd name="connsiteY7" fmla="*/ 1807393 h 2494815"/>
                <a:gd name="connsiteX8" fmla="*/ 45693 w 5827955"/>
                <a:gd name="connsiteY8" fmla="*/ 2438841 h 2494815"/>
                <a:gd name="connsiteX9" fmla="*/ 0 w 5827955"/>
                <a:gd name="connsiteY9" fmla="*/ 2494815 h 2494815"/>
                <a:gd name="connsiteX10" fmla="*/ 0 w 5827955"/>
                <a:gd name="connsiteY10" fmla="*/ 2477528 h 2494815"/>
                <a:gd name="connsiteX11" fmla="*/ 36833 w 5827955"/>
                <a:gd name="connsiteY11" fmla="*/ 2432131 h 2494815"/>
                <a:gd name="connsiteX12" fmla="*/ 827638 w 5827955"/>
                <a:gd name="connsiteY12" fmla="*/ 1796927 h 2494815"/>
                <a:gd name="connsiteX13" fmla="*/ 2604020 w 5827955"/>
                <a:gd name="connsiteY13" fmla="*/ 1242218 h 2494815"/>
                <a:gd name="connsiteX14" fmla="*/ 2993830 w 5827955"/>
                <a:gd name="connsiteY14" fmla="*/ 1223902 h 2494815"/>
                <a:gd name="connsiteX15" fmla="*/ 4074309 w 5827955"/>
                <a:gd name="connsiteY15" fmla="*/ 1260534 h 2494815"/>
                <a:gd name="connsiteX16" fmla="*/ 4992586 w 5827955"/>
                <a:gd name="connsiteY16" fmla="*/ 1100925 h 2494815"/>
                <a:gd name="connsiteX17" fmla="*/ 5659711 w 5827955"/>
                <a:gd name="connsiteY17" fmla="*/ 365674 h 2494815"/>
                <a:gd name="connsiteX18" fmla="*/ 5811204 w 5827955"/>
                <a:gd name="connsiteY18" fmla="*/ 11172 h 2494815"/>
                <a:gd name="connsiteX19" fmla="*/ 5816086 w 5827955"/>
                <a:gd name="connsiteY19" fmla="*/ 0 h 2494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27955" h="2494815">
                  <a:moveTo>
                    <a:pt x="5816086" y="0"/>
                  </a:moveTo>
                  <a:lnTo>
                    <a:pt x="5827955" y="0"/>
                  </a:lnTo>
                  <a:lnTo>
                    <a:pt x="5670175" y="368290"/>
                  </a:lnTo>
                  <a:cubicBezTo>
                    <a:pt x="5505356" y="752923"/>
                    <a:pt x="5272517" y="980563"/>
                    <a:pt x="4997819" y="1108774"/>
                  </a:cubicBezTo>
                  <a:cubicBezTo>
                    <a:pt x="4723121" y="1239602"/>
                    <a:pt x="4406564" y="1271000"/>
                    <a:pt x="4074309" y="1271000"/>
                  </a:cubicBezTo>
                  <a:cubicBezTo>
                    <a:pt x="3721126" y="1271000"/>
                    <a:pt x="3349629" y="1234369"/>
                    <a:pt x="2993830" y="1234369"/>
                  </a:cubicBezTo>
                  <a:cubicBezTo>
                    <a:pt x="2863021" y="1234369"/>
                    <a:pt x="2732212" y="1239602"/>
                    <a:pt x="2606636" y="1252685"/>
                  </a:cubicBezTo>
                  <a:cubicBezTo>
                    <a:pt x="1986603" y="1323331"/>
                    <a:pt x="1371802" y="1490791"/>
                    <a:pt x="832870" y="1807393"/>
                  </a:cubicBezTo>
                  <a:cubicBezTo>
                    <a:pt x="549996" y="1972563"/>
                    <a:pt x="271210" y="2184749"/>
                    <a:pt x="45693" y="2438841"/>
                  </a:cubicBezTo>
                  <a:lnTo>
                    <a:pt x="0" y="2494815"/>
                  </a:lnTo>
                  <a:lnTo>
                    <a:pt x="0" y="2477528"/>
                  </a:lnTo>
                  <a:lnTo>
                    <a:pt x="36833" y="2432131"/>
                  </a:lnTo>
                  <a:cubicBezTo>
                    <a:pt x="262708" y="2176532"/>
                    <a:pt x="543129" y="1963733"/>
                    <a:pt x="827638" y="1796927"/>
                  </a:cubicBezTo>
                  <a:cubicBezTo>
                    <a:pt x="1369186" y="1482941"/>
                    <a:pt x="1986603" y="1312865"/>
                    <a:pt x="2604020" y="1242218"/>
                  </a:cubicBezTo>
                  <a:cubicBezTo>
                    <a:pt x="2732212" y="1229136"/>
                    <a:pt x="2860405" y="1223902"/>
                    <a:pt x="2993830" y="1223902"/>
                  </a:cubicBezTo>
                  <a:cubicBezTo>
                    <a:pt x="3349629" y="1223902"/>
                    <a:pt x="3721126" y="1260534"/>
                    <a:pt x="4074309" y="1260534"/>
                  </a:cubicBezTo>
                  <a:cubicBezTo>
                    <a:pt x="4403947" y="1260534"/>
                    <a:pt x="4720504" y="1229136"/>
                    <a:pt x="4992586" y="1100925"/>
                  </a:cubicBezTo>
                  <a:cubicBezTo>
                    <a:pt x="5264668" y="970097"/>
                    <a:pt x="5497508" y="747690"/>
                    <a:pt x="5659711" y="365674"/>
                  </a:cubicBezTo>
                  <a:cubicBezTo>
                    <a:pt x="5710072" y="247929"/>
                    <a:pt x="5760434" y="129367"/>
                    <a:pt x="5811204" y="11172"/>
                  </a:cubicBezTo>
                  <a:lnTo>
                    <a:pt x="581608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28" name="任意多边形 427"/>
            <p:cNvSpPr/>
            <p:nvPr/>
          </p:nvSpPr>
          <p:spPr bwMode="auto">
            <a:xfrm>
              <a:off x="0" y="-2810"/>
              <a:ext cx="5659388" cy="2044911"/>
            </a:xfrm>
            <a:custGeom>
              <a:avLst/>
              <a:gdLst>
                <a:gd name="connsiteX0" fmla="*/ 5644902 w 5659388"/>
                <a:gd name="connsiteY0" fmla="*/ 0 h 2044911"/>
                <a:gd name="connsiteX1" fmla="*/ 5659388 w 5659388"/>
                <a:gd name="connsiteY1" fmla="*/ 0 h 2044911"/>
                <a:gd name="connsiteX2" fmla="*/ 5566846 w 5659388"/>
                <a:gd name="connsiteY2" fmla="*/ 91856 h 2044911"/>
                <a:gd name="connsiteX3" fmla="*/ 4987114 w 5659388"/>
                <a:gd name="connsiteY3" fmla="*/ 809974 h 2044911"/>
                <a:gd name="connsiteX4" fmla="*/ 3964326 w 5659388"/>
                <a:gd name="connsiteY4" fmla="*/ 1798970 h 2044911"/>
                <a:gd name="connsiteX5" fmla="*/ 2889221 w 5659388"/>
                <a:gd name="connsiteY5" fmla="*/ 2044911 h 2044911"/>
                <a:gd name="connsiteX6" fmla="*/ 712854 w 5659388"/>
                <a:gd name="connsiteY6" fmla="*/ 1830367 h 2044911"/>
                <a:gd name="connsiteX7" fmla="*/ 571600 w 5659388"/>
                <a:gd name="connsiteY7" fmla="*/ 1827750 h 2044911"/>
                <a:gd name="connsiteX8" fmla="*/ 54647 w 5659388"/>
                <a:gd name="connsiteY8" fmla="*/ 1885311 h 2044911"/>
                <a:gd name="connsiteX9" fmla="*/ 0 w 5659388"/>
                <a:gd name="connsiteY9" fmla="*/ 1900486 h 2044911"/>
                <a:gd name="connsiteX10" fmla="*/ 0 w 5659388"/>
                <a:gd name="connsiteY10" fmla="*/ 1889408 h 2044911"/>
                <a:gd name="connsiteX11" fmla="*/ 51051 w 5659388"/>
                <a:gd name="connsiteY11" fmla="*/ 1875173 h 2044911"/>
                <a:gd name="connsiteX12" fmla="*/ 571600 w 5659388"/>
                <a:gd name="connsiteY12" fmla="*/ 1817285 h 2044911"/>
                <a:gd name="connsiteX13" fmla="*/ 712854 w 5659388"/>
                <a:gd name="connsiteY13" fmla="*/ 1819901 h 2044911"/>
                <a:gd name="connsiteX14" fmla="*/ 2889221 w 5659388"/>
                <a:gd name="connsiteY14" fmla="*/ 2034445 h 2044911"/>
                <a:gd name="connsiteX15" fmla="*/ 3959094 w 5659388"/>
                <a:gd name="connsiteY15" fmla="*/ 1791121 h 2044911"/>
                <a:gd name="connsiteX16" fmla="*/ 4979266 w 5659388"/>
                <a:gd name="connsiteY16" fmla="*/ 802125 h 2044911"/>
                <a:gd name="connsiteX17" fmla="*/ 5559489 w 5659388"/>
                <a:gd name="connsiteY17" fmla="*/ 84702 h 2044911"/>
                <a:gd name="connsiteX18" fmla="*/ 5644902 w 5659388"/>
                <a:gd name="connsiteY18" fmla="*/ 0 h 204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59388" h="2044911">
                  <a:moveTo>
                    <a:pt x="5644902" y="0"/>
                  </a:moveTo>
                  <a:lnTo>
                    <a:pt x="5659388" y="0"/>
                  </a:lnTo>
                  <a:lnTo>
                    <a:pt x="5566846" y="91856"/>
                  </a:lnTo>
                  <a:cubicBezTo>
                    <a:pt x="5374583" y="291765"/>
                    <a:pt x="5180685" y="530020"/>
                    <a:pt x="4987114" y="809974"/>
                  </a:cubicBezTo>
                  <a:cubicBezTo>
                    <a:pt x="4644440" y="1304472"/>
                    <a:pt x="4309615" y="1613206"/>
                    <a:pt x="3964326" y="1798970"/>
                  </a:cubicBezTo>
                  <a:cubicBezTo>
                    <a:pt x="3619037" y="1984734"/>
                    <a:pt x="3265900" y="2044911"/>
                    <a:pt x="2889221" y="2044911"/>
                  </a:cubicBezTo>
                  <a:cubicBezTo>
                    <a:pt x="2253576" y="2044911"/>
                    <a:pt x="1552534" y="1872229"/>
                    <a:pt x="712854" y="1830367"/>
                  </a:cubicBezTo>
                  <a:cubicBezTo>
                    <a:pt x="665769" y="1830367"/>
                    <a:pt x="618685" y="1827750"/>
                    <a:pt x="571600" y="1827750"/>
                  </a:cubicBezTo>
                  <a:cubicBezTo>
                    <a:pt x="376721" y="1827750"/>
                    <a:pt x="205384" y="1848681"/>
                    <a:pt x="54647" y="1885311"/>
                  </a:cubicBezTo>
                  <a:lnTo>
                    <a:pt x="0" y="1900486"/>
                  </a:lnTo>
                  <a:lnTo>
                    <a:pt x="0" y="1889408"/>
                  </a:lnTo>
                  <a:lnTo>
                    <a:pt x="51051" y="1875173"/>
                  </a:lnTo>
                  <a:cubicBezTo>
                    <a:pt x="202769" y="1838216"/>
                    <a:pt x="375413" y="1817285"/>
                    <a:pt x="571600" y="1817285"/>
                  </a:cubicBezTo>
                  <a:cubicBezTo>
                    <a:pt x="618685" y="1817285"/>
                    <a:pt x="665769" y="1819901"/>
                    <a:pt x="712854" y="1819901"/>
                  </a:cubicBezTo>
                  <a:cubicBezTo>
                    <a:pt x="1555150" y="1861764"/>
                    <a:pt x="2256191" y="2034445"/>
                    <a:pt x="2889221" y="2034445"/>
                  </a:cubicBezTo>
                  <a:cubicBezTo>
                    <a:pt x="3265900" y="2034445"/>
                    <a:pt x="3616421" y="1974268"/>
                    <a:pt x="3959094" y="1791121"/>
                  </a:cubicBezTo>
                  <a:cubicBezTo>
                    <a:pt x="4301767" y="1605357"/>
                    <a:pt x="4636593" y="1299239"/>
                    <a:pt x="4979266" y="802125"/>
                  </a:cubicBezTo>
                  <a:cubicBezTo>
                    <a:pt x="5172837" y="522825"/>
                    <a:pt x="5366899" y="284734"/>
                    <a:pt x="5559489" y="84702"/>
                  </a:cubicBezTo>
                  <a:lnTo>
                    <a:pt x="564490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 rot="5400000">
            <a:off x="-781484" y="1788411"/>
            <a:ext cx="3587030" cy="628289"/>
            <a:chOff x="869268" y="6105837"/>
            <a:chExt cx="3946526" cy="691257"/>
          </a:xfrm>
          <a:solidFill>
            <a:srgbClr val="E1E1EF"/>
          </a:solidFill>
        </p:grpSpPr>
        <p:sp>
          <p:nvSpPr>
            <p:cNvPr id="112" name="椭圆 111"/>
            <p:cNvSpPr/>
            <p:nvPr/>
          </p:nvSpPr>
          <p:spPr>
            <a:xfrm>
              <a:off x="473083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73083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473083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440755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440755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440755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408427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408427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408427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3760999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3760999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/>
            <p:cNvSpPr/>
            <p:nvPr/>
          </p:nvSpPr>
          <p:spPr>
            <a:xfrm>
              <a:off x="3760999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椭圆 123"/>
            <p:cNvSpPr/>
            <p:nvPr/>
          </p:nvSpPr>
          <p:spPr>
            <a:xfrm>
              <a:off x="343787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/>
            <p:cNvSpPr/>
            <p:nvPr/>
          </p:nvSpPr>
          <p:spPr>
            <a:xfrm>
              <a:off x="343787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343787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311459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/>
          </p:nvSpPr>
          <p:spPr>
            <a:xfrm>
              <a:off x="311459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311459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/>
          </p:nvSpPr>
          <p:spPr>
            <a:xfrm>
              <a:off x="279131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/>
          </p:nvSpPr>
          <p:spPr>
            <a:xfrm>
              <a:off x="279131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279131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/>
          </p:nvSpPr>
          <p:spPr>
            <a:xfrm>
              <a:off x="246804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246804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246804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/>
          </p:nvSpPr>
          <p:spPr>
            <a:xfrm>
              <a:off x="216756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/>
          </p:nvSpPr>
          <p:spPr>
            <a:xfrm>
              <a:off x="216756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/>
          </p:nvSpPr>
          <p:spPr>
            <a:xfrm>
              <a:off x="216756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/>
          </p:nvSpPr>
          <p:spPr>
            <a:xfrm>
              <a:off x="1844285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/>
          </p:nvSpPr>
          <p:spPr>
            <a:xfrm>
              <a:off x="1844285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44285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/>
          </p:nvSpPr>
          <p:spPr>
            <a:xfrm>
              <a:off x="152100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/>
          </p:nvSpPr>
          <p:spPr>
            <a:xfrm>
              <a:off x="152100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/>
          </p:nvSpPr>
          <p:spPr>
            <a:xfrm>
              <a:off x="152100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/>
          </p:nvSpPr>
          <p:spPr>
            <a:xfrm>
              <a:off x="119773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/>
          </p:nvSpPr>
          <p:spPr>
            <a:xfrm>
              <a:off x="119773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/>
          </p:nvSpPr>
          <p:spPr>
            <a:xfrm>
              <a:off x="119773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/>
          </p:nvSpPr>
          <p:spPr>
            <a:xfrm>
              <a:off x="86926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/>
            <p:cNvSpPr/>
            <p:nvPr/>
          </p:nvSpPr>
          <p:spPr>
            <a:xfrm>
              <a:off x="86926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椭圆 149"/>
            <p:cNvSpPr/>
            <p:nvPr/>
          </p:nvSpPr>
          <p:spPr>
            <a:xfrm>
              <a:off x="86926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rot="5400000">
            <a:off x="9441985" y="4262444"/>
            <a:ext cx="3946526" cy="691257"/>
            <a:chOff x="869268" y="6105837"/>
            <a:chExt cx="3946526" cy="691257"/>
          </a:xfrm>
          <a:solidFill>
            <a:srgbClr val="E1E1EF"/>
          </a:solidFill>
        </p:grpSpPr>
        <p:sp>
          <p:nvSpPr>
            <p:cNvPr id="71" name="椭圆 70"/>
            <p:cNvSpPr/>
            <p:nvPr/>
          </p:nvSpPr>
          <p:spPr>
            <a:xfrm>
              <a:off x="473083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473083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473083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440755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440755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440755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408427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408427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408427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3760999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3760999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3760999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343787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343787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343787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311459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311459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311459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279131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279131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279131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246804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246804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246804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216756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216756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216756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1844285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1844285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1844285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152100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152100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152100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119773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119773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19773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86926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86926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86926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8" name="文本框 447"/>
          <p:cNvSpPr txBox="1"/>
          <p:nvPr/>
        </p:nvSpPr>
        <p:spPr>
          <a:xfrm>
            <a:off x="3753485" y="2750375"/>
            <a:ext cx="4704080" cy="14452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r>
              <a:rPr lang="zh-CN" altLang="en-US" sz="8800" spc="100" dirty="0">
                <a:solidFill>
                  <a:srgbClr val="6CC4C4"/>
                </a:solidFill>
                <a:effectLst>
                  <a:outerShdw blurRad="127000" dist="63500" dir="2700000" algn="tl" rotWithShape="0">
                    <a:schemeClr val="tx1">
                      <a:lumMod val="65000"/>
                      <a:lumOff val="35000"/>
                      <a:alpha val="20000"/>
                    </a:schemeClr>
                  </a:outerShdw>
                </a:effectLst>
                <a:latin typeface="+mj-ea"/>
              </a:rPr>
              <a:t>项目</a:t>
            </a:r>
            <a:r>
              <a:rPr lang="zh-CN" altLang="en-US" sz="8800" spc="100" dirty="0">
                <a:effectLst>
                  <a:outerShdw blurRad="127000" dist="63500" dir="2700000" algn="tl" rotWithShape="0">
                    <a:schemeClr val="tx1">
                      <a:lumMod val="65000"/>
                      <a:lumOff val="35000"/>
                      <a:alpha val="20000"/>
                    </a:schemeClr>
                  </a:outerShdw>
                </a:effectLst>
                <a:latin typeface="+mj-ea"/>
              </a:rPr>
              <a:t>介绍</a:t>
            </a:r>
            <a:endParaRPr lang="zh-CN" altLang="en-US" sz="8800" spc="100" dirty="0">
              <a:effectLst>
                <a:outerShdw blurRad="127000" dist="63500" dir="2700000" algn="tl" rotWithShape="0">
                  <a:schemeClr val="tx1">
                    <a:lumMod val="65000"/>
                    <a:lumOff val="35000"/>
                    <a:alpha val="20000"/>
                  </a:schemeClr>
                </a:outerShdw>
              </a:effectLst>
              <a:latin typeface="+mj-ea"/>
            </a:endParaRPr>
          </a:p>
        </p:txBody>
      </p:sp>
      <p:sp>
        <p:nvSpPr>
          <p:cNvPr id="450" name="文本框 449"/>
          <p:cNvSpPr txBox="1"/>
          <p:nvPr/>
        </p:nvSpPr>
        <p:spPr>
          <a:xfrm>
            <a:off x="5950585" y="437792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2000" spc="200" dirty="0">
              <a:solidFill>
                <a:srgbClr val="2D3C65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805314" y="3566793"/>
            <a:ext cx="6983180" cy="3549273"/>
            <a:chOff x="5219701" y="3308727"/>
            <a:chExt cx="6983180" cy="3549273"/>
          </a:xfrm>
        </p:grpSpPr>
        <p:sp>
          <p:nvSpPr>
            <p:cNvPr id="164" name="Freeform 5"/>
            <p:cNvSpPr/>
            <p:nvPr/>
          </p:nvSpPr>
          <p:spPr bwMode="auto">
            <a:xfrm>
              <a:off x="6339288" y="5918729"/>
              <a:ext cx="2715465" cy="936083"/>
            </a:xfrm>
            <a:custGeom>
              <a:avLst/>
              <a:gdLst>
                <a:gd name="T0" fmla="*/ 975 w 975"/>
                <a:gd name="T1" fmla="*/ 336 h 336"/>
                <a:gd name="T2" fmla="*/ 0 w 975"/>
                <a:gd name="T3" fmla="*/ 336 h 336"/>
                <a:gd name="T4" fmla="*/ 568 w 975"/>
                <a:gd name="T5" fmla="*/ 49 h 336"/>
                <a:gd name="T6" fmla="*/ 975 w 975"/>
                <a:gd name="T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5" h="336">
                  <a:moveTo>
                    <a:pt x="975" y="336"/>
                  </a:moveTo>
                  <a:cubicBezTo>
                    <a:pt x="0" y="336"/>
                    <a:pt x="0" y="336"/>
                    <a:pt x="0" y="336"/>
                  </a:cubicBezTo>
                  <a:cubicBezTo>
                    <a:pt x="199" y="195"/>
                    <a:pt x="302" y="0"/>
                    <a:pt x="568" y="49"/>
                  </a:cubicBezTo>
                  <a:cubicBezTo>
                    <a:pt x="803" y="92"/>
                    <a:pt x="919" y="230"/>
                    <a:pt x="975" y="336"/>
                  </a:cubicBezTo>
                </a:path>
              </a:pathLst>
            </a:custGeom>
            <a:solidFill>
              <a:srgbClr val="C4E0E6"/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Freeform 6"/>
            <p:cNvSpPr/>
            <p:nvPr/>
          </p:nvSpPr>
          <p:spPr bwMode="auto">
            <a:xfrm>
              <a:off x="5219701" y="3638317"/>
              <a:ext cx="6975260" cy="3216495"/>
            </a:xfrm>
            <a:custGeom>
              <a:avLst/>
              <a:gdLst>
                <a:gd name="T0" fmla="*/ 2505 w 2505"/>
                <a:gd name="T1" fmla="*/ 45 h 1155"/>
                <a:gd name="T2" fmla="*/ 2505 w 2505"/>
                <a:gd name="T3" fmla="*/ 1155 h 1155"/>
                <a:gd name="T4" fmla="*/ 0 w 2505"/>
                <a:gd name="T5" fmla="*/ 1155 h 1155"/>
                <a:gd name="T6" fmla="*/ 485 w 2505"/>
                <a:gd name="T7" fmla="*/ 973 h 1155"/>
                <a:gd name="T8" fmla="*/ 1951 w 2505"/>
                <a:gd name="T9" fmla="*/ 460 h 1155"/>
                <a:gd name="T10" fmla="*/ 2505 w 2505"/>
                <a:gd name="T11" fmla="*/ 45 h 1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5" h="1155">
                  <a:moveTo>
                    <a:pt x="2505" y="45"/>
                  </a:moveTo>
                  <a:cubicBezTo>
                    <a:pt x="2505" y="1155"/>
                    <a:pt x="2505" y="1155"/>
                    <a:pt x="2505" y="1155"/>
                  </a:cubicBezTo>
                  <a:cubicBezTo>
                    <a:pt x="0" y="1155"/>
                    <a:pt x="0" y="1155"/>
                    <a:pt x="0" y="1155"/>
                  </a:cubicBezTo>
                  <a:cubicBezTo>
                    <a:pt x="99" y="1018"/>
                    <a:pt x="269" y="860"/>
                    <a:pt x="485" y="973"/>
                  </a:cubicBezTo>
                  <a:cubicBezTo>
                    <a:pt x="832" y="1155"/>
                    <a:pt x="1574" y="1142"/>
                    <a:pt x="1951" y="460"/>
                  </a:cubicBezTo>
                  <a:cubicBezTo>
                    <a:pt x="2154" y="93"/>
                    <a:pt x="2343" y="0"/>
                    <a:pt x="2505" y="4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6" name="任意多边形 435"/>
            <p:cNvSpPr/>
            <p:nvPr/>
          </p:nvSpPr>
          <p:spPr bwMode="auto">
            <a:xfrm>
              <a:off x="9341714" y="5860517"/>
              <a:ext cx="2758" cy="5569"/>
            </a:xfrm>
            <a:custGeom>
              <a:avLst/>
              <a:gdLst>
                <a:gd name="connsiteX0" fmla="*/ 2758 w 2758"/>
                <a:gd name="connsiteY0" fmla="*/ 0 h 5569"/>
                <a:gd name="connsiteX1" fmla="*/ 2758 w 2758"/>
                <a:gd name="connsiteY1" fmla="*/ 5569 h 5569"/>
                <a:gd name="connsiteX2" fmla="*/ 0 w 2758"/>
                <a:gd name="connsiteY2" fmla="*/ 5517 h 5569"/>
                <a:gd name="connsiteX3" fmla="*/ 322 w 2758"/>
                <a:gd name="connsiteY3" fmla="*/ 4873 h 5569"/>
                <a:gd name="connsiteX4" fmla="*/ 2758 w 2758"/>
                <a:gd name="connsiteY4" fmla="*/ 0 h 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8" h="5569">
                  <a:moveTo>
                    <a:pt x="2758" y="0"/>
                  </a:moveTo>
                  <a:cubicBezTo>
                    <a:pt x="2758" y="0"/>
                    <a:pt x="2758" y="0"/>
                    <a:pt x="2758" y="5569"/>
                  </a:cubicBezTo>
                  <a:lnTo>
                    <a:pt x="0" y="5517"/>
                  </a:lnTo>
                  <a:lnTo>
                    <a:pt x="322" y="4873"/>
                  </a:lnTo>
                  <a:cubicBezTo>
                    <a:pt x="670" y="4177"/>
                    <a:pt x="1366" y="2785"/>
                    <a:pt x="2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4" name="任意多边形 443"/>
            <p:cNvSpPr/>
            <p:nvPr/>
          </p:nvSpPr>
          <p:spPr bwMode="auto">
            <a:xfrm>
              <a:off x="9341714" y="5860517"/>
              <a:ext cx="2758" cy="5569"/>
            </a:xfrm>
            <a:custGeom>
              <a:avLst/>
              <a:gdLst>
                <a:gd name="connsiteX0" fmla="*/ 2758 w 2758"/>
                <a:gd name="connsiteY0" fmla="*/ 0 h 5569"/>
                <a:gd name="connsiteX1" fmla="*/ 2758 w 2758"/>
                <a:gd name="connsiteY1" fmla="*/ 5569 h 5569"/>
                <a:gd name="connsiteX2" fmla="*/ 0 w 2758"/>
                <a:gd name="connsiteY2" fmla="*/ 5517 h 5569"/>
                <a:gd name="connsiteX3" fmla="*/ 322 w 2758"/>
                <a:gd name="connsiteY3" fmla="*/ 4873 h 5569"/>
                <a:gd name="connsiteX4" fmla="*/ 2758 w 2758"/>
                <a:gd name="connsiteY4" fmla="*/ 0 h 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8" h="5569">
                  <a:moveTo>
                    <a:pt x="2758" y="0"/>
                  </a:moveTo>
                  <a:cubicBezTo>
                    <a:pt x="2758" y="0"/>
                    <a:pt x="2758" y="0"/>
                    <a:pt x="2758" y="5569"/>
                  </a:cubicBezTo>
                  <a:lnTo>
                    <a:pt x="0" y="5517"/>
                  </a:lnTo>
                  <a:lnTo>
                    <a:pt x="322" y="4873"/>
                  </a:lnTo>
                  <a:cubicBezTo>
                    <a:pt x="670" y="4177"/>
                    <a:pt x="1366" y="2785"/>
                    <a:pt x="2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2" name="任意多边形 441"/>
            <p:cNvSpPr/>
            <p:nvPr/>
          </p:nvSpPr>
          <p:spPr bwMode="auto">
            <a:xfrm>
              <a:off x="6608284" y="3308727"/>
              <a:ext cx="5594597" cy="3549273"/>
            </a:xfrm>
            <a:custGeom>
              <a:avLst/>
              <a:gdLst>
                <a:gd name="connsiteX0" fmla="*/ 5594597 w 5594597"/>
                <a:gd name="connsiteY0" fmla="*/ 0 h 3549273"/>
                <a:gd name="connsiteX1" fmla="*/ 5594597 w 5594597"/>
                <a:gd name="connsiteY1" fmla="*/ 11925 h 3549273"/>
                <a:gd name="connsiteX2" fmla="*/ 5592265 w 5594597"/>
                <a:gd name="connsiteY2" fmla="*/ 12898 h 3549273"/>
                <a:gd name="connsiteX3" fmla="*/ 5467789 w 5594597"/>
                <a:gd name="connsiteY3" fmla="*/ 87302 h 3549273"/>
                <a:gd name="connsiteX4" fmla="*/ 5038975 w 5594597"/>
                <a:gd name="connsiteY4" fmla="*/ 546783 h 3549273"/>
                <a:gd name="connsiteX5" fmla="*/ 4373479 w 5594597"/>
                <a:gd name="connsiteY5" fmla="*/ 1905732 h 3549273"/>
                <a:gd name="connsiteX6" fmla="*/ 3866698 w 5594597"/>
                <a:gd name="connsiteY6" fmla="*/ 2504450 h 3549273"/>
                <a:gd name="connsiteX7" fmla="*/ 3273599 w 5594597"/>
                <a:gd name="connsiteY7" fmla="*/ 2646471 h 3549273"/>
                <a:gd name="connsiteX8" fmla="*/ 2733405 w 5594597"/>
                <a:gd name="connsiteY8" fmla="*/ 2557359 h 3549273"/>
                <a:gd name="connsiteX9" fmla="*/ 2733431 w 5594597"/>
                <a:gd name="connsiteY9" fmla="*/ 2557307 h 3549273"/>
                <a:gd name="connsiteX10" fmla="*/ 2736189 w 5594597"/>
                <a:gd name="connsiteY10" fmla="*/ 2557359 h 3549273"/>
                <a:gd name="connsiteX11" fmla="*/ 2736189 w 5594597"/>
                <a:gd name="connsiteY11" fmla="*/ 2551790 h 3549273"/>
                <a:gd name="connsiteX12" fmla="*/ 2733753 w 5594597"/>
                <a:gd name="connsiteY12" fmla="*/ 2556663 h 3549273"/>
                <a:gd name="connsiteX13" fmla="*/ 2733431 w 5594597"/>
                <a:gd name="connsiteY13" fmla="*/ 2557307 h 3549273"/>
                <a:gd name="connsiteX14" fmla="*/ 2588610 w 5594597"/>
                <a:gd name="connsiteY14" fmla="*/ 2554575 h 3549273"/>
                <a:gd name="connsiteX15" fmla="*/ 394420 w 5594597"/>
                <a:gd name="connsiteY15" fmla="*/ 3186709 h 3549273"/>
                <a:gd name="connsiteX16" fmla="*/ 24287 w 5594597"/>
                <a:gd name="connsiteY16" fmla="*/ 3535676 h 3549273"/>
                <a:gd name="connsiteX17" fmla="*/ 13568 w 5594597"/>
                <a:gd name="connsiteY17" fmla="*/ 3549273 h 3549273"/>
                <a:gd name="connsiteX18" fmla="*/ 0 w 5594597"/>
                <a:gd name="connsiteY18" fmla="*/ 3549273 h 3549273"/>
                <a:gd name="connsiteX19" fmla="*/ 82207 w 5594597"/>
                <a:gd name="connsiteY19" fmla="*/ 3454000 h 3549273"/>
                <a:gd name="connsiteX20" fmla="*/ 347083 w 5594597"/>
                <a:gd name="connsiteY20" fmla="*/ 3208987 h 3549273"/>
                <a:gd name="connsiteX21" fmla="*/ 2588610 w 5594597"/>
                <a:gd name="connsiteY21" fmla="*/ 2543436 h 3549273"/>
                <a:gd name="connsiteX22" fmla="*/ 2736189 w 5594597"/>
                <a:gd name="connsiteY22" fmla="*/ 2546221 h 3549273"/>
                <a:gd name="connsiteX23" fmla="*/ 2738973 w 5594597"/>
                <a:gd name="connsiteY23" fmla="*/ 2546221 h 3549273"/>
                <a:gd name="connsiteX24" fmla="*/ 2747327 w 5594597"/>
                <a:gd name="connsiteY24" fmla="*/ 2549005 h 3549273"/>
                <a:gd name="connsiteX25" fmla="*/ 2777957 w 5594597"/>
                <a:gd name="connsiteY25" fmla="*/ 2560144 h 3549273"/>
                <a:gd name="connsiteX26" fmla="*/ 2892121 w 5594597"/>
                <a:gd name="connsiteY26" fmla="*/ 2590776 h 3549273"/>
                <a:gd name="connsiteX27" fmla="*/ 3273599 w 5594597"/>
                <a:gd name="connsiteY27" fmla="*/ 2635332 h 3549273"/>
                <a:gd name="connsiteX28" fmla="*/ 3861129 w 5594597"/>
                <a:gd name="connsiteY28" fmla="*/ 2493311 h 3549273"/>
                <a:gd name="connsiteX29" fmla="*/ 4365125 w 5594597"/>
                <a:gd name="connsiteY29" fmla="*/ 1900163 h 3549273"/>
                <a:gd name="connsiteX30" fmla="*/ 4846845 w 5594597"/>
                <a:gd name="connsiteY30" fmla="*/ 844749 h 3549273"/>
                <a:gd name="connsiteX31" fmla="*/ 5462220 w 5594597"/>
                <a:gd name="connsiteY31" fmla="*/ 78948 h 3549273"/>
                <a:gd name="connsiteX32" fmla="*/ 5587566 w 5594597"/>
                <a:gd name="connsiteY32" fmla="*/ 2934 h 3549273"/>
                <a:gd name="connsiteX33" fmla="*/ 5594597 w 5594597"/>
                <a:gd name="connsiteY33" fmla="*/ 0 h 354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594597" h="3549273">
                  <a:moveTo>
                    <a:pt x="5594597" y="0"/>
                  </a:moveTo>
                  <a:lnTo>
                    <a:pt x="5594597" y="11925"/>
                  </a:lnTo>
                  <a:lnTo>
                    <a:pt x="5592265" y="12898"/>
                  </a:lnTo>
                  <a:cubicBezTo>
                    <a:pt x="5549584" y="34566"/>
                    <a:pt x="5508165" y="59455"/>
                    <a:pt x="5467789" y="87302"/>
                  </a:cubicBezTo>
                  <a:cubicBezTo>
                    <a:pt x="5306288" y="198691"/>
                    <a:pt x="5167063" y="357421"/>
                    <a:pt x="5038975" y="546783"/>
                  </a:cubicBezTo>
                  <a:cubicBezTo>
                    <a:pt x="4782801" y="925507"/>
                    <a:pt x="4579532" y="1423974"/>
                    <a:pt x="4373479" y="1905732"/>
                  </a:cubicBezTo>
                  <a:cubicBezTo>
                    <a:pt x="4245391" y="2209268"/>
                    <a:pt x="4061613" y="2393060"/>
                    <a:pt x="3866698" y="2504450"/>
                  </a:cubicBezTo>
                  <a:cubicBezTo>
                    <a:pt x="3668999" y="2613054"/>
                    <a:pt x="3457376" y="2646471"/>
                    <a:pt x="3273599" y="2646471"/>
                  </a:cubicBezTo>
                  <a:cubicBezTo>
                    <a:pt x="2970087" y="2646471"/>
                    <a:pt x="2733405" y="2557359"/>
                    <a:pt x="2733405" y="2557359"/>
                  </a:cubicBezTo>
                  <a:lnTo>
                    <a:pt x="2733431" y="2557307"/>
                  </a:lnTo>
                  <a:lnTo>
                    <a:pt x="2736189" y="2557359"/>
                  </a:lnTo>
                  <a:cubicBezTo>
                    <a:pt x="2736189" y="2551790"/>
                    <a:pt x="2736189" y="2551790"/>
                    <a:pt x="2736189" y="2551790"/>
                  </a:cubicBezTo>
                  <a:cubicBezTo>
                    <a:pt x="2734797" y="2554575"/>
                    <a:pt x="2734101" y="2555967"/>
                    <a:pt x="2733753" y="2556663"/>
                  </a:cubicBezTo>
                  <a:lnTo>
                    <a:pt x="2733431" y="2557307"/>
                  </a:lnTo>
                  <a:lnTo>
                    <a:pt x="2588610" y="2554575"/>
                  </a:lnTo>
                  <a:cubicBezTo>
                    <a:pt x="1505438" y="2554575"/>
                    <a:pt x="817665" y="2866465"/>
                    <a:pt x="394420" y="3186709"/>
                  </a:cubicBezTo>
                  <a:cubicBezTo>
                    <a:pt x="235703" y="3306801"/>
                    <a:pt x="114577" y="3428459"/>
                    <a:pt x="24287" y="3535676"/>
                  </a:cubicBezTo>
                  <a:lnTo>
                    <a:pt x="13568" y="3549273"/>
                  </a:lnTo>
                  <a:lnTo>
                    <a:pt x="0" y="3549273"/>
                  </a:lnTo>
                  <a:lnTo>
                    <a:pt x="82207" y="3454000"/>
                  </a:lnTo>
                  <a:cubicBezTo>
                    <a:pt x="154430" y="3375897"/>
                    <a:pt x="241968" y="3292529"/>
                    <a:pt x="347083" y="3208987"/>
                  </a:cubicBezTo>
                  <a:cubicBezTo>
                    <a:pt x="767544" y="2877604"/>
                    <a:pt x="1469239" y="2543436"/>
                    <a:pt x="2588610" y="2543436"/>
                  </a:cubicBezTo>
                  <a:cubicBezTo>
                    <a:pt x="2635947" y="2543436"/>
                    <a:pt x="2686068" y="2543436"/>
                    <a:pt x="2736189" y="2546221"/>
                  </a:cubicBezTo>
                  <a:cubicBezTo>
                    <a:pt x="2736189" y="2546221"/>
                    <a:pt x="2738973" y="2546221"/>
                    <a:pt x="2738973" y="2546221"/>
                  </a:cubicBezTo>
                  <a:cubicBezTo>
                    <a:pt x="2741758" y="2549005"/>
                    <a:pt x="2744543" y="2549005"/>
                    <a:pt x="2747327" y="2549005"/>
                  </a:cubicBezTo>
                  <a:cubicBezTo>
                    <a:pt x="2755681" y="2551790"/>
                    <a:pt x="2764034" y="2557359"/>
                    <a:pt x="2777957" y="2560144"/>
                  </a:cubicBezTo>
                  <a:cubicBezTo>
                    <a:pt x="2805802" y="2568498"/>
                    <a:pt x="2844785" y="2579637"/>
                    <a:pt x="2892121" y="2590776"/>
                  </a:cubicBezTo>
                  <a:cubicBezTo>
                    <a:pt x="2989579" y="2613054"/>
                    <a:pt x="3123235" y="2635332"/>
                    <a:pt x="3273599" y="2635332"/>
                  </a:cubicBezTo>
                  <a:cubicBezTo>
                    <a:pt x="3457376" y="2635332"/>
                    <a:pt x="3666214" y="2601915"/>
                    <a:pt x="3861129" y="2493311"/>
                  </a:cubicBezTo>
                  <a:cubicBezTo>
                    <a:pt x="4053260" y="2384706"/>
                    <a:pt x="4234253" y="2200914"/>
                    <a:pt x="4365125" y="1900163"/>
                  </a:cubicBezTo>
                  <a:cubicBezTo>
                    <a:pt x="4518273" y="1538148"/>
                    <a:pt x="4671421" y="1167778"/>
                    <a:pt x="4846845" y="844749"/>
                  </a:cubicBezTo>
                  <a:cubicBezTo>
                    <a:pt x="5022268" y="521720"/>
                    <a:pt x="5217183" y="246032"/>
                    <a:pt x="5462220" y="78948"/>
                  </a:cubicBezTo>
                  <a:cubicBezTo>
                    <a:pt x="5502595" y="50405"/>
                    <a:pt x="5544363" y="24994"/>
                    <a:pt x="5587566" y="2934"/>
                  </a:cubicBezTo>
                  <a:lnTo>
                    <a:pt x="5594597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47" name="任意多边形 446"/>
            <p:cNvSpPr/>
            <p:nvPr/>
          </p:nvSpPr>
          <p:spPr bwMode="auto">
            <a:xfrm>
              <a:off x="5995122" y="4349658"/>
              <a:ext cx="6207758" cy="2508342"/>
            </a:xfrm>
            <a:custGeom>
              <a:avLst/>
              <a:gdLst>
                <a:gd name="connsiteX0" fmla="*/ 6161039 w 6207758"/>
                <a:gd name="connsiteY0" fmla="*/ 0 h 2508342"/>
                <a:gd name="connsiteX1" fmla="*/ 6207758 w 6207758"/>
                <a:gd name="connsiteY1" fmla="*/ 2553 h 2508342"/>
                <a:gd name="connsiteX2" fmla="*/ 6207758 w 6207758"/>
                <a:gd name="connsiteY2" fmla="*/ 13707 h 2508342"/>
                <a:gd name="connsiteX3" fmla="*/ 6161039 w 6207758"/>
                <a:gd name="connsiteY3" fmla="*/ 11134 h 2508342"/>
                <a:gd name="connsiteX4" fmla="*/ 4462613 w 6207758"/>
                <a:gd name="connsiteY4" fmla="*/ 1219136 h 2508342"/>
                <a:gd name="connsiteX5" fmla="*/ 3677439 w 6207758"/>
                <a:gd name="connsiteY5" fmla="*/ 1979009 h 2508342"/>
                <a:gd name="connsiteX6" fmla="*/ 2850500 w 6207758"/>
                <a:gd name="connsiteY6" fmla="*/ 2168281 h 2508342"/>
                <a:gd name="connsiteX7" fmla="*/ 1177133 w 6207758"/>
                <a:gd name="connsiteY7" fmla="*/ 2004059 h 2508342"/>
                <a:gd name="connsiteX8" fmla="*/ 1071329 w 6207758"/>
                <a:gd name="connsiteY8" fmla="*/ 2001276 h 2508342"/>
                <a:gd name="connsiteX9" fmla="*/ 372469 w 6207758"/>
                <a:gd name="connsiteY9" fmla="*/ 2162714 h 2508342"/>
                <a:gd name="connsiteX10" fmla="*/ 68632 w 6207758"/>
                <a:gd name="connsiteY10" fmla="*/ 2426529 h 2508342"/>
                <a:gd name="connsiteX11" fmla="*/ 14684 w 6207758"/>
                <a:gd name="connsiteY11" fmla="*/ 2508342 h 2508342"/>
                <a:gd name="connsiteX12" fmla="*/ 0 w 6207758"/>
                <a:gd name="connsiteY12" fmla="*/ 2508342 h 2508342"/>
                <a:gd name="connsiteX13" fmla="*/ 8041 w 6207758"/>
                <a:gd name="connsiteY13" fmla="*/ 2494370 h 2508342"/>
                <a:gd name="connsiteX14" fmla="*/ 366900 w 6207758"/>
                <a:gd name="connsiteY14" fmla="*/ 2151580 h 2508342"/>
                <a:gd name="connsiteX15" fmla="*/ 1071329 w 6207758"/>
                <a:gd name="connsiteY15" fmla="*/ 1990142 h 2508342"/>
                <a:gd name="connsiteX16" fmla="*/ 1179917 w 6207758"/>
                <a:gd name="connsiteY16" fmla="*/ 1992926 h 2508342"/>
                <a:gd name="connsiteX17" fmla="*/ 2850500 w 6207758"/>
                <a:gd name="connsiteY17" fmla="*/ 2157147 h 2508342"/>
                <a:gd name="connsiteX18" fmla="*/ 3671870 w 6207758"/>
                <a:gd name="connsiteY18" fmla="*/ 1967875 h 2508342"/>
                <a:gd name="connsiteX19" fmla="*/ 4454260 w 6207758"/>
                <a:gd name="connsiteY19" fmla="*/ 1210786 h 2508342"/>
                <a:gd name="connsiteX20" fmla="*/ 6161039 w 6207758"/>
                <a:gd name="connsiteY20" fmla="*/ 0 h 2508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7758" h="2508342">
                  <a:moveTo>
                    <a:pt x="6161039" y="0"/>
                  </a:moveTo>
                  <a:lnTo>
                    <a:pt x="6207758" y="2553"/>
                  </a:lnTo>
                  <a:lnTo>
                    <a:pt x="6207758" y="13707"/>
                  </a:lnTo>
                  <a:lnTo>
                    <a:pt x="6161039" y="11134"/>
                  </a:lnTo>
                  <a:cubicBezTo>
                    <a:pt x="5654296" y="11134"/>
                    <a:pt x="5055670" y="359061"/>
                    <a:pt x="4462613" y="1219136"/>
                  </a:cubicBezTo>
                  <a:cubicBezTo>
                    <a:pt x="4200888" y="1600464"/>
                    <a:pt x="3941948" y="1837054"/>
                    <a:pt x="3677439" y="1979009"/>
                  </a:cubicBezTo>
                  <a:cubicBezTo>
                    <a:pt x="3410146" y="2120963"/>
                    <a:pt x="3140068" y="2168281"/>
                    <a:pt x="2850500" y="2168281"/>
                  </a:cubicBezTo>
                  <a:cubicBezTo>
                    <a:pt x="2360463" y="2168281"/>
                    <a:pt x="1823092" y="2034677"/>
                    <a:pt x="1177133" y="2004059"/>
                  </a:cubicBezTo>
                  <a:cubicBezTo>
                    <a:pt x="1140937" y="2001276"/>
                    <a:pt x="1104741" y="2001276"/>
                    <a:pt x="1071329" y="2001276"/>
                  </a:cubicBezTo>
                  <a:cubicBezTo>
                    <a:pt x="770625" y="2001276"/>
                    <a:pt x="542312" y="2065295"/>
                    <a:pt x="372469" y="2162714"/>
                  </a:cubicBezTo>
                  <a:cubicBezTo>
                    <a:pt x="242999" y="2235779"/>
                    <a:pt x="143286" y="2327632"/>
                    <a:pt x="68632" y="2426529"/>
                  </a:cubicBezTo>
                  <a:lnTo>
                    <a:pt x="14684" y="2508342"/>
                  </a:lnTo>
                  <a:lnTo>
                    <a:pt x="0" y="2508342"/>
                  </a:lnTo>
                  <a:lnTo>
                    <a:pt x="8041" y="2494370"/>
                  </a:lnTo>
                  <a:cubicBezTo>
                    <a:pt x="88688" y="2366425"/>
                    <a:pt x="203323" y="2243781"/>
                    <a:pt x="366900" y="2151580"/>
                  </a:cubicBezTo>
                  <a:cubicBezTo>
                    <a:pt x="539527" y="2054161"/>
                    <a:pt x="767840" y="1990142"/>
                    <a:pt x="1071329" y="1990142"/>
                  </a:cubicBezTo>
                  <a:cubicBezTo>
                    <a:pt x="1104741" y="1990142"/>
                    <a:pt x="1140937" y="1990142"/>
                    <a:pt x="1179917" y="1992926"/>
                  </a:cubicBezTo>
                  <a:cubicBezTo>
                    <a:pt x="1825876" y="2023543"/>
                    <a:pt x="2363247" y="2157147"/>
                    <a:pt x="2850500" y="2157147"/>
                  </a:cubicBezTo>
                  <a:cubicBezTo>
                    <a:pt x="3137284" y="2157147"/>
                    <a:pt x="3407361" y="2109829"/>
                    <a:pt x="3671870" y="1967875"/>
                  </a:cubicBezTo>
                  <a:cubicBezTo>
                    <a:pt x="3933595" y="1828704"/>
                    <a:pt x="4192535" y="1592114"/>
                    <a:pt x="4454260" y="1210786"/>
                  </a:cubicBezTo>
                  <a:cubicBezTo>
                    <a:pt x="5047317" y="353494"/>
                    <a:pt x="5648727" y="0"/>
                    <a:pt x="6161039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 rot="5400000">
            <a:off x="-781484" y="1788411"/>
            <a:ext cx="3587030" cy="628289"/>
            <a:chOff x="869268" y="6105837"/>
            <a:chExt cx="3946526" cy="691257"/>
          </a:xfrm>
          <a:solidFill>
            <a:srgbClr val="E1E1EF"/>
          </a:solidFill>
        </p:grpSpPr>
        <p:sp>
          <p:nvSpPr>
            <p:cNvPr id="112" name="椭圆 111"/>
            <p:cNvSpPr/>
            <p:nvPr/>
          </p:nvSpPr>
          <p:spPr>
            <a:xfrm>
              <a:off x="473083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73083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473083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440755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440755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440755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408427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408427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408427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3760999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3760999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/>
            <p:cNvSpPr/>
            <p:nvPr/>
          </p:nvSpPr>
          <p:spPr>
            <a:xfrm>
              <a:off x="3760999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椭圆 123"/>
            <p:cNvSpPr/>
            <p:nvPr/>
          </p:nvSpPr>
          <p:spPr>
            <a:xfrm>
              <a:off x="343787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/>
            <p:cNvSpPr/>
            <p:nvPr/>
          </p:nvSpPr>
          <p:spPr>
            <a:xfrm>
              <a:off x="343787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343787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311459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/>
          </p:nvSpPr>
          <p:spPr>
            <a:xfrm>
              <a:off x="311459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311459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/>
          </p:nvSpPr>
          <p:spPr>
            <a:xfrm>
              <a:off x="279131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/>
          </p:nvSpPr>
          <p:spPr>
            <a:xfrm>
              <a:off x="279131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279131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/>
          </p:nvSpPr>
          <p:spPr>
            <a:xfrm>
              <a:off x="246804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246804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246804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/>
          </p:nvSpPr>
          <p:spPr>
            <a:xfrm>
              <a:off x="216756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/>
          </p:nvSpPr>
          <p:spPr>
            <a:xfrm>
              <a:off x="216756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/>
          </p:nvSpPr>
          <p:spPr>
            <a:xfrm>
              <a:off x="216756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/>
          </p:nvSpPr>
          <p:spPr>
            <a:xfrm>
              <a:off x="1844285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/>
          </p:nvSpPr>
          <p:spPr>
            <a:xfrm>
              <a:off x="1844285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44285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/>
          </p:nvSpPr>
          <p:spPr>
            <a:xfrm>
              <a:off x="152100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/>
          </p:nvSpPr>
          <p:spPr>
            <a:xfrm>
              <a:off x="152100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/>
          </p:nvSpPr>
          <p:spPr>
            <a:xfrm>
              <a:off x="152100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/>
          </p:nvSpPr>
          <p:spPr>
            <a:xfrm>
              <a:off x="119773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/>
          </p:nvSpPr>
          <p:spPr>
            <a:xfrm>
              <a:off x="119773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/>
          </p:nvSpPr>
          <p:spPr>
            <a:xfrm>
              <a:off x="119773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/>
          </p:nvSpPr>
          <p:spPr>
            <a:xfrm>
              <a:off x="86926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/>
            <p:cNvSpPr/>
            <p:nvPr/>
          </p:nvSpPr>
          <p:spPr>
            <a:xfrm>
              <a:off x="86926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椭圆 149"/>
            <p:cNvSpPr/>
            <p:nvPr/>
          </p:nvSpPr>
          <p:spPr>
            <a:xfrm>
              <a:off x="86926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rot="5400000">
            <a:off x="9441985" y="4262444"/>
            <a:ext cx="3946526" cy="691257"/>
            <a:chOff x="869268" y="6105837"/>
            <a:chExt cx="3946526" cy="691257"/>
          </a:xfrm>
          <a:solidFill>
            <a:srgbClr val="E1E1EF"/>
          </a:solidFill>
        </p:grpSpPr>
        <p:sp>
          <p:nvSpPr>
            <p:cNvPr id="71" name="椭圆 70"/>
            <p:cNvSpPr/>
            <p:nvPr/>
          </p:nvSpPr>
          <p:spPr>
            <a:xfrm>
              <a:off x="473083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473083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473083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440755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440755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440755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408427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408427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408427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3760999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3760999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3760999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343787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343787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343787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311459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311459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311459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279131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279131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279131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246804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246804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246804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216756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216756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216756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1844285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1844285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1844285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152100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152100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152100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119773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119773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19773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86926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86926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86926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0" name="文本框 449"/>
          <p:cNvSpPr txBox="1"/>
          <p:nvPr/>
        </p:nvSpPr>
        <p:spPr>
          <a:xfrm>
            <a:off x="5950585" y="437792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2000" spc="200" dirty="0">
              <a:solidFill>
                <a:srgbClr val="2D3C65"/>
              </a:solidFill>
              <a:latin typeface="+mj-lt"/>
            </a:endParaRPr>
          </a:p>
        </p:txBody>
      </p:sp>
      <p:pic>
        <p:nvPicPr>
          <p:cNvPr id="2" name="图片 1" descr="屏幕截图 2026-01-13 192603"/>
          <p:cNvPicPr>
            <a:picLocks noChangeAspect="1"/>
          </p:cNvPicPr>
          <p:nvPr/>
        </p:nvPicPr>
        <p:blipFill>
          <a:blip r:embed="rId1"/>
          <a:srcRect r="7210"/>
          <a:stretch>
            <a:fillRect/>
          </a:stretch>
        </p:blipFill>
        <p:spPr>
          <a:xfrm>
            <a:off x="-102235" y="505460"/>
            <a:ext cx="5709920" cy="61169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25400"/>
            <a:ext cx="96373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/>
              <a:t>为何聚焦</a:t>
            </a:r>
            <a:r>
              <a:rPr lang="en-US" altLang="zh-CN" sz="3600" b="1"/>
              <a:t> “</a:t>
            </a:r>
            <a:r>
              <a:rPr lang="zh-CN" altLang="en-US" sz="3600" b="1"/>
              <a:t>开源项目健康度监控与指标设计</a:t>
            </a:r>
            <a:r>
              <a:rPr lang="en-US" altLang="zh-CN" sz="3600" b="1"/>
              <a:t>”</a:t>
            </a:r>
            <a:endParaRPr lang="zh-CN" altLang="en-US" sz="3600" b="1"/>
          </a:p>
        </p:txBody>
      </p:sp>
      <p:sp>
        <p:nvSpPr>
          <p:cNvPr id="4" name="文本框 3"/>
          <p:cNvSpPr txBox="1"/>
          <p:nvPr/>
        </p:nvSpPr>
        <p:spPr>
          <a:xfrm>
            <a:off x="5846445" y="1236980"/>
            <a:ext cx="5419090" cy="4939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 altLang="zh-CN" sz="2000"/>
              <a:t>1. </a:t>
            </a:r>
            <a:r>
              <a:rPr lang="zh-CN" altLang="en-US" sz="2000"/>
              <a:t>直击行业痛点，需求刚性强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开源生态中</a:t>
            </a:r>
            <a:r>
              <a:rPr lang="en-US" altLang="zh-CN" sz="2000"/>
              <a:t> 85% </a:t>
            </a:r>
            <a:r>
              <a:rPr lang="zh-CN" altLang="en-US" sz="2000"/>
              <a:t>的项目存在活跃度不足问题，项目存续、安全风险成为企业与开发者的核心顾虑。健康度监控能提前预警停更、贡献者流失等风险，为项目选型、依赖管理提供决策依据，是行业普遍刚需。</a:t>
            </a:r>
            <a:endParaRPr lang="zh-CN" altLang="en-US" sz="2000"/>
          </a:p>
          <a:p>
            <a:pPr>
              <a:lnSpc>
                <a:spcPct val="110000"/>
              </a:lnSpc>
            </a:pPr>
            <a:endParaRPr lang="zh-CN" altLang="en-US" sz="2000"/>
          </a:p>
          <a:p>
            <a:pPr>
              <a:lnSpc>
                <a:spcPct val="110000"/>
              </a:lnSpc>
            </a:pPr>
            <a:r>
              <a:rPr lang="en-US" altLang="zh-CN" sz="2000"/>
              <a:t>3. </a:t>
            </a:r>
            <a:r>
              <a:rPr lang="zh-CN" altLang="en-US" sz="2000"/>
              <a:t>分析维度清晰，价值输出明确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主题可拆解为贡献者生态、代码质量、迭代效率等具体指标，逻辑框架规整。既能形成标准化的监控体系，又能产出可落地的优化建议，让数据洞察直接转化为实用价值。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1602" y="-21859"/>
            <a:ext cx="5435518" cy="2830031"/>
            <a:chOff x="-1602" y="-21859"/>
            <a:chExt cx="5892984" cy="3068213"/>
          </a:xfrm>
        </p:grpSpPr>
        <p:sp>
          <p:nvSpPr>
            <p:cNvPr id="301" name="Freeform 8"/>
            <p:cNvSpPr/>
            <p:nvPr/>
          </p:nvSpPr>
          <p:spPr bwMode="auto">
            <a:xfrm>
              <a:off x="-1602" y="-2810"/>
              <a:ext cx="5892984" cy="3049164"/>
            </a:xfrm>
            <a:custGeom>
              <a:avLst/>
              <a:gdLst>
                <a:gd name="T0" fmla="*/ 2253 w 2253"/>
                <a:gd name="T1" fmla="*/ 0 h 1166"/>
                <a:gd name="T2" fmla="*/ 861 w 2253"/>
                <a:gd name="T3" fmla="*/ 765 h 1166"/>
                <a:gd name="T4" fmla="*/ 0 w 2253"/>
                <a:gd name="T5" fmla="*/ 490 h 1166"/>
                <a:gd name="T6" fmla="*/ 0 w 2253"/>
                <a:gd name="T7" fmla="*/ 0 h 1166"/>
                <a:gd name="T8" fmla="*/ 2253 w 2253"/>
                <a:gd name="T9" fmla="*/ 0 h 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3" h="1166">
                  <a:moveTo>
                    <a:pt x="2253" y="0"/>
                  </a:moveTo>
                  <a:cubicBezTo>
                    <a:pt x="1812" y="346"/>
                    <a:pt x="1330" y="1166"/>
                    <a:pt x="861" y="765"/>
                  </a:cubicBezTo>
                  <a:cubicBezTo>
                    <a:pt x="521" y="476"/>
                    <a:pt x="205" y="456"/>
                    <a:pt x="0" y="49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53" y="0"/>
                  </a:lnTo>
                  <a:close/>
                </a:path>
              </a:pathLst>
            </a:custGeom>
            <a:solidFill>
              <a:srgbClr val="C4E0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1" name="任意多边形 430"/>
            <p:cNvSpPr/>
            <p:nvPr/>
          </p:nvSpPr>
          <p:spPr bwMode="auto">
            <a:xfrm>
              <a:off x="1" y="-21859"/>
              <a:ext cx="5827955" cy="2494815"/>
            </a:xfrm>
            <a:custGeom>
              <a:avLst/>
              <a:gdLst>
                <a:gd name="connsiteX0" fmla="*/ 5816086 w 5827955"/>
                <a:gd name="connsiteY0" fmla="*/ 0 h 2494815"/>
                <a:gd name="connsiteX1" fmla="*/ 5827955 w 5827955"/>
                <a:gd name="connsiteY1" fmla="*/ 0 h 2494815"/>
                <a:gd name="connsiteX2" fmla="*/ 5670175 w 5827955"/>
                <a:gd name="connsiteY2" fmla="*/ 368290 h 2494815"/>
                <a:gd name="connsiteX3" fmla="*/ 4997819 w 5827955"/>
                <a:gd name="connsiteY3" fmla="*/ 1108774 h 2494815"/>
                <a:gd name="connsiteX4" fmla="*/ 4074309 w 5827955"/>
                <a:gd name="connsiteY4" fmla="*/ 1271000 h 2494815"/>
                <a:gd name="connsiteX5" fmla="*/ 2993830 w 5827955"/>
                <a:gd name="connsiteY5" fmla="*/ 1234369 h 2494815"/>
                <a:gd name="connsiteX6" fmla="*/ 2606636 w 5827955"/>
                <a:gd name="connsiteY6" fmla="*/ 1252685 h 2494815"/>
                <a:gd name="connsiteX7" fmla="*/ 832870 w 5827955"/>
                <a:gd name="connsiteY7" fmla="*/ 1807393 h 2494815"/>
                <a:gd name="connsiteX8" fmla="*/ 45693 w 5827955"/>
                <a:gd name="connsiteY8" fmla="*/ 2438841 h 2494815"/>
                <a:gd name="connsiteX9" fmla="*/ 0 w 5827955"/>
                <a:gd name="connsiteY9" fmla="*/ 2494815 h 2494815"/>
                <a:gd name="connsiteX10" fmla="*/ 0 w 5827955"/>
                <a:gd name="connsiteY10" fmla="*/ 2477528 h 2494815"/>
                <a:gd name="connsiteX11" fmla="*/ 36833 w 5827955"/>
                <a:gd name="connsiteY11" fmla="*/ 2432131 h 2494815"/>
                <a:gd name="connsiteX12" fmla="*/ 827638 w 5827955"/>
                <a:gd name="connsiteY12" fmla="*/ 1796927 h 2494815"/>
                <a:gd name="connsiteX13" fmla="*/ 2604020 w 5827955"/>
                <a:gd name="connsiteY13" fmla="*/ 1242218 h 2494815"/>
                <a:gd name="connsiteX14" fmla="*/ 2993830 w 5827955"/>
                <a:gd name="connsiteY14" fmla="*/ 1223902 h 2494815"/>
                <a:gd name="connsiteX15" fmla="*/ 4074309 w 5827955"/>
                <a:gd name="connsiteY15" fmla="*/ 1260534 h 2494815"/>
                <a:gd name="connsiteX16" fmla="*/ 4992586 w 5827955"/>
                <a:gd name="connsiteY16" fmla="*/ 1100925 h 2494815"/>
                <a:gd name="connsiteX17" fmla="*/ 5659711 w 5827955"/>
                <a:gd name="connsiteY17" fmla="*/ 365674 h 2494815"/>
                <a:gd name="connsiteX18" fmla="*/ 5811204 w 5827955"/>
                <a:gd name="connsiteY18" fmla="*/ 11172 h 2494815"/>
                <a:gd name="connsiteX19" fmla="*/ 5816086 w 5827955"/>
                <a:gd name="connsiteY19" fmla="*/ 0 h 2494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27955" h="2494815">
                  <a:moveTo>
                    <a:pt x="5816086" y="0"/>
                  </a:moveTo>
                  <a:lnTo>
                    <a:pt x="5827955" y="0"/>
                  </a:lnTo>
                  <a:lnTo>
                    <a:pt x="5670175" y="368290"/>
                  </a:lnTo>
                  <a:cubicBezTo>
                    <a:pt x="5505356" y="752923"/>
                    <a:pt x="5272517" y="980563"/>
                    <a:pt x="4997819" y="1108774"/>
                  </a:cubicBezTo>
                  <a:cubicBezTo>
                    <a:pt x="4723121" y="1239602"/>
                    <a:pt x="4406564" y="1271000"/>
                    <a:pt x="4074309" y="1271000"/>
                  </a:cubicBezTo>
                  <a:cubicBezTo>
                    <a:pt x="3721126" y="1271000"/>
                    <a:pt x="3349629" y="1234369"/>
                    <a:pt x="2993830" y="1234369"/>
                  </a:cubicBezTo>
                  <a:cubicBezTo>
                    <a:pt x="2863021" y="1234369"/>
                    <a:pt x="2732212" y="1239602"/>
                    <a:pt x="2606636" y="1252685"/>
                  </a:cubicBezTo>
                  <a:cubicBezTo>
                    <a:pt x="1986603" y="1323331"/>
                    <a:pt x="1371802" y="1490791"/>
                    <a:pt x="832870" y="1807393"/>
                  </a:cubicBezTo>
                  <a:cubicBezTo>
                    <a:pt x="549996" y="1972563"/>
                    <a:pt x="271210" y="2184749"/>
                    <a:pt x="45693" y="2438841"/>
                  </a:cubicBezTo>
                  <a:lnTo>
                    <a:pt x="0" y="2494815"/>
                  </a:lnTo>
                  <a:lnTo>
                    <a:pt x="0" y="2477528"/>
                  </a:lnTo>
                  <a:lnTo>
                    <a:pt x="36833" y="2432131"/>
                  </a:lnTo>
                  <a:cubicBezTo>
                    <a:pt x="262708" y="2176532"/>
                    <a:pt x="543129" y="1963733"/>
                    <a:pt x="827638" y="1796927"/>
                  </a:cubicBezTo>
                  <a:cubicBezTo>
                    <a:pt x="1369186" y="1482941"/>
                    <a:pt x="1986603" y="1312865"/>
                    <a:pt x="2604020" y="1242218"/>
                  </a:cubicBezTo>
                  <a:cubicBezTo>
                    <a:pt x="2732212" y="1229136"/>
                    <a:pt x="2860405" y="1223902"/>
                    <a:pt x="2993830" y="1223902"/>
                  </a:cubicBezTo>
                  <a:cubicBezTo>
                    <a:pt x="3349629" y="1223902"/>
                    <a:pt x="3721126" y="1260534"/>
                    <a:pt x="4074309" y="1260534"/>
                  </a:cubicBezTo>
                  <a:cubicBezTo>
                    <a:pt x="4403947" y="1260534"/>
                    <a:pt x="4720504" y="1229136"/>
                    <a:pt x="4992586" y="1100925"/>
                  </a:cubicBezTo>
                  <a:cubicBezTo>
                    <a:pt x="5264668" y="970097"/>
                    <a:pt x="5497508" y="747690"/>
                    <a:pt x="5659711" y="365674"/>
                  </a:cubicBezTo>
                  <a:cubicBezTo>
                    <a:pt x="5710072" y="247929"/>
                    <a:pt x="5760434" y="129367"/>
                    <a:pt x="5811204" y="11172"/>
                  </a:cubicBezTo>
                  <a:lnTo>
                    <a:pt x="581608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428" name="任意多边形 427"/>
            <p:cNvSpPr/>
            <p:nvPr/>
          </p:nvSpPr>
          <p:spPr bwMode="auto">
            <a:xfrm>
              <a:off x="0" y="-2810"/>
              <a:ext cx="5659388" cy="2044911"/>
            </a:xfrm>
            <a:custGeom>
              <a:avLst/>
              <a:gdLst>
                <a:gd name="connsiteX0" fmla="*/ 5644902 w 5659388"/>
                <a:gd name="connsiteY0" fmla="*/ 0 h 2044911"/>
                <a:gd name="connsiteX1" fmla="*/ 5659388 w 5659388"/>
                <a:gd name="connsiteY1" fmla="*/ 0 h 2044911"/>
                <a:gd name="connsiteX2" fmla="*/ 5566846 w 5659388"/>
                <a:gd name="connsiteY2" fmla="*/ 91856 h 2044911"/>
                <a:gd name="connsiteX3" fmla="*/ 4987114 w 5659388"/>
                <a:gd name="connsiteY3" fmla="*/ 809974 h 2044911"/>
                <a:gd name="connsiteX4" fmla="*/ 3964326 w 5659388"/>
                <a:gd name="connsiteY4" fmla="*/ 1798970 h 2044911"/>
                <a:gd name="connsiteX5" fmla="*/ 2889221 w 5659388"/>
                <a:gd name="connsiteY5" fmla="*/ 2044911 h 2044911"/>
                <a:gd name="connsiteX6" fmla="*/ 712854 w 5659388"/>
                <a:gd name="connsiteY6" fmla="*/ 1830367 h 2044911"/>
                <a:gd name="connsiteX7" fmla="*/ 571600 w 5659388"/>
                <a:gd name="connsiteY7" fmla="*/ 1827750 h 2044911"/>
                <a:gd name="connsiteX8" fmla="*/ 54647 w 5659388"/>
                <a:gd name="connsiteY8" fmla="*/ 1885311 h 2044911"/>
                <a:gd name="connsiteX9" fmla="*/ 0 w 5659388"/>
                <a:gd name="connsiteY9" fmla="*/ 1900486 h 2044911"/>
                <a:gd name="connsiteX10" fmla="*/ 0 w 5659388"/>
                <a:gd name="connsiteY10" fmla="*/ 1889408 h 2044911"/>
                <a:gd name="connsiteX11" fmla="*/ 51051 w 5659388"/>
                <a:gd name="connsiteY11" fmla="*/ 1875173 h 2044911"/>
                <a:gd name="connsiteX12" fmla="*/ 571600 w 5659388"/>
                <a:gd name="connsiteY12" fmla="*/ 1817285 h 2044911"/>
                <a:gd name="connsiteX13" fmla="*/ 712854 w 5659388"/>
                <a:gd name="connsiteY13" fmla="*/ 1819901 h 2044911"/>
                <a:gd name="connsiteX14" fmla="*/ 2889221 w 5659388"/>
                <a:gd name="connsiteY14" fmla="*/ 2034445 h 2044911"/>
                <a:gd name="connsiteX15" fmla="*/ 3959094 w 5659388"/>
                <a:gd name="connsiteY15" fmla="*/ 1791121 h 2044911"/>
                <a:gd name="connsiteX16" fmla="*/ 4979266 w 5659388"/>
                <a:gd name="connsiteY16" fmla="*/ 802125 h 2044911"/>
                <a:gd name="connsiteX17" fmla="*/ 5559489 w 5659388"/>
                <a:gd name="connsiteY17" fmla="*/ 84702 h 2044911"/>
                <a:gd name="connsiteX18" fmla="*/ 5644902 w 5659388"/>
                <a:gd name="connsiteY18" fmla="*/ 0 h 204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59388" h="2044911">
                  <a:moveTo>
                    <a:pt x="5644902" y="0"/>
                  </a:moveTo>
                  <a:lnTo>
                    <a:pt x="5659388" y="0"/>
                  </a:lnTo>
                  <a:lnTo>
                    <a:pt x="5566846" y="91856"/>
                  </a:lnTo>
                  <a:cubicBezTo>
                    <a:pt x="5374583" y="291765"/>
                    <a:pt x="5180685" y="530020"/>
                    <a:pt x="4987114" y="809974"/>
                  </a:cubicBezTo>
                  <a:cubicBezTo>
                    <a:pt x="4644440" y="1304472"/>
                    <a:pt x="4309615" y="1613206"/>
                    <a:pt x="3964326" y="1798970"/>
                  </a:cubicBezTo>
                  <a:cubicBezTo>
                    <a:pt x="3619037" y="1984734"/>
                    <a:pt x="3265900" y="2044911"/>
                    <a:pt x="2889221" y="2044911"/>
                  </a:cubicBezTo>
                  <a:cubicBezTo>
                    <a:pt x="2253576" y="2044911"/>
                    <a:pt x="1552534" y="1872229"/>
                    <a:pt x="712854" y="1830367"/>
                  </a:cubicBezTo>
                  <a:cubicBezTo>
                    <a:pt x="665769" y="1830367"/>
                    <a:pt x="618685" y="1827750"/>
                    <a:pt x="571600" y="1827750"/>
                  </a:cubicBezTo>
                  <a:cubicBezTo>
                    <a:pt x="376721" y="1827750"/>
                    <a:pt x="205384" y="1848681"/>
                    <a:pt x="54647" y="1885311"/>
                  </a:cubicBezTo>
                  <a:lnTo>
                    <a:pt x="0" y="1900486"/>
                  </a:lnTo>
                  <a:lnTo>
                    <a:pt x="0" y="1889408"/>
                  </a:lnTo>
                  <a:lnTo>
                    <a:pt x="51051" y="1875173"/>
                  </a:lnTo>
                  <a:cubicBezTo>
                    <a:pt x="202769" y="1838216"/>
                    <a:pt x="375413" y="1817285"/>
                    <a:pt x="571600" y="1817285"/>
                  </a:cubicBezTo>
                  <a:cubicBezTo>
                    <a:pt x="618685" y="1817285"/>
                    <a:pt x="665769" y="1819901"/>
                    <a:pt x="712854" y="1819901"/>
                  </a:cubicBezTo>
                  <a:cubicBezTo>
                    <a:pt x="1555150" y="1861764"/>
                    <a:pt x="2256191" y="2034445"/>
                    <a:pt x="2889221" y="2034445"/>
                  </a:cubicBezTo>
                  <a:cubicBezTo>
                    <a:pt x="3265900" y="2034445"/>
                    <a:pt x="3616421" y="1974268"/>
                    <a:pt x="3959094" y="1791121"/>
                  </a:cubicBezTo>
                  <a:cubicBezTo>
                    <a:pt x="4301767" y="1605357"/>
                    <a:pt x="4636593" y="1299239"/>
                    <a:pt x="4979266" y="802125"/>
                  </a:cubicBezTo>
                  <a:cubicBezTo>
                    <a:pt x="5172837" y="522825"/>
                    <a:pt x="5366899" y="284734"/>
                    <a:pt x="5559489" y="84702"/>
                  </a:cubicBezTo>
                  <a:lnTo>
                    <a:pt x="564490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9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 rot="5400000">
            <a:off x="-781484" y="1788411"/>
            <a:ext cx="3587030" cy="628289"/>
            <a:chOff x="869268" y="6105837"/>
            <a:chExt cx="3946526" cy="691257"/>
          </a:xfrm>
          <a:solidFill>
            <a:srgbClr val="E1E1EF"/>
          </a:solidFill>
        </p:grpSpPr>
        <p:sp>
          <p:nvSpPr>
            <p:cNvPr id="112" name="椭圆 111"/>
            <p:cNvSpPr/>
            <p:nvPr/>
          </p:nvSpPr>
          <p:spPr>
            <a:xfrm>
              <a:off x="473083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73083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473083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440755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440755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440755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408427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408427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408427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3760999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3760999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/>
            <p:cNvSpPr/>
            <p:nvPr/>
          </p:nvSpPr>
          <p:spPr>
            <a:xfrm>
              <a:off x="3760999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椭圆 123"/>
            <p:cNvSpPr/>
            <p:nvPr/>
          </p:nvSpPr>
          <p:spPr>
            <a:xfrm>
              <a:off x="343787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/>
            <p:cNvSpPr/>
            <p:nvPr/>
          </p:nvSpPr>
          <p:spPr>
            <a:xfrm>
              <a:off x="343787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343787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311459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/>
          </p:nvSpPr>
          <p:spPr>
            <a:xfrm>
              <a:off x="311459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311459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/>
          </p:nvSpPr>
          <p:spPr>
            <a:xfrm>
              <a:off x="279131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/>
          </p:nvSpPr>
          <p:spPr>
            <a:xfrm>
              <a:off x="279131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279131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/>
          </p:nvSpPr>
          <p:spPr>
            <a:xfrm>
              <a:off x="246804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246804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246804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/>
          </p:nvSpPr>
          <p:spPr>
            <a:xfrm>
              <a:off x="216756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/>
          </p:nvSpPr>
          <p:spPr>
            <a:xfrm>
              <a:off x="216756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/>
          </p:nvSpPr>
          <p:spPr>
            <a:xfrm>
              <a:off x="216756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/>
          </p:nvSpPr>
          <p:spPr>
            <a:xfrm>
              <a:off x="1844285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/>
          </p:nvSpPr>
          <p:spPr>
            <a:xfrm>
              <a:off x="1844285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44285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/>
          </p:nvSpPr>
          <p:spPr>
            <a:xfrm>
              <a:off x="152100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/>
          </p:nvSpPr>
          <p:spPr>
            <a:xfrm>
              <a:off x="152100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/>
          </p:nvSpPr>
          <p:spPr>
            <a:xfrm>
              <a:off x="152100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/>
          </p:nvSpPr>
          <p:spPr>
            <a:xfrm>
              <a:off x="119773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/>
          </p:nvSpPr>
          <p:spPr>
            <a:xfrm>
              <a:off x="119773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/>
          </p:nvSpPr>
          <p:spPr>
            <a:xfrm>
              <a:off x="119773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/>
          </p:nvSpPr>
          <p:spPr>
            <a:xfrm>
              <a:off x="86926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/>
            <p:cNvSpPr/>
            <p:nvPr/>
          </p:nvSpPr>
          <p:spPr>
            <a:xfrm>
              <a:off x="86926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椭圆 149"/>
            <p:cNvSpPr/>
            <p:nvPr/>
          </p:nvSpPr>
          <p:spPr>
            <a:xfrm>
              <a:off x="86926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rot="5400000">
            <a:off x="9441985" y="4262444"/>
            <a:ext cx="3946526" cy="691257"/>
            <a:chOff x="869268" y="6105837"/>
            <a:chExt cx="3946526" cy="691257"/>
          </a:xfrm>
          <a:solidFill>
            <a:srgbClr val="E1E1EF"/>
          </a:solidFill>
        </p:grpSpPr>
        <p:sp>
          <p:nvSpPr>
            <p:cNvPr id="71" name="椭圆 70"/>
            <p:cNvSpPr/>
            <p:nvPr/>
          </p:nvSpPr>
          <p:spPr>
            <a:xfrm>
              <a:off x="473083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473083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473083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440755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440755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440755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408427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408427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408427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3760999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3760999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3760999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343787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343787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343787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3114593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3114593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3114593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2791316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2791316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2791316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2468040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2468040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2468040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216756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216756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216756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1844285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1844285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1844285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152100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152100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152100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1197731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1197731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197731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869268" y="6105837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869268" y="6408984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869268" y="6712130"/>
              <a:ext cx="84964" cy="84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0" name="文本框 449"/>
          <p:cNvSpPr txBox="1"/>
          <p:nvPr/>
        </p:nvSpPr>
        <p:spPr>
          <a:xfrm>
            <a:off x="5950585" y="437792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2000" spc="200" dirty="0">
              <a:solidFill>
                <a:srgbClr val="2D3C65"/>
              </a:solidFill>
              <a:latin typeface="+mj-lt"/>
            </a:endParaRPr>
          </a:p>
        </p:txBody>
      </p:sp>
      <p:pic>
        <p:nvPicPr>
          <p:cNvPr id="2" name="图片 1" descr="屏幕截图 2026-01-13 1845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" y="1198245"/>
            <a:ext cx="5501640" cy="3681730"/>
          </a:xfrm>
          <a:prstGeom prst="rect">
            <a:avLst/>
          </a:prstGeom>
        </p:spPr>
      </p:pic>
      <p:pic>
        <p:nvPicPr>
          <p:cNvPr id="3" name="图片 2" descr="屏幕截图 2026-01-13 1847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105" y="1566545"/>
            <a:ext cx="5751195" cy="3163570"/>
          </a:xfrm>
          <a:prstGeom prst="rect">
            <a:avLst/>
          </a:prstGeom>
        </p:spPr>
      </p:pic>
      <p:pic>
        <p:nvPicPr>
          <p:cNvPr id="5" name="图片 4" descr="107589906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3795" y="3602355"/>
            <a:ext cx="2665730" cy="716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10812002" y="296086"/>
            <a:ext cx="1038440" cy="270063"/>
            <a:chOff x="-53" y="-51"/>
            <a:chExt cx="1022403" cy="265893"/>
          </a:xfrm>
          <a:solidFill>
            <a:schemeClr val="accent1"/>
          </a:solidFill>
        </p:grpSpPr>
        <p:sp>
          <p:nvSpPr>
            <p:cNvPr id="51" name="PA_ImportSvg_636808962213768665"/>
            <p:cNvSpPr/>
            <p:nvPr>
              <p:custDataLst>
                <p:tags r:id="rId1"/>
              </p:custDataLst>
            </p:nvPr>
          </p:nvSpPr>
          <p:spPr>
            <a:xfrm>
              <a:off x="721584" y="-51"/>
              <a:ext cx="265841" cy="265893"/>
            </a:xfrm>
            <a:custGeom>
              <a:avLst/>
              <a:gdLst/>
              <a:ahLst/>
              <a:cxnLst/>
              <a:rect l="l" t="t" r="r" b="b"/>
              <a:pathLst>
                <a:path w="265841" h="265893">
                  <a:moveTo>
                    <a:pt x="138079" y="50"/>
                  </a:moveTo>
                  <a:cubicBezTo>
                    <a:pt x="86341" y="-1"/>
                    <a:pt x="39669" y="31125"/>
                    <a:pt x="19834" y="78910"/>
                  </a:cubicBezTo>
                  <a:cubicBezTo>
                    <a:pt x="0" y="126695"/>
                    <a:pt x="10910" y="181723"/>
                    <a:pt x="47476" y="218325"/>
                  </a:cubicBezTo>
                  <a:cubicBezTo>
                    <a:pt x="84042" y="254928"/>
                    <a:pt x="139059" y="265892"/>
                    <a:pt x="186864" y="246105"/>
                  </a:cubicBezTo>
                  <a:cubicBezTo>
                    <a:pt x="234668" y="226318"/>
                    <a:pt x="265841" y="179677"/>
                    <a:pt x="265841" y="127939"/>
                  </a:cubicBezTo>
                  <a:cubicBezTo>
                    <a:pt x="265841" y="57357"/>
                    <a:pt x="208661" y="120"/>
                    <a:pt x="138079" y="50"/>
                  </a:cubicBezTo>
                  <a:close/>
                  <a:moveTo>
                    <a:pt x="226217" y="86537"/>
                  </a:moveTo>
                  <a:cubicBezTo>
                    <a:pt x="226235" y="86833"/>
                    <a:pt x="226235" y="87130"/>
                    <a:pt x="226217" y="87426"/>
                  </a:cubicBezTo>
                  <a:lnTo>
                    <a:pt x="226217" y="88188"/>
                  </a:lnTo>
                  <a:lnTo>
                    <a:pt x="226217" y="88950"/>
                  </a:lnTo>
                  <a:lnTo>
                    <a:pt x="226217" y="89712"/>
                  </a:lnTo>
                  <a:lnTo>
                    <a:pt x="226217" y="89712"/>
                  </a:lnTo>
                  <a:lnTo>
                    <a:pt x="173766" y="194233"/>
                  </a:lnTo>
                  <a:cubicBezTo>
                    <a:pt x="173024" y="196104"/>
                    <a:pt x="171624" y="197640"/>
                    <a:pt x="169829" y="198551"/>
                  </a:cubicBezTo>
                  <a:lnTo>
                    <a:pt x="168813" y="198551"/>
                  </a:lnTo>
                  <a:lnTo>
                    <a:pt x="168813" y="198551"/>
                  </a:lnTo>
                  <a:lnTo>
                    <a:pt x="167670" y="198551"/>
                  </a:lnTo>
                  <a:lnTo>
                    <a:pt x="163606" y="198551"/>
                  </a:lnTo>
                  <a:lnTo>
                    <a:pt x="162336" y="198551"/>
                  </a:lnTo>
                  <a:lnTo>
                    <a:pt x="162336" y="198551"/>
                  </a:lnTo>
                  <a:lnTo>
                    <a:pt x="161193" y="198551"/>
                  </a:lnTo>
                  <a:cubicBezTo>
                    <a:pt x="159327" y="197634"/>
                    <a:pt x="157876" y="196047"/>
                    <a:pt x="157129" y="194106"/>
                  </a:cubicBezTo>
                  <a:lnTo>
                    <a:pt x="140492" y="161340"/>
                  </a:lnTo>
                  <a:lnTo>
                    <a:pt x="149890" y="142544"/>
                  </a:lnTo>
                  <a:lnTo>
                    <a:pt x="163479" y="169722"/>
                  </a:lnTo>
                  <a:cubicBezTo>
                    <a:pt x="163479" y="169722"/>
                    <a:pt x="165003" y="172770"/>
                    <a:pt x="166527" y="169722"/>
                  </a:cubicBezTo>
                  <a:lnTo>
                    <a:pt x="202595" y="97840"/>
                  </a:lnTo>
                  <a:cubicBezTo>
                    <a:pt x="202595" y="97840"/>
                    <a:pt x="204119" y="94792"/>
                    <a:pt x="200690" y="94792"/>
                  </a:cubicBezTo>
                  <a:lnTo>
                    <a:pt x="172496" y="94792"/>
                  </a:lnTo>
                  <a:cubicBezTo>
                    <a:pt x="170436" y="94904"/>
                    <a:pt x="168572" y="96051"/>
                    <a:pt x="167543" y="97840"/>
                  </a:cubicBezTo>
                  <a:lnTo>
                    <a:pt x="153700" y="125399"/>
                  </a:lnTo>
                  <a:lnTo>
                    <a:pt x="153700" y="125399"/>
                  </a:lnTo>
                  <a:lnTo>
                    <a:pt x="138079" y="156641"/>
                  </a:lnTo>
                  <a:lnTo>
                    <a:pt x="138079" y="156641"/>
                  </a:lnTo>
                  <a:lnTo>
                    <a:pt x="118902" y="194741"/>
                  </a:lnTo>
                  <a:cubicBezTo>
                    <a:pt x="118160" y="196612"/>
                    <a:pt x="116760" y="198148"/>
                    <a:pt x="114965" y="199059"/>
                  </a:cubicBezTo>
                  <a:lnTo>
                    <a:pt x="113949" y="199059"/>
                  </a:lnTo>
                  <a:lnTo>
                    <a:pt x="113949" y="199059"/>
                  </a:lnTo>
                  <a:lnTo>
                    <a:pt x="112933" y="199059"/>
                  </a:lnTo>
                  <a:lnTo>
                    <a:pt x="110139" y="199059"/>
                  </a:lnTo>
                  <a:lnTo>
                    <a:pt x="108869" y="199059"/>
                  </a:lnTo>
                  <a:lnTo>
                    <a:pt x="108869" y="199059"/>
                  </a:lnTo>
                  <a:lnTo>
                    <a:pt x="107726" y="199059"/>
                  </a:lnTo>
                  <a:cubicBezTo>
                    <a:pt x="105915" y="198107"/>
                    <a:pt x="104515" y="196526"/>
                    <a:pt x="103789" y="194614"/>
                  </a:cubicBezTo>
                  <a:lnTo>
                    <a:pt x="50830" y="90093"/>
                  </a:lnTo>
                  <a:lnTo>
                    <a:pt x="50830" y="90093"/>
                  </a:lnTo>
                  <a:lnTo>
                    <a:pt x="50830" y="90093"/>
                  </a:lnTo>
                  <a:lnTo>
                    <a:pt x="50830" y="89331"/>
                  </a:lnTo>
                  <a:lnTo>
                    <a:pt x="50830" y="88569"/>
                  </a:lnTo>
                  <a:lnTo>
                    <a:pt x="50830" y="87426"/>
                  </a:lnTo>
                  <a:cubicBezTo>
                    <a:pt x="50811" y="87130"/>
                    <a:pt x="50811" y="86833"/>
                    <a:pt x="50830" y="86537"/>
                  </a:cubicBezTo>
                  <a:lnTo>
                    <a:pt x="50830" y="86537"/>
                  </a:lnTo>
                  <a:cubicBezTo>
                    <a:pt x="50830" y="86537"/>
                    <a:pt x="50830" y="86537"/>
                    <a:pt x="50830" y="86537"/>
                  </a:cubicBezTo>
                  <a:cubicBezTo>
                    <a:pt x="50814" y="86241"/>
                    <a:pt x="50814" y="85944"/>
                    <a:pt x="50830" y="85648"/>
                  </a:cubicBezTo>
                  <a:lnTo>
                    <a:pt x="50830" y="84124"/>
                  </a:lnTo>
                  <a:lnTo>
                    <a:pt x="50830" y="83362"/>
                  </a:lnTo>
                  <a:lnTo>
                    <a:pt x="50830" y="82600"/>
                  </a:lnTo>
                  <a:lnTo>
                    <a:pt x="50830" y="81965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2735" y="81330"/>
                  </a:lnTo>
                  <a:lnTo>
                    <a:pt x="53370" y="81330"/>
                  </a:lnTo>
                  <a:lnTo>
                    <a:pt x="111282" y="81330"/>
                  </a:lnTo>
                  <a:lnTo>
                    <a:pt x="112171" y="81330"/>
                  </a:lnTo>
                  <a:lnTo>
                    <a:pt x="112171" y="81330"/>
                  </a:lnTo>
                  <a:lnTo>
                    <a:pt x="113060" y="81330"/>
                  </a:lnTo>
                  <a:lnTo>
                    <a:pt x="113060" y="81330"/>
                  </a:lnTo>
                  <a:lnTo>
                    <a:pt x="113949" y="82092"/>
                  </a:lnTo>
                  <a:lnTo>
                    <a:pt x="113949" y="82092"/>
                  </a:lnTo>
                  <a:lnTo>
                    <a:pt x="114711" y="82981"/>
                  </a:lnTo>
                  <a:lnTo>
                    <a:pt x="114711" y="82981"/>
                  </a:lnTo>
                  <a:lnTo>
                    <a:pt x="114711" y="83616"/>
                  </a:lnTo>
                  <a:lnTo>
                    <a:pt x="114711" y="83616"/>
                  </a:lnTo>
                  <a:lnTo>
                    <a:pt x="135666" y="114350"/>
                  </a:lnTo>
                  <a:lnTo>
                    <a:pt x="126268" y="133019"/>
                  </a:lnTo>
                  <a:lnTo>
                    <a:pt x="108488" y="97713"/>
                  </a:lnTo>
                  <a:cubicBezTo>
                    <a:pt x="107550" y="96014"/>
                    <a:pt x="105845" y="94877"/>
                    <a:pt x="103916" y="94665"/>
                  </a:cubicBezTo>
                  <a:lnTo>
                    <a:pt x="75341" y="94665"/>
                  </a:lnTo>
                  <a:cubicBezTo>
                    <a:pt x="71912" y="94665"/>
                    <a:pt x="73436" y="97713"/>
                    <a:pt x="73436" y="97713"/>
                  </a:cubicBezTo>
                  <a:lnTo>
                    <a:pt x="109504" y="169595"/>
                  </a:lnTo>
                  <a:cubicBezTo>
                    <a:pt x="109504" y="169595"/>
                    <a:pt x="111028" y="172643"/>
                    <a:pt x="112552" y="169595"/>
                  </a:cubicBezTo>
                  <a:lnTo>
                    <a:pt x="127157" y="140512"/>
                  </a:lnTo>
                  <a:lnTo>
                    <a:pt x="142016" y="110032"/>
                  </a:lnTo>
                  <a:lnTo>
                    <a:pt x="155859" y="82600"/>
                  </a:lnTo>
                  <a:lnTo>
                    <a:pt x="155859" y="82600"/>
                  </a:lnTo>
                  <a:lnTo>
                    <a:pt x="155859" y="81965"/>
                  </a:lnTo>
                  <a:lnTo>
                    <a:pt x="155859" y="81965"/>
                  </a:lnTo>
                  <a:lnTo>
                    <a:pt x="156621" y="81076"/>
                  </a:lnTo>
                  <a:lnTo>
                    <a:pt x="156621" y="81076"/>
                  </a:lnTo>
                  <a:lnTo>
                    <a:pt x="157383" y="80441"/>
                  </a:lnTo>
                  <a:lnTo>
                    <a:pt x="157383" y="80441"/>
                  </a:lnTo>
                  <a:lnTo>
                    <a:pt x="158145" y="80441"/>
                  </a:lnTo>
                  <a:lnTo>
                    <a:pt x="158780" y="80441"/>
                  </a:lnTo>
                  <a:lnTo>
                    <a:pt x="159542" y="80441"/>
                  </a:lnTo>
                  <a:lnTo>
                    <a:pt x="218089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994" y="80441"/>
                  </a:lnTo>
                  <a:lnTo>
                    <a:pt x="219994" y="80441"/>
                  </a:lnTo>
                  <a:lnTo>
                    <a:pt x="220756" y="81076"/>
                  </a:lnTo>
                  <a:lnTo>
                    <a:pt x="220756" y="81076"/>
                  </a:lnTo>
                  <a:lnTo>
                    <a:pt x="220756" y="81838"/>
                  </a:lnTo>
                  <a:lnTo>
                    <a:pt x="220756" y="81838"/>
                  </a:lnTo>
                  <a:lnTo>
                    <a:pt x="220756" y="82727"/>
                  </a:lnTo>
                  <a:lnTo>
                    <a:pt x="220756" y="83362"/>
                  </a:lnTo>
                  <a:lnTo>
                    <a:pt x="220756" y="84251"/>
                  </a:lnTo>
                  <a:cubicBezTo>
                    <a:pt x="220756" y="84251"/>
                    <a:pt x="220756" y="84251"/>
                    <a:pt x="220756" y="85140"/>
                  </a:cubicBezTo>
                  <a:cubicBezTo>
                    <a:pt x="220756" y="86029"/>
                    <a:pt x="220756" y="85140"/>
                    <a:pt x="220756" y="85140"/>
                  </a:cubicBezTo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5496C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2" name="PA-椭圆 214"/>
            <p:cNvSpPr/>
            <p:nvPr>
              <p:custDataLst>
                <p:tags r:id="rId2"/>
              </p:custDataLst>
            </p:nvPr>
          </p:nvSpPr>
          <p:spPr>
            <a:xfrm>
              <a:off x="988822" y="223520"/>
              <a:ext cx="33528" cy="33528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45496C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-53" y="31607"/>
              <a:ext cx="694871" cy="195625"/>
              <a:chOff x="-53" y="31607"/>
              <a:chExt cx="694871" cy="195625"/>
            </a:xfrm>
            <a:grpFill/>
          </p:grpSpPr>
          <p:sp>
            <p:nvSpPr>
              <p:cNvPr id="54" name="PA-任意多边形 215"/>
              <p:cNvSpPr/>
              <p:nvPr>
                <p:custDataLst>
                  <p:tags r:id="rId3"/>
                </p:custDataLst>
              </p:nvPr>
            </p:nvSpPr>
            <p:spPr>
              <a:xfrm>
                <a:off x="490300" y="32512"/>
                <a:ext cx="204518" cy="193631"/>
              </a:xfrm>
              <a:custGeom>
                <a:avLst/>
                <a:gdLst/>
                <a:ahLst/>
                <a:cxnLst/>
                <a:rect l="0" t="0" r="0" b="0"/>
                <a:pathLst>
                  <a:path w="204518" h="193631">
                    <a:moveTo>
                      <a:pt x="204517" y="139192"/>
                    </a:moveTo>
                    <a:cubicBezTo>
                      <a:pt x="204517" y="124843"/>
                      <a:pt x="198817" y="111082"/>
                      <a:pt x="188671" y="100936"/>
                    </a:cubicBezTo>
                    <a:cubicBezTo>
                      <a:pt x="178525" y="90790"/>
                      <a:pt x="164764" y="85090"/>
                      <a:pt x="150415" y="85090"/>
                    </a:cubicBezTo>
                    <a:lnTo>
                      <a:pt x="51482" y="85090"/>
                    </a:lnTo>
                    <a:cubicBezTo>
                      <a:pt x="39914" y="85830"/>
                      <a:pt x="28894" y="80079"/>
                      <a:pt x="22886" y="70166"/>
                    </a:cubicBezTo>
                    <a:cubicBezTo>
                      <a:pt x="16878" y="60254"/>
                      <a:pt x="16878" y="47823"/>
                      <a:pt x="22886" y="37911"/>
                    </a:cubicBezTo>
                    <a:cubicBezTo>
                      <a:pt x="28894" y="27998"/>
                      <a:pt x="39914" y="22247"/>
                      <a:pt x="51482" y="22987"/>
                    </a:cubicBezTo>
                    <a:lnTo>
                      <a:pt x="186102" y="22987"/>
                    </a:lnTo>
                    <a:cubicBezTo>
                      <a:pt x="191984" y="22368"/>
                      <a:pt x="196449" y="17408"/>
                      <a:pt x="196449" y="11494"/>
                    </a:cubicBezTo>
                    <a:cubicBezTo>
                      <a:pt x="196449" y="5579"/>
                      <a:pt x="191984" y="619"/>
                      <a:pt x="186102" y="0"/>
                    </a:cubicBezTo>
                    <a:lnTo>
                      <a:pt x="51482" y="0"/>
                    </a:lnTo>
                    <a:cubicBezTo>
                      <a:pt x="22655" y="1398"/>
                      <a:pt x="0" y="25178"/>
                      <a:pt x="0" y="54039"/>
                    </a:cubicBezTo>
                    <a:cubicBezTo>
                      <a:pt x="0" y="82900"/>
                      <a:pt x="22655" y="106679"/>
                      <a:pt x="51482" y="108077"/>
                    </a:cubicBezTo>
                    <a:lnTo>
                      <a:pt x="150415" y="108077"/>
                    </a:lnTo>
                    <a:cubicBezTo>
                      <a:pt x="166794" y="109125"/>
                      <a:pt x="179543" y="122716"/>
                      <a:pt x="179543" y="139129"/>
                    </a:cubicBezTo>
                    <a:cubicBezTo>
                      <a:pt x="179543" y="155541"/>
                      <a:pt x="166794" y="169132"/>
                      <a:pt x="150415" y="170180"/>
                    </a:cubicBezTo>
                    <a:lnTo>
                      <a:pt x="15922" y="170180"/>
                    </a:lnTo>
                    <a:cubicBezTo>
                      <a:pt x="11527" y="169717"/>
                      <a:pt x="7253" y="171801"/>
                      <a:pt x="4912" y="175549"/>
                    </a:cubicBezTo>
                    <a:cubicBezTo>
                      <a:pt x="2570" y="179296"/>
                      <a:pt x="2570" y="184051"/>
                      <a:pt x="4912" y="187798"/>
                    </a:cubicBezTo>
                    <a:cubicBezTo>
                      <a:pt x="7253" y="191546"/>
                      <a:pt x="11527" y="193630"/>
                      <a:pt x="15922" y="193167"/>
                    </a:cubicBezTo>
                    <a:lnTo>
                      <a:pt x="150542" y="193167"/>
                    </a:lnTo>
                    <a:cubicBezTo>
                      <a:pt x="180323" y="193097"/>
                      <a:pt x="204447" y="168973"/>
                      <a:pt x="204517" y="13919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45496C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5" name="PA-任意多边形 216"/>
              <p:cNvSpPr/>
              <p:nvPr>
                <p:custDataLst>
                  <p:tags r:id="rId4"/>
                </p:custDataLst>
              </p:nvPr>
            </p:nvSpPr>
            <p:spPr>
              <a:xfrm>
                <a:off x="269240" y="32512"/>
                <a:ext cx="202439" cy="192339"/>
              </a:xfrm>
              <a:custGeom>
                <a:avLst/>
                <a:gdLst/>
                <a:ahLst/>
                <a:cxnLst/>
                <a:rect l="0" t="0" r="0" b="0"/>
                <a:pathLst>
                  <a:path w="202439" h="192339">
                    <a:moveTo>
                      <a:pt x="202438" y="54102"/>
                    </a:moveTo>
                    <a:cubicBezTo>
                      <a:pt x="202438" y="39753"/>
                      <a:pt x="196738" y="25992"/>
                      <a:pt x="186592" y="15846"/>
                    </a:cubicBezTo>
                    <a:cubicBezTo>
                      <a:pt x="176446" y="5700"/>
                      <a:pt x="162685" y="0"/>
                      <a:pt x="148336" y="0"/>
                    </a:cubicBezTo>
                    <a:lnTo>
                      <a:pt x="11430" y="0"/>
                    </a:lnTo>
                    <a:cubicBezTo>
                      <a:pt x="5548" y="619"/>
                      <a:pt x="1083" y="5579"/>
                      <a:pt x="1083" y="11493"/>
                    </a:cubicBezTo>
                    <a:cubicBezTo>
                      <a:pt x="1083" y="17408"/>
                      <a:pt x="5548" y="22368"/>
                      <a:pt x="11430" y="22987"/>
                    </a:cubicBezTo>
                    <a:lnTo>
                      <a:pt x="148336" y="22987"/>
                    </a:lnTo>
                    <a:cubicBezTo>
                      <a:pt x="164715" y="24035"/>
                      <a:pt x="177464" y="37626"/>
                      <a:pt x="177464" y="54039"/>
                    </a:cubicBezTo>
                    <a:cubicBezTo>
                      <a:pt x="177464" y="70451"/>
                      <a:pt x="164715" y="84042"/>
                      <a:pt x="148336" y="85090"/>
                    </a:cubicBezTo>
                    <a:lnTo>
                      <a:pt x="33274" y="85090"/>
                    </a:lnTo>
                    <a:cubicBezTo>
                      <a:pt x="14877" y="85160"/>
                      <a:pt x="0" y="100094"/>
                      <a:pt x="0" y="118491"/>
                    </a:cubicBezTo>
                    <a:lnTo>
                      <a:pt x="0" y="118491"/>
                    </a:lnTo>
                    <a:lnTo>
                      <a:pt x="0" y="181991"/>
                    </a:lnTo>
                    <a:cubicBezTo>
                      <a:pt x="619" y="187873"/>
                      <a:pt x="5579" y="192338"/>
                      <a:pt x="11493" y="192338"/>
                    </a:cubicBezTo>
                    <a:cubicBezTo>
                      <a:pt x="17408" y="192338"/>
                      <a:pt x="22368" y="187873"/>
                      <a:pt x="22987" y="181991"/>
                    </a:cubicBezTo>
                    <a:lnTo>
                      <a:pt x="22987" y="150241"/>
                    </a:lnTo>
                    <a:lnTo>
                      <a:pt x="22987" y="150241"/>
                    </a:lnTo>
                    <a:lnTo>
                      <a:pt x="22987" y="118491"/>
                    </a:lnTo>
                    <a:cubicBezTo>
                      <a:pt x="22987" y="112810"/>
                      <a:pt x="27593" y="108204"/>
                      <a:pt x="33274" y="108204"/>
                    </a:cubicBezTo>
                    <a:lnTo>
                      <a:pt x="148336" y="108204"/>
                    </a:lnTo>
                    <a:cubicBezTo>
                      <a:pt x="178216" y="108204"/>
                      <a:pt x="202438" y="83982"/>
                      <a:pt x="202438" y="5410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45496C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PA-任意多边形 217"/>
              <p:cNvSpPr/>
              <p:nvPr>
                <p:custDataLst>
                  <p:tags r:id="rId5"/>
                </p:custDataLst>
              </p:nvPr>
            </p:nvSpPr>
            <p:spPr>
              <a:xfrm>
                <a:off x="-53" y="31607"/>
                <a:ext cx="232511" cy="195625"/>
              </a:xfrm>
              <a:custGeom>
                <a:avLst/>
                <a:gdLst/>
                <a:ahLst/>
                <a:cxnLst/>
                <a:rect l="0" t="0" r="0" b="0"/>
                <a:pathLst>
                  <a:path w="232511" h="195625">
                    <a:moveTo>
                      <a:pt x="232336" y="12589"/>
                    </a:moveTo>
                    <a:cubicBezTo>
                      <a:pt x="232510" y="8064"/>
                      <a:pt x="229967" y="3872"/>
                      <a:pt x="225874" y="1936"/>
                    </a:cubicBezTo>
                    <a:cubicBezTo>
                      <a:pt x="221781" y="0"/>
                      <a:pt x="216927" y="694"/>
                      <a:pt x="213540" y="3699"/>
                    </a:cubicBezTo>
                    <a:lnTo>
                      <a:pt x="130228" y="71390"/>
                    </a:lnTo>
                    <a:lnTo>
                      <a:pt x="148516" y="86249"/>
                    </a:lnTo>
                    <a:lnTo>
                      <a:pt x="209476" y="36719"/>
                    </a:lnTo>
                    <a:lnTo>
                      <a:pt x="209476" y="158893"/>
                    </a:lnTo>
                    <a:lnTo>
                      <a:pt x="183060" y="137430"/>
                    </a:lnTo>
                    <a:cubicBezTo>
                      <a:pt x="182600" y="137243"/>
                      <a:pt x="182172" y="136986"/>
                      <a:pt x="181790" y="136668"/>
                    </a:cubicBezTo>
                    <a:lnTo>
                      <a:pt x="116004" y="82693"/>
                    </a:lnTo>
                    <a:lnTo>
                      <a:pt x="97970" y="97552"/>
                    </a:lnTo>
                    <a:lnTo>
                      <a:pt x="97970" y="97552"/>
                    </a:lnTo>
                    <a:lnTo>
                      <a:pt x="78158" y="113681"/>
                    </a:lnTo>
                    <a:lnTo>
                      <a:pt x="50853" y="135779"/>
                    </a:lnTo>
                    <a:lnTo>
                      <a:pt x="50853" y="135779"/>
                    </a:lnTo>
                    <a:lnTo>
                      <a:pt x="23040" y="158893"/>
                    </a:lnTo>
                    <a:lnTo>
                      <a:pt x="23040" y="36719"/>
                    </a:lnTo>
                    <a:lnTo>
                      <a:pt x="83873" y="86122"/>
                    </a:lnTo>
                    <a:lnTo>
                      <a:pt x="101653" y="71263"/>
                    </a:lnTo>
                    <a:lnTo>
                      <a:pt x="19992" y="4588"/>
                    </a:lnTo>
                    <a:lnTo>
                      <a:pt x="19992" y="4588"/>
                    </a:lnTo>
                    <a:lnTo>
                      <a:pt x="18976" y="3699"/>
                    </a:lnTo>
                    <a:cubicBezTo>
                      <a:pt x="16638" y="1756"/>
                      <a:pt x="13622" y="824"/>
                      <a:pt x="10595" y="1110"/>
                    </a:cubicBezTo>
                    <a:cubicBezTo>
                      <a:pt x="7568" y="1396"/>
                      <a:pt x="4780" y="2876"/>
                      <a:pt x="2847" y="5223"/>
                    </a:cubicBezTo>
                    <a:cubicBezTo>
                      <a:pt x="1154" y="7300"/>
                      <a:pt x="254" y="9910"/>
                      <a:pt x="307" y="12589"/>
                    </a:cubicBezTo>
                    <a:lnTo>
                      <a:pt x="53" y="12589"/>
                    </a:lnTo>
                    <a:lnTo>
                      <a:pt x="53" y="182769"/>
                    </a:lnTo>
                    <a:lnTo>
                      <a:pt x="53" y="182769"/>
                    </a:lnTo>
                    <a:cubicBezTo>
                      <a:pt x="0" y="185448"/>
                      <a:pt x="900" y="188058"/>
                      <a:pt x="2593" y="190135"/>
                    </a:cubicBezTo>
                    <a:cubicBezTo>
                      <a:pt x="6702" y="194999"/>
                      <a:pt x="13971" y="195624"/>
                      <a:pt x="18849" y="191532"/>
                    </a:cubicBezTo>
                    <a:lnTo>
                      <a:pt x="116131" y="112411"/>
                    </a:lnTo>
                    <a:lnTo>
                      <a:pt x="213413" y="191532"/>
                    </a:lnTo>
                    <a:cubicBezTo>
                      <a:pt x="218291" y="195624"/>
                      <a:pt x="225560" y="194999"/>
                      <a:pt x="229669" y="190135"/>
                    </a:cubicBezTo>
                    <a:cubicBezTo>
                      <a:pt x="231352" y="188053"/>
                      <a:pt x="232251" y="185446"/>
                      <a:pt x="232209" y="182769"/>
                    </a:cubicBezTo>
                    <a:lnTo>
                      <a:pt x="232209" y="182769"/>
                    </a:lnTo>
                    <a:lnTo>
                      <a:pt x="232209" y="12462"/>
                    </a:lnTo>
                  </a:path>
                </a:pathLst>
              </a:custGeom>
              <a:grp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45496C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141" name="直接连接符 140"/>
          <p:cNvCxnSpPr/>
          <p:nvPr/>
        </p:nvCxnSpPr>
        <p:spPr>
          <a:xfrm>
            <a:off x="644525" y="5491162"/>
            <a:ext cx="0" cy="66357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/>
        </p:nvSpPr>
        <p:spPr>
          <a:xfrm>
            <a:off x="531334" y="6272310"/>
            <a:ext cx="957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00" dirty="0">
                <a:solidFill>
                  <a:schemeClr val="accent1"/>
                </a:solidFill>
              </a:rPr>
              <a:t>SHANQIU</a:t>
            </a:r>
            <a:endParaRPr lang="zh-CN" altLang="en-US" sz="1200" spc="100" dirty="0">
              <a:solidFill>
                <a:schemeClr val="accent1"/>
              </a:solidFill>
            </a:endParaRPr>
          </a:p>
        </p:txBody>
      </p:sp>
      <p:sp>
        <p:nvSpPr>
          <p:cNvPr id="68" name="Freeform 8"/>
          <p:cNvSpPr/>
          <p:nvPr/>
        </p:nvSpPr>
        <p:spPr bwMode="auto">
          <a:xfrm>
            <a:off x="8671640" y="3961894"/>
            <a:ext cx="5647285" cy="3601842"/>
          </a:xfrm>
          <a:custGeom>
            <a:avLst/>
            <a:gdLst>
              <a:gd name="T0" fmla="*/ 0 w 614"/>
              <a:gd name="T1" fmla="*/ 390 h 392"/>
              <a:gd name="T2" fmla="*/ 216 w 614"/>
              <a:gd name="T3" fmla="*/ 298 h 392"/>
              <a:gd name="T4" fmla="*/ 355 w 614"/>
              <a:gd name="T5" fmla="*/ 133 h 392"/>
              <a:gd name="T6" fmla="*/ 594 w 614"/>
              <a:gd name="T7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392">
                <a:moveTo>
                  <a:pt x="0" y="390"/>
                </a:moveTo>
                <a:cubicBezTo>
                  <a:pt x="31" y="392"/>
                  <a:pt x="164" y="392"/>
                  <a:pt x="216" y="298"/>
                </a:cubicBezTo>
                <a:cubicBezTo>
                  <a:pt x="268" y="204"/>
                  <a:pt x="226" y="120"/>
                  <a:pt x="355" y="133"/>
                </a:cubicBezTo>
                <a:cubicBezTo>
                  <a:pt x="484" y="146"/>
                  <a:pt x="614" y="99"/>
                  <a:pt x="594" y="0"/>
                </a:cubicBezTo>
              </a:path>
            </a:pathLst>
          </a:custGeom>
          <a:noFill/>
          <a:ln w="12700" cap="flat">
            <a:solidFill>
              <a:srgbClr val="696177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7" name="Freeform 7"/>
          <p:cNvSpPr/>
          <p:nvPr/>
        </p:nvSpPr>
        <p:spPr bwMode="auto">
          <a:xfrm>
            <a:off x="-486044" y="-566440"/>
            <a:ext cx="3823792" cy="3645730"/>
          </a:xfrm>
          <a:custGeom>
            <a:avLst/>
            <a:gdLst>
              <a:gd name="T0" fmla="*/ 0 w 535"/>
              <a:gd name="T1" fmla="*/ 510 h 510"/>
              <a:gd name="T2" fmla="*/ 190 w 535"/>
              <a:gd name="T3" fmla="*/ 373 h 510"/>
              <a:gd name="T4" fmla="*/ 290 w 535"/>
              <a:gd name="T5" fmla="*/ 182 h 510"/>
              <a:gd name="T6" fmla="*/ 494 w 535"/>
              <a:gd name="T7" fmla="*/ 0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5" h="510">
                <a:moveTo>
                  <a:pt x="0" y="510"/>
                </a:moveTo>
                <a:cubicBezTo>
                  <a:pt x="31" y="506"/>
                  <a:pt x="161" y="476"/>
                  <a:pt x="190" y="373"/>
                </a:cubicBezTo>
                <a:cubicBezTo>
                  <a:pt x="220" y="270"/>
                  <a:pt x="162" y="197"/>
                  <a:pt x="290" y="182"/>
                </a:cubicBezTo>
                <a:cubicBezTo>
                  <a:pt x="419" y="166"/>
                  <a:pt x="535" y="92"/>
                  <a:pt x="494" y="0"/>
                </a:cubicBezTo>
              </a:path>
            </a:pathLst>
          </a:custGeom>
          <a:noFill/>
          <a:ln w="12700" cap="flat">
            <a:solidFill>
              <a:srgbClr val="696177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9"/>
          <p:cNvSpPr/>
          <p:nvPr/>
        </p:nvSpPr>
        <p:spPr bwMode="auto">
          <a:xfrm>
            <a:off x="-1071534" y="-572476"/>
            <a:ext cx="3515958" cy="3657802"/>
          </a:xfrm>
          <a:custGeom>
            <a:avLst/>
            <a:gdLst>
              <a:gd name="T0" fmla="*/ 0 w 492"/>
              <a:gd name="T1" fmla="*/ 512 h 512"/>
              <a:gd name="T2" fmla="*/ 199 w 492"/>
              <a:gd name="T3" fmla="*/ 390 h 512"/>
              <a:gd name="T4" fmla="*/ 299 w 492"/>
              <a:gd name="T5" fmla="*/ 132 h 512"/>
              <a:gd name="T6" fmla="*/ 474 w 492"/>
              <a:gd name="T7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2" h="512">
                <a:moveTo>
                  <a:pt x="0" y="512"/>
                </a:moveTo>
                <a:cubicBezTo>
                  <a:pt x="7" y="509"/>
                  <a:pt x="163" y="496"/>
                  <a:pt x="199" y="390"/>
                </a:cubicBezTo>
                <a:cubicBezTo>
                  <a:pt x="234" y="283"/>
                  <a:pt x="190" y="163"/>
                  <a:pt x="299" y="132"/>
                </a:cubicBezTo>
                <a:cubicBezTo>
                  <a:pt x="407" y="100"/>
                  <a:pt x="492" y="102"/>
                  <a:pt x="474" y="0"/>
                </a:cubicBezTo>
              </a:path>
            </a:pathLst>
          </a:custGeom>
          <a:noFill/>
          <a:ln w="12700" cap="flat">
            <a:solidFill>
              <a:srgbClr val="696177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0" name="任意多边形 79"/>
          <p:cNvSpPr/>
          <p:nvPr/>
        </p:nvSpPr>
        <p:spPr bwMode="auto">
          <a:xfrm>
            <a:off x="9998366" y="0"/>
            <a:ext cx="2193635" cy="3689159"/>
          </a:xfrm>
          <a:custGeom>
            <a:avLst/>
            <a:gdLst>
              <a:gd name="connsiteX0" fmla="*/ 0 w 2193635"/>
              <a:gd name="connsiteY0" fmla="*/ 0 h 3689159"/>
              <a:gd name="connsiteX1" fmla="*/ 2193635 w 2193635"/>
              <a:gd name="connsiteY1" fmla="*/ 0 h 3689159"/>
              <a:gd name="connsiteX2" fmla="*/ 2193635 w 2193635"/>
              <a:gd name="connsiteY2" fmla="*/ 3689159 h 3689159"/>
              <a:gd name="connsiteX3" fmla="*/ 2032357 w 2193635"/>
              <a:gd name="connsiteY3" fmla="*/ 3649763 h 3689159"/>
              <a:gd name="connsiteX4" fmla="*/ 1369345 w 2193635"/>
              <a:gd name="connsiteY4" fmla="*/ 3116630 h 3689159"/>
              <a:gd name="connsiteX5" fmla="*/ 974066 w 2193635"/>
              <a:gd name="connsiteY5" fmla="*/ 1011675 h 3689159"/>
              <a:gd name="connsiteX6" fmla="*/ 85836 w 2193635"/>
              <a:gd name="connsiteY6" fmla="*/ 63756 h 3689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3635" h="3689159">
                <a:moveTo>
                  <a:pt x="0" y="0"/>
                </a:moveTo>
                <a:lnTo>
                  <a:pt x="2193635" y="0"/>
                </a:lnTo>
                <a:lnTo>
                  <a:pt x="2193635" y="3689159"/>
                </a:lnTo>
                <a:lnTo>
                  <a:pt x="2032357" y="3649763"/>
                </a:lnTo>
                <a:cubicBezTo>
                  <a:pt x="1771518" y="3567035"/>
                  <a:pt x="1525618" y="3406176"/>
                  <a:pt x="1369345" y="3116630"/>
                </a:cubicBezTo>
                <a:cubicBezTo>
                  <a:pt x="1056799" y="2528346"/>
                  <a:pt x="1360153" y="1949253"/>
                  <a:pt x="974066" y="1011675"/>
                </a:cubicBezTo>
                <a:cubicBezTo>
                  <a:pt x="776426" y="542886"/>
                  <a:pt x="397233" y="290108"/>
                  <a:pt x="85836" y="63756"/>
                </a:cubicBezTo>
                <a:close/>
              </a:path>
            </a:pathLst>
          </a:custGeom>
          <a:solidFill>
            <a:srgbClr val="72B7B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81" name="任意多边形 80"/>
          <p:cNvSpPr/>
          <p:nvPr/>
        </p:nvSpPr>
        <p:spPr bwMode="auto">
          <a:xfrm>
            <a:off x="0" y="4189700"/>
            <a:ext cx="4610419" cy="2668300"/>
          </a:xfrm>
          <a:custGeom>
            <a:avLst/>
            <a:gdLst>
              <a:gd name="connsiteX0" fmla="*/ 0 w 4610419"/>
              <a:gd name="connsiteY0" fmla="*/ 0 h 2668300"/>
              <a:gd name="connsiteX1" fmla="*/ 25011 w 4610419"/>
              <a:gd name="connsiteY1" fmla="*/ 16347 h 2668300"/>
              <a:gd name="connsiteX2" fmla="*/ 784002 w 4610419"/>
              <a:gd name="connsiteY2" fmla="*/ 1160230 h 2668300"/>
              <a:gd name="connsiteX3" fmla="*/ 2310235 w 4610419"/>
              <a:gd name="connsiteY3" fmla="*/ 1307264 h 2668300"/>
              <a:gd name="connsiteX4" fmla="*/ 3799691 w 4610419"/>
              <a:gd name="connsiteY4" fmla="*/ 2272178 h 2668300"/>
              <a:gd name="connsiteX5" fmla="*/ 4532341 w 4610419"/>
              <a:gd name="connsiteY5" fmla="*/ 2597293 h 2668300"/>
              <a:gd name="connsiteX6" fmla="*/ 4610419 w 4610419"/>
              <a:gd name="connsiteY6" fmla="*/ 2668300 h 2668300"/>
              <a:gd name="connsiteX7" fmla="*/ 0 w 4610419"/>
              <a:gd name="connsiteY7" fmla="*/ 2668300 h 266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10419" h="2668300">
                <a:moveTo>
                  <a:pt x="0" y="0"/>
                </a:moveTo>
                <a:lnTo>
                  <a:pt x="25011" y="16347"/>
                </a:lnTo>
                <a:cubicBezTo>
                  <a:pt x="372958" y="306777"/>
                  <a:pt x="146156" y="1117153"/>
                  <a:pt x="784002" y="1160230"/>
                </a:cubicBezTo>
                <a:cubicBezTo>
                  <a:pt x="1455177" y="1206178"/>
                  <a:pt x="1813749" y="1077523"/>
                  <a:pt x="2310235" y="1307264"/>
                </a:cubicBezTo>
                <a:cubicBezTo>
                  <a:pt x="2815914" y="1546195"/>
                  <a:pt x="2815914" y="2088385"/>
                  <a:pt x="3799691" y="2272178"/>
                </a:cubicBezTo>
                <a:cubicBezTo>
                  <a:pt x="4109994" y="2326741"/>
                  <a:pt x="4347570" y="2445022"/>
                  <a:pt x="4532341" y="2597293"/>
                </a:cubicBezTo>
                <a:lnTo>
                  <a:pt x="4610419" y="2668300"/>
                </a:lnTo>
                <a:lnTo>
                  <a:pt x="0" y="26683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82" name="组合 81"/>
          <p:cNvGrpSpPr/>
          <p:nvPr/>
        </p:nvGrpSpPr>
        <p:grpSpPr>
          <a:xfrm>
            <a:off x="-310734" y="4082213"/>
            <a:ext cx="2177408" cy="2829465"/>
            <a:chOff x="-310734" y="4082213"/>
            <a:chExt cx="2177408" cy="2829465"/>
          </a:xfrm>
          <a:solidFill>
            <a:srgbClr val="C4E0E6"/>
          </a:solidFill>
        </p:grpSpPr>
        <p:sp>
          <p:nvSpPr>
            <p:cNvPr id="83" name="Freeform 12"/>
            <p:cNvSpPr/>
            <p:nvPr/>
          </p:nvSpPr>
          <p:spPr bwMode="auto">
            <a:xfrm>
              <a:off x="-310734" y="5273771"/>
              <a:ext cx="496806" cy="555024"/>
            </a:xfrm>
            <a:custGeom>
              <a:avLst/>
              <a:gdLst>
                <a:gd name="T0" fmla="*/ 44 w 54"/>
                <a:gd name="T1" fmla="*/ 11 h 60"/>
                <a:gd name="T2" fmla="*/ 25 w 54"/>
                <a:gd name="T3" fmla="*/ 48 h 60"/>
                <a:gd name="T4" fmla="*/ 44 w 54"/>
                <a:gd name="T5" fmla="*/ 1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60">
                  <a:moveTo>
                    <a:pt x="44" y="11"/>
                  </a:moveTo>
                  <a:cubicBezTo>
                    <a:pt x="41" y="15"/>
                    <a:pt x="0" y="60"/>
                    <a:pt x="25" y="48"/>
                  </a:cubicBezTo>
                  <a:cubicBezTo>
                    <a:pt x="51" y="37"/>
                    <a:pt x="54" y="0"/>
                    <a:pt x="44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13"/>
            <p:cNvSpPr/>
            <p:nvPr/>
          </p:nvSpPr>
          <p:spPr bwMode="auto">
            <a:xfrm>
              <a:off x="407305" y="5029249"/>
              <a:ext cx="551144" cy="578312"/>
            </a:xfrm>
            <a:custGeom>
              <a:avLst/>
              <a:gdLst>
                <a:gd name="T0" fmla="*/ 46 w 60"/>
                <a:gd name="T1" fmla="*/ 15 h 63"/>
                <a:gd name="T2" fmla="*/ 27 w 60"/>
                <a:gd name="T3" fmla="*/ 57 h 63"/>
                <a:gd name="T4" fmla="*/ 46 w 60"/>
                <a:gd name="T5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" h="63">
                  <a:moveTo>
                    <a:pt x="46" y="15"/>
                  </a:moveTo>
                  <a:cubicBezTo>
                    <a:pt x="43" y="19"/>
                    <a:pt x="0" y="63"/>
                    <a:pt x="27" y="57"/>
                  </a:cubicBezTo>
                  <a:cubicBezTo>
                    <a:pt x="54" y="50"/>
                    <a:pt x="60" y="0"/>
                    <a:pt x="46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14"/>
            <p:cNvSpPr/>
            <p:nvPr/>
          </p:nvSpPr>
          <p:spPr bwMode="auto">
            <a:xfrm>
              <a:off x="286986" y="4594544"/>
              <a:ext cx="384249" cy="450230"/>
            </a:xfrm>
            <a:custGeom>
              <a:avLst/>
              <a:gdLst>
                <a:gd name="T0" fmla="*/ 26 w 42"/>
                <a:gd name="T1" fmla="*/ 15 h 49"/>
                <a:gd name="T2" fmla="*/ 21 w 42"/>
                <a:gd name="T3" fmla="*/ 41 h 49"/>
                <a:gd name="T4" fmla="*/ 26 w 42"/>
                <a:gd name="T5" fmla="*/ 1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49">
                  <a:moveTo>
                    <a:pt x="26" y="15"/>
                  </a:moveTo>
                  <a:cubicBezTo>
                    <a:pt x="23" y="19"/>
                    <a:pt x="0" y="49"/>
                    <a:pt x="21" y="41"/>
                  </a:cubicBezTo>
                  <a:cubicBezTo>
                    <a:pt x="42" y="34"/>
                    <a:pt x="36" y="0"/>
                    <a:pt x="26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15"/>
            <p:cNvSpPr/>
            <p:nvPr/>
          </p:nvSpPr>
          <p:spPr bwMode="auto">
            <a:xfrm>
              <a:off x="-35163" y="5770577"/>
              <a:ext cx="357079" cy="671463"/>
            </a:xfrm>
            <a:custGeom>
              <a:avLst/>
              <a:gdLst>
                <a:gd name="T0" fmla="*/ 9 w 39"/>
                <a:gd name="T1" fmla="*/ 18 h 73"/>
                <a:gd name="T2" fmla="*/ 19 w 39"/>
                <a:gd name="T3" fmla="*/ 45 h 73"/>
                <a:gd name="T4" fmla="*/ 9 w 39"/>
                <a:gd name="T5" fmla="*/ 1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73">
                  <a:moveTo>
                    <a:pt x="9" y="18"/>
                  </a:moveTo>
                  <a:cubicBezTo>
                    <a:pt x="5" y="20"/>
                    <a:pt x="0" y="73"/>
                    <a:pt x="19" y="45"/>
                  </a:cubicBezTo>
                  <a:cubicBezTo>
                    <a:pt x="39" y="17"/>
                    <a:pt x="37" y="0"/>
                    <a:pt x="9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16"/>
            <p:cNvSpPr/>
            <p:nvPr/>
          </p:nvSpPr>
          <p:spPr bwMode="auto">
            <a:xfrm>
              <a:off x="911873" y="5246601"/>
              <a:ext cx="663703" cy="582194"/>
            </a:xfrm>
            <a:custGeom>
              <a:avLst/>
              <a:gdLst>
                <a:gd name="T0" fmla="*/ 56 w 72"/>
                <a:gd name="T1" fmla="*/ 21 h 63"/>
                <a:gd name="T2" fmla="*/ 25 w 72"/>
                <a:gd name="T3" fmla="*/ 62 h 63"/>
                <a:gd name="T4" fmla="*/ 56 w 72"/>
                <a:gd name="T5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63">
                  <a:moveTo>
                    <a:pt x="56" y="21"/>
                  </a:moveTo>
                  <a:cubicBezTo>
                    <a:pt x="56" y="21"/>
                    <a:pt x="0" y="61"/>
                    <a:pt x="25" y="62"/>
                  </a:cubicBezTo>
                  <a:cubicBezTo>
                    <a:pt x="49" y="63"/>
                    <a:pt x="72" y="0"/>
                    <a:pt x="56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17"/>
            <p:cNvSpPr/>
            <p:nvPr/>
          </p:nvSpPr>
          <p:spPr bwMode="auto">
            <a:xfrm>
              <a:off x="240410" y="6251858"/>
              <a:ext cx="543381" cy="659820"/>
            </a:xfrm>
            <a:custGeom>
              <a:avLst/>
              <a:gdLst>
                <a:gd name="T0" fmla="*/ 36 w 59"/>
                <a:gd name="T1" fmla="*/ 15 h 72"/>
                <a:gd name="T2" fmla="*/ 23 w 59"/>
                <a:gd name="T3" fmla="*/ 52 h 72"/>
                <a:gd name="T4" fmla="*/ 36 w 59"/>
                <a:gd name="T5" fmla="*/ 1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72">
                  <a:moveTo>
                    <a:pt x="36" y="15"/>
                  </a:moveTo>
                  <a:cubicBezTo>
                    <a:pt x="33" y="17"/>
                    <a:pt x="0" y="72"/>
                    <a:pt x="23" y="52"/>
                  </a:cubicBezTo>
                  <a:cubicBezTo>
                    <a:pt x="46" y="33"/>
                    <a:pt x="59" y="0"/>
                    <a:pt x="36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18"/>
            <p:cNvSpPr/>
            <p:nvPr/>
          </p:nvSpPr>
          <p:spPr bwMode="auto">
            <a:xfrm>
              <a:off x="1032194" y="4749795"/>
              <a:ext cx="496806" cy="543381"/>
            </a:xfrm>
            <a:custGeom>
              <a:avLst/>
              <a:gdLst>
                <a:gd name="T0" fmla="*/ 40 w 54"/>
                <a:gd name="T1" fmla="*/ 16 h 59"/>
                <a:gd name="T2" fmla="*/ 18 w 54"/>
                <a:gd name="T3" fmla="*/ 57 h 59"/>
                <a:gd name="T4" fmla="*/ 40 w 54"/>
                <a:gd name="T5" fmla="*/ 1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59">
                  <a:moveTo>
                    <a:pt x="40" y="16"/>
                  </a:moveTo>
                  <a:cubicBezTo>
                    <a:pt x="37" y="20"/>
                    <a:pt x="0" y="59"/>
                    <a:pt x="18" y="57"/>
                  </a:cubicBezTo>
                  <a:cubicBezTo>
                    <a:pt x="36" y="54"/>
                    <a:pt x="54" y="0"/>
                    <a:pt x="4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19"/>
            <p:cNvSpPr/>
            <p:nvPr/>
          </p:nvSpPr>
          <p:spPr bwMode="auto">
            <a:xfrm>
              <a:off x="783792" y="4082213"/>
              <a:ext cx="423062" cy="652058"/>
            </a:xfrm>
            <a:custGeom>
              <a:avLst/>
              <a:gdLst>
                <a:gd name="T0" fmla="*/ 31 w 46"/>
                <a:gd name="T1" fmla="*/ 17 h 71"/>
                <a:gd name="T2" fmla="*/ 18 w 46"/>
                <a:gd name="T3" fmla="*/ 50 h 71"/>
                <a:gd name="T4" fmla="*/ 31 w 46"/>
                <a:gd name="T5" fmla="*/ 1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71">
                  <a:moveTo>
                    <a:pt x="31" y="17"/>
                  </a:moveTo>
                  <a:cubicBezTo>
                    <a:pt x="31" y="17"/>
                    <a:pt x="0" y="71"/>
                    <a:pt x="18" y="50"/>
                  </a:cubicBezTo>
                  <a:cubicBezTo>
                    <a:pt x="36" y="30"/>
                    <a:pt x="46" y="0"/>
                    <a:pt x="31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0"/>
            <p:cNvSpPr/>
            <p:nvPr/>
          </p:nvSpPr>
          <p:spPr bwMode="auto">
            <a:xfrm>
              <a:off x="958449" y="5964642"/>
              <a:ext cx="349317" cy="489043"/>
            </a:xfrm>
            <a:custGeom>
              <a:avLst/>
              <a:gdLst>
                <a:gd name="T0" fmla="*/ 21 w 38"/>
                <a:gd name="T1" fmla="*/ 24 h 53"/>
                <a:gd name="T2" fmla="*/ 14 w 38"/>
                <a:gd name="T3" fmla="*/ 51 h 53"/>
                <a:gd name="T4" fmla="*/ 21 w 38"/>
                <a:gd name="T5" fmla="*/ 2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53">
                  <a:moveTo>
                    <a:pt x="21" y="24"/>
                  </a:moveTo>
                  <a:cubicBezTo>
                    <a:pt x="21" y="24"/>
                    <a:pt x="0" y="48"/>
                    <a:pt x="14" y="51"/>
                  </a:cubicBezTo>
                  <a:cubicBezTo>
                    <a:pt x="27" y="53"/>
                    <a:pt x="38" y="0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5"/>
            <p:cNvSpPr/>
            <p:nvPr/>
          </p:nvSpPr>
          <p:spPr bwMode="auto">
            <a:xfrm>
              <a:off x="-155482" y="4679932"/>
              <a:ext cx="368724" cy="411417"/>
            </a:xfrm>
            <a:custGeom>
              <a:avLst/>
              <a:gdLst>
                <a:gd name="T0" fmla="*/ 32 w 40"/>
                <a:gd name="T1" fmla="*/ 13 h 45"/>
                <a:gd name="T2" fmla="*/ 16 w 40"/>
                <a:gd name="T3" fmla="*/ 41 h 45"/>
                <a:gd name="T4" fmla="*/ 32 w 40"/>
                <a:gd name="T5" fmla="*/ 1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45">
                  <a:moveTo>
                    <a:pt x="32" y="13"/>
                  </a:moveTo>
                  <a:cubicBezTo>
                    <a:pt x="32" y="13"/>
                    <a:pt x="0" y="45"/>
                    <a:pt x="16" y="41"/>
                  </a:cubicBezTo>
                  <a:cubicBezTo>
                    <a:pt x="33" y="36"/>
                    <a:pt x="40" y="0"/>
                    <a:pt x="3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6"/>
            <p:cNvSpPr/>
            <p:nvPr/>
          </p:nvSpPr>
          <p:spPr bwMode="auto">
            <a:xfrm>
              <a:off x="395662" y="4144313"/>
              <a:ext cx="267811" cy="329909"/>
            </a:xfrm>
            <a:custGeom>
              <a:avLst/>
              <a:gdLst>
                <a:gd name="T0" fmla="*/ 19 w 29"/>
                <a:gd name="T1" fmla="*/ 15 h 36"/>
                <a:gd name="T2" fmla="*/ 12 w 29"/>
                <a:gd name="T3" fmla="*/ 32 h 36"/>
                <a:gd name="T4" fmla="*/ 19 w 29"/>
                <a:gd name="T5" fmla="*/ 1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36">
                  <a:moveTo>
                    <a:pt x="19" y="15"/>
                  </a:moveTo>
                  <a:cubicBezTo>
                    <a:pt x="17" y="16"/>
                    <a:pt x="0" y="36"/>
                    <a:pt x="12" y="32"/>
                  </a:cubicBezTo>
                  <a:cubicBezTo>
                    <a:pt x="23" y="29"/>
                    <a:pt x="29" y="0"/>
                    <a:pt x="19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168039" y="4365548"/>
              <a:ext cx="322149" cy="322146"/>
            </a:xfrm>
            <a:custGeom>
              <a:avLst/>
              <a:gdLst>
                <a:gd name="T0" fmla="*/ 30 w 35"/>
                <a:gd name="T1" fmla="*/ 9 h 35"/>
                <a:gd name="T2" fmla="*/ 14 w 35"/>
                <a:gd name="T3" fmla="*/ 32 h 35"/>
                <a:gd name="T4" fmla="*/ 30 w 35"/>
                <a:gd name="T5" fmla="*/ 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35">
                  <a:moveTo>
                    <a:pt x="30" y="9"/>
                  </a:moveTo>
                  <a:cubicBezTo>
                    <a:pt x="30" y="9"/>
                    <a:pt x="0" y="35"/>
                    <a:pt x="14" y="32"/>
                  </a:cubicBezTo>
                  <a:cubicBezTo>
                    <a:pt x="28" y="28"/>
                    <a:pt x="35" y="0"/>
                    <a:pt x="3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9"/>
            <p:cNvSpPr/>
            <p:nvPr/>
          </p:nvSpPr>
          <p:spPr bwMode="auto">
            <a:xfrm>
              <a:off x="453880" y="5727882"/>
              <a:ext cx="283336" cy="384247"/>
            </a:xfrm>
            <a:custGeom>
              <a:avLst/>
              <a:gdLst>
                <a:gd name="T0" fmla="*/ 24 w 31"/>
                <a:gd name="T1" fmla="*/ 10 h 42"/>
                <a:gd name="T2" fmla="*/ 13 w 31"/>
                <a:gd name="T3" fmla="*/ 32 h 42"/>
                <a:gd name="T4" fmla="*/ 24 w 31"/>
                <a:gd name="T5" fmla="*/ 1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42">
                  <a:moveTo>
                    <a:pt x="24" y="10"/>
                  </a:moveTo>
                  <a:cubicBezTo>
                    <a:pt x="23" y="11"/>
                    <a:pt x="0" y="42"/>
                    <a:pt x="13" y="32"/>
                  </a:cubicBezTo>
                  <a:cubicBezTo>
                    <a:pt x="25" y="22"/>
                    <a:pt x="31" y="0"/>
                    <a:pt x="2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30"/>
            <p:cNvSpPr/>
            <p:nvPr/>
          </p:nvSpPr>
          <p:spPr bwMode="auto">
            <a:xfrm>
              <a:off x="1280597" y="5696831"/>
              <a:ext cx="283336" cy="294978"/>
            </a:xfrm>
            <a:custGeom>
              <a:avLst/>
              <a:gdLst>
                <a:gd name="T0" fmla="*/ 21 w 31"/>
                <a:gd name="T1" fmla="*/ 13 h 32"/>
                <a:gd name="T2" fmla="*/ 12 w 31"/>
                <a:gd name="T3" fmla="*/ 29 h 32"/>
                <a:gd name="T4" fmla="*/ 21 w 31"/>
                <a:gd name="T5" fmla="*/ 1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32">
                  <a:moveTo>
                    <a:pt x="21" y="13"/>
                  </a:moveTo>
                  <a:cubicBezTo>
                    <a:pt x="20" y="14"/>
                    <a:pt x="0" y="32"/>
                    <a:pt x="12" y="29"/>
                  </a:cubicBezTo>
                  <a:cubicBezTo>
                    <a:pt x="23" y="26"/>
                    <a:pt x="31" y="0"/>
                    <a:pt x="21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31"/>
            <p:cNvSpPr/>
            <p:nvPr/>
          </p:nvSpPr>
          <p:spPr bwMode="auto">
            <a:xfrm>
              <a:off x="939043" y="6608937"/>
              <a:ext cx="267811" cy="267808"/>
            </a:xfrm>
            <a:custGeom>
              <a:avLst/>
              <a:gdLst>
                <a:gd name="T0" fmla="*/ 18 w 29"/>
                <a:gd name="T1" fmla="*/ 9 h 29"/>
                <a:gd name="T2" fmla="*/ 10 w 29"/>
                <a:gd name="T3" fmla="*/ 26 h 29"/>
                <a:gd name="T4" fmla="*/ 18 w 29"/>
                <a:gd name="T5" fmla="*/ 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9">
                  <a:moveTo>
                    <a:pt x="18" y="9"/>
                  </a:moveTo>
                  <a:cubicBezTo>
                    <a:pt x="15" y="11"/>
                    <a:pt x="0" y="29"/>
                    <a:pt x="10" y="26"/>
                  </a:cubicBezTo>
                  <a:cubicBezTo>
                    <a:pt x="19" y="23"/>
                    <a:pt x="29" y="0"/>
                    <a:pt x="18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32"/>
            <p:cNvSpPr/>
            <p:nvPr/>
          </p:nvSpPr>
          <p:spPr bwMode="auto">
            <a:xfrm>
              <a:off x="904111" y="4714865"/>
              <a:ext cx="217353" cy="302741"/>
            </a:xfrm>
            <a:custGeom>
              <a:avLst/>
              <a:gdLst>
                <a:gd name="T0" fmla="*/ 17 w 24"/>
                <a:gd name="T1" fmla="*/ 9 h 33"/>
                <a:gd name="T2" fmla="*/ 6 w 24"/>
                <a:gd name="T3" fmla="*/ 30 h 33"/>
                <a:gd name="T4" fmla="*/ 17 w 24"/>
                <a:gd name="T5" fmla="*/ 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3">
                  <a:moveTo>
                    <a:pt x="17" y="9"/>
                  </a:moveTo>
                  <a:cubicBezTo>
                    <a:pt x="17" y="9"/>
                    <a:pt x="0" y="26"/>
                    <a:pt x="6" y="30"/>
                  </a:cubicBezTo>
                  <a:cubicBezTo>
                    <a:pt x="12" y="33"/>
                    <a:pt x="24" y="0"/>
                    <a:pt x="17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33"/>
            <p:cNvSpPr/>
            <p:nvPr/>
          </p:nvSpPr>
          <p:spPr bwMode="auto">
            <a:xfrm>
              <a:off x="1482425" y="4648882"/>
              <a:ext cx="384249" cy="442468"/>
            </a:xfrm>
            <a:custGeom>
              <a:avLst/>
              <a:gdLst>
                <a:gd name="T0" fmla="*/ 30 w 42"/>
                <a:gd name="T1" fmla="*/ 14 h 48"/>
                <a:gd name="T2" fmla="*/ 15 w 42"/>
                <a:gd name="T3" fmla="*/ 46 h 48"/>
                <a:gd name="T4" fmla="*/ 30 w 42"/>
                <a:gd name="T5" fmla="*/ 1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48">
                  <a:moveTo>
                    <a:pt x="30" y="14"/>
                  </a:moveTo>
                  <a:cubicBezTo>
                    <a:pt x="30" y="14"/>
                    <a:pt x="0" y="48"/>
                    <a:pt x="15" y="46"/>
                  </a:cubicBezTo>
                  <a:cubicBezTo>
                    <a:pt x="31" y="45"/>
                    <a:pt x="42" y="0"/>
                    <a:pt x="3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34"/>
            <p:cNvSpPr/>
            <p:nvPr/>
          </p:nvSpPr>
          <p:spPr bwMode="auto">
            <a:xfrm>
              <a:off x="1482425" y="4439292"/>
              <a:ext cx="194065" cy="341554"/>
            </a:xfrm>
            <a:custGeom>
              <a:avLst/>
              <a:gdLst>
                <a:gd name="T0" fmla="*/ 13 w 21"/>
                <a:gd name="T1" fmla="*/ 16 h 37"/>
                <a:gd name="T2" fmla="*/ 8 w 21"/>
                <a:gd name="T3" fmla="*/ 35 h 37"/>
                <a:gd name="T4" fmla="*/ 13 w 21"/>
                <a:gd name="T5" fmla="*/ 1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37">
                  <a:moveTo>
                    <a:pt x="13" y="16"/>
                  </a:moveTo>
                  <a:cubicBezTo>
                    <a:pt x="13" y="16"/>
                    <a:pt x="0" y="37"/>
                    <a:pt x="8" y="35"/>
                  </a:cubicBezTo>
                  <a:cubicBezTo>
                    <a:pt x="17" y="32"/>
                    <a:pt x="21" y="0"/>
                    <a:pt x="1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35"/>
            <p:cNvSpPr/>
            <p:nvPr/>
          </p:nvSpPr>
          <p:spPr bwMode="auto">
            <a:xfrm>
              <a:off x="1529000" y="5238839"/>
              <a:ext cx="236760" cy="275571"/>
            </a:xfrm>
            <a:custGeom>
              <a:avLst/>
              <a:gdLst>
                <a:gd name="T0" fmla="*/ 19 w 26"/>
                <a:gd name="T1" fmla="*/ 10 h 30"/>
                <a:gd name="T2" fmla="*/ 11 w 26"/>
                <a:gd name="T3" fmla="*/ 29 h 30"/>
                <a:gd name="T4" fmla="*/ 19 w 26"/>
                <a:gd name="T5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30">
                  <a:moveTo>
                    <a:pt x="19" y="10"/>
                  </a:moveTo>
                  <a:cubicBezTo>
                    <a:pt x="18" y="11"/>
                    <a:pt x="0" y="29"/>
                    <a:pt x="11" y="29"/>
                  </a:cubicBezTo>
                  <a:cubicBezTo>
                    <a:pt x="22" y="30"/>
                    <a:pt x="26" y="0"/>
                    <a:pt x="19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02" name="剪去单角的矩形 101"/>
          <p:cNvSpPr/>
          <p:nvPr>
            <p:custDataLst>
              <p:tags r:id="rId6"/>
            </p:custDataLst>
          </p:nvPr>
        </p:nvSpPr>
        <p:spPr>
          <a:xfrm>
            <a:off x="2896766" y="2415505"/>
            <a:ext cx="2886194" cy="636234"/>
          </a:xfrm>
          <a:prstGeom prst="snip1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705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问题定义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3" name="剪去单角的矩形 102"/>
          <p:cNvSpPr/>
          <p:nvPr>
            <p:custDataLst>
              <p:tags r:id="rId7"/>
            </p:custDataLst>
          </p:nvPr>
        </p:nvSpPr>
        <p:spPr>
          <a:xfrm>
            <a:off x="7139293" y="2415505"/>
            <a:ext cx="2886194" cy="636234"/>
          </a:xfrm>
          <a:prstGeom prst="snip1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705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数据建模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04" name="剪去单角的矩形 103"/>
          <p:cNvSpPr/>
          <p:nvPr>
            <p:custDataLst>
              <p:tags r:id="rId8"/>
            </p:custDataLst>
          </p:nvPr>
        </p:nvSpPr>
        <p:spPr>
          <a:xfrm>
            <a:off x="2896766" y="3671328"/>
            <a:ext cx="2886194" cy="636234"/>
          </a:xfrm>
          <a:prstGeom prst="snip1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705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数据可视化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5" name="剪去单角的矩形 104"/>
          <p:cNvSpPr/>
          <p:nvPr>
            <p:custDataLst>
              <p:tags r:id="rId9"/>
            </p:custDataLst>
          </p:nvPr>
        </p:nvSpPr>
        <p:spPr>
          <a:xfrm>
            <a:off x="7139293" y="3671328"/>
            <a:ext cx="2886194" cy="636234"/>
          </a:xfrm>
          <a:prstGeom prst="snip1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705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结论与总结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6" name="剪去单角的矩形 105"/>
          <p:cNvSpPr/>
          <p:nvPr>
            <p:custDataLst>
              <p:tags r:id="rId10"/>
            </p:custDataLst>
          </p:nvPr>
        </p:nvSpPr>
        <p:spPr>
          <a:xfrm>
            <a:off x="2082073" y="2415505"/>
            <a:ext cx="692449" cy="636234"/>
          </a:xfrm>
          <a:prstGeom prst="snip1Rect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1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7" name="剪去单角的矩形 106"/>
          <p:cNvSpPr/>
          <p:nvPr>
            <p:custDataLst>
              <p:tags r:id="rId11"/>
            </p:custDataLst>
          </p:nvPr>
        </p:nvSpPr>
        <p:spPr>
          <a:xfrm>
            <a:off x="6324600" y="2415505"/>
            <a:ext cx="692449" cy="636234"/>
          </a:xfrm>
          <a:prstGeom prst="snip1Rect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2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8" name="剪去单角的矩形 107"/>
          <p:cNvSpPr/>
          <p:nvPr>
            <p:custDataLst>
              <p:tags r:id="rId12"/>
            </p:custDataLst>
          </p:nvPr>
        </p:nvSpPr>
        <p:spPr>
          <a:xfrm>
            <a:off x="2082073" y="3671328"/>
            <a:ext cx="692449" cy="636234"/>
          </a:xfrm>
          <a:prstGeom prst="snip1Rect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3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9" name="剪去单角的矩形 108"/>
          <p:cNvSpPr/>
          <p:nvPr>
            <p:custDataLst>
              <p:tags r:id="rId13"/>
            </p:custDataLst>
          </p:nvPr>
        </p:nvSpPr>
        <p:spPr>
          <a:xfrm>
            <a:off x="6324600" y="3671328"/>
            <a:ext cx="692449" cy="636234"/>
          </a:xfrm>
          <a:prstGeom prst="snip1Rect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4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4221448" y="705391"/>
            <a:ext cx="15552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333561"/>
                </a:solidFill>
                <a:latin typeface="+mj-ea"/>
                <a:ea typeface="+mj-ea"/>
              </a:rPr>
              <a:t>目 录</a:t>
            </a:r>
            <a:endParaRPr lang="zh-CN" altLang="en-US" sz="4400" dirty="0">
              <a:solidFill>
                <a:srgbClr val="333561"/>
              </a:solidFill>
              <a:latin typeface="+mj-ea"/>
              <a:ea typeface="+mj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776682" y="828501"/>
            <a:ext cx="2512226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3200" b="1" spc="300" dirty="0">
                <a:solidFill>
                  <a:srgbClr val="6CC4C4"/>
                </a:solidFill>
                <a:ea typeface="思源黑体 CN Heavy" panose="020B0A00000000000000" pitchFamily="34" charset="-122"/>
                <a:cs typeface="+mn-ea"/>
                <a:sym typeface="+mn-lt"/>
              </a:rPr>
              <a:t>/CONTENT</a:t>
            </a:r>
            <a:endParaRPr lang="zh-CN" altLang="en-US" sz="3200" b="1" spc="300" dirty="0">
              <a:solidFill>
                <a:srgbClr val="6CC4C4"/>
              </a:solidFill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5731575" y="5424196"/>
            <a:ext cx="729210" cy="90214"/>
            <a:chOff x="5773041" y="5614193"/>
            <a:chExt cx="1026547" cy="127000"/>
          </a:xfrm>
        </p:grpSpPr>
        <p:sp>
          <p:nvSpPr>
            <p:cNvPr id="113" name="椭圆 112"/>
            <p:cNvSpPr/>
            <p:nvPr/>
          </p:nvSpPr>
          <p:spPr>
            <a:xfrm>
              <a:off x="5773041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6222816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6672589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 52"/>
          <p:cNvSpPr/>
          <p:nvPr/>
        </p:nvSpPr>
        <p:spPr bwMode="auto">
          <a:xfrm flipH="1">
            <a:off x="0" y="4566259"/>
            <a:ext cx="1645680" cy="2291741"/>
          </a:xfrm>
          <a:custGeom>
            <a:avLst/>
            <a:gdLst>
              <a:gd name="connsiteX0" fmla="*/ 1645680 w 1645680"/>
              <a:gd name="connsiteY0" fmla="*/ 0 h 2291741"/>
              <a:gd name="connsiteX1" fmla="*/ 1645680 w 1645680"/>
              <a:gd name="connsiteY1" fmla="*/ 2291741 h 2291741"/>
              <a:gd name="connsiteX2" fmla="*/ 0 w 1645680"/>
              <a:gd name="connsiteY2" fmla="*/ 2291741 h 2291741"/>
              <a:gd name="connsiteX3" fmla="*/ 4068 w 1645680"/>
              <a:gd name="connsiteY3" fmla="*/ 2274870 h 2291741"/>
              <a:gd name="connsiteX4" fmla="*/ 1020507 w 1645680"/>
              <a:gd name="connsiteY4" fmla="*/ 261654 h 2291741"/>
              <a:gd name="connsiteX5" fmla="*/ 1611746 w 1645680"/>
              <a:gd name="connsiteY5" fmla="*/ 18804 h 229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5680" h="2291741">
                <a:moveTo>
                  <a:pt x="1645680" y="0"/>
                </a:moveTo>
                <a:lnTo>
                  <a:pt x="1645680" y="2291741"/>
                </a:lnTo>
                <a:lnTo>
                  <a:pt x="0" y="2291741"/>
                </a:lnTo>
                <a:lnTo>
                  <a:pt x="4068" y="2274870"/>
                </a:lnTo>
                <a:cubicBezTo>
                  <a:pt x="151914" y="1314436"/>
                  <a:pt x="-5172" y="427882"/>
                  <a:pt x="1020507" y="261654"/>
                </a:cubicBezTo>
                <a:cubicBezTo>
                  <a:pt x="1179904" y="233949"/>
                  <a:pt x="1427661" y="117935"/>
                  <a:pt x="1611746" y="188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96" name="Freeform 45"/>
          <p:cNvSpPr/>
          <p:nvPr/>
        </p:nvSpPr>
        <p:spPr bwMode="auto">
          <a:xfrm>
            <a:off x="-2013567" y="-689848"/>
            <a:ext cx="5755839" cy="3484722"/>
          </a:xfrm>
          <a:custGeom>
            <a:avLst/>
            <a:gdLst>
              <a:gd name="T0" fmla="*/ 0 w 623"/>
              <a:gd name="T1" fmla="*/ 369 h 377"/>
              <a:gd name="T2" fmla="*/ 219 w 623"/>
              <a:gd name="T3" fmla="*/ 285 h 377"/>
              <a:gd name="T4" fmla="*/ 363 w 623"/>
              <a:gd name="T5" fmla="*/ 125 h 377"/>
              <a:gd name="T6" fmla="*/ 606 w 623"/>
              <a:gd name="T7" fmla="*/ 0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3" h="377">
                <a:moveTo>
                  <a:pt x="0" y="369"/>
                </a:moveTo>
                <a:cubicBezTo>
                  <a:pt x="31" y="373"/>
                  <a:pt x="164" y="377"/>
                  <a:pt x="219" y="285"/>
                </a:cubicBezTo>
                <a:cubicBezTo>
                  <a:pt x="274" y="193"/>
                  <a:pt x="235" y="107"/>
                  <a:pt x="363" y="125"/>
                </a:cubicBezTo>
                <a:cubicBezTo>
                  <a:pt x="492" y="142"/>
                  <a:pt x="623" y="100"/>
                  <a:pt x="606" y="0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7" name="Freeform 46"/>
          <p:cNvSpPr/>
          <p:nvPr/>
        </p:nvSpPr>
        <p:spPr bwMode="auto">
          <a:xfrm>
            <a:off x="-2310139" y="-947397"/>
            <a:ext cx="5748034" cy="3484722"/>
          </a:xfrm>
          <a:custGeom>
            <a:avLst/>
            <a:gdLst>
              <a:gd name="T0" fmla="*/ 0 w 622"/>
              <a:gd name="T1" fmla="*/ 369 h 377"/>
              <a:gd name="T2" fmla="*/ 219 w 622"/>
              <a:gd name="T3" fmla="*/ 285 h 377"/>
              <a:gd name="T4" fmla="*/ 363 w 622"/>
              <a:gd name="T5" fmla="*/ 125 h 377"/>
              <a:gd name="T6" fmla="*/ 606 w 622"/>
              <a:gd name="T7" fmla="*/ 0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2" h="377">
                <a:moveTo>
                  <a:pt x="0" y="369"/>
                </a:moveTo>
                <a:cubicBezTo>
                  <a:pt x="31" y="373"/>
                  <a:pt x="164" y="377"/>
                  <a:pt x="219" y="285"/>
                </a:cubicBezTo>
                <a:cubicBezTo>
                  <a:pt x="273" y="193"/>
                  <a:pt x="235" y="107"/>
                  <a:pt x="363" y="125"/>
                </a:cubicBezTo>
                <a:cubicBezTo>
                  <a:pt x="491" y="142"/>
                  <a:pt x="622" y="100"/>
                  <a:pt x="606" y="0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9" name="组合 98"/>
          <p:cNvGrpSpPr/>
          <p:nvPr/>
        </p:nvGrpSpPr>
        <p:grpSpPr>
          <a:xfrm>
            <a:off x="492517" y="4242210"/>
            <a:ext cx="3018280" cy="2887193"/>
            <a:chOff x="-109263" y="3977258"/>
            <a:chExt cx="3593985" cy="3437895"/>
          </a:xfrm>
          <a:solidFill>
            <a:srgbClr val="C4E0E6"/>
          </a:solidFill>
        </p:grpSpPr>
        <p:sp>
          <p:nvSpPr>
            <p:cNvPr id="100" name="Freeform 48"/>
            <p:cNvSpPr/>
            <p:nvPr/>
          </p:nvSpPr>
          <p:spPr bwMode="auto">
            <a:xfrm>
              <a:off x="2118930" y="5901073"/>
              <a:ext cx="698506" cy="772648"/>
            </a:xfrm>
            <a:custGeom>
              <a:avLst/>
              <a:gdLst>
                <a:gd name="T0" fmla="*/ 14 w 76"/>
                <a:gd name="T1" fmla="*/ 68 h 84"/>
                <a:gd name="T2" fmla="*/ 40 w 76"/>
                <a:gd name="T3" fmla="*/ 16 h 84"/>
                <a:gd name="T4" fmla="*/ 14 w 76"/>
                <a:gd name="T5" fmla="*/ 6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84">
                  <a:moveTo>
                    <a:pt x="14" y="68"/>
                  </a:moveTo>
                  <a:cubicBezTo>
                    <a:pt x="19" y="63"/>
                    <a:pt x="76" y="0"/>
                    <a:pt x="40" y="16"/>
                  </a:cubicBezTo>
                  <a:cubicBezTo>
                    <a:pt x="5" y="32"/>
                    <a:pt x="0" y="84"/>
                    <a:pt x="1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9"/>
            <p:cNvSpPr/>
            <p:nvPr/>
          </p:nvSpPr>
          <p:spPr bwMode="auto">
            <a:xfrm>
              <a:off x="1034101" y="6205449"/>
              <a:ext cx="776551" cy="819475"/>
            </a:xfrm>
            <a:custGeom>
              <a:avLst/>
              <a:gdLst>
                <a:gd name="T0" fmla="*/ 19 w 84"/>
                <a:gd name="T1" fmla="*/ 68 h 89"/>
                <a:gd name="T2" fmla="*/ 46 w 84"/>
                <a:gd name="T3" fmla="*/ 9 h 89"/>
                <a:gd name="T4" fmla="*/ 19 w 84"/>
                <a:gd name="T5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9">
                  <a:moveTo>
                    <a:pt x="19" y="68"/>
                  </a:moveTo>
                  <a:cubicBezTo>
                    <a:pt x="24" y="63"/>
                    <a:pt x="84" y="0"/>
                    <a:pt x="46" y="9"/>
                  </a:cubicBezTo>
                  <a:cubicBezTo>
                    <a:pt x="8" y="18"/>
                    <a:pt x="0" y="89"/>
                    <a:pt x="19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51"/>
            <p:cNvSpPr/>
            <p:nvPr/>
          </p:nvSpPr>
          <p:spPr bwMode="auto">
            <a:xfrm>
              <a:off x="1923817" y="5030869"/>
              <a:ext cx="515099" cy="940447"/>
            </a:xfrm>
            <a:custGeom>
              <a:avLst/>
              <a:gdLst>
                <a:gd name="T0" fmla="*/ 43 w 56"/>
                <a:gd name="T1" fmla="*/ 77 h 102"/>
                <a:gd name="T2" fmla="*/ 28 w 56"/>
                <a:gd name="T3" fmla="*/ 39 h 102"/>
                <a:gd name="T4" fmla="*/ 43 w 56"/>
                <a:gd name="T5" fmla="*/ 7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102">
                  <a:moveTo>
                    <a:pt x="43" y="77"/>
                  </a:moveTo>
                  <a:cubicBezTo>
                    <a:pt x="48" y="74"/>
                    <a:pt x="56" y="0"/>
                    <a:pt x="28" y="39"/>
                  </a:cubicBezTo>
                  <a:cubicBezTo>
                    <a:pt x="0" y="79"/>
                    <a:pt x="3" y="102"/>
                    <a:pt x="43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52"/>
            <p:cNvSpPr/>
            <p:nvPr/>
          </p:nvSpPr>
          <p:spPr bwMode="auto">
            <a:xfrm>
              <a:off x="159994" y="5901073"/>
              <a:ext cx="932642" cy="811671"/>
            </a:xfrm>
            <a:custGeom>
              <a:avLst/>
              <a:gdLst>
                <a:gd name="T0" fmla="*/ 22 w 101"/>
                <a:gd name="T1" fmla="*/ 59 h 88"/>
                <a:gd name="T2" fmla="*/ 67 w 101"/>
                <a:gd name="T3" fmla="*/ 2 h 88"/>
                <a:gd name="T4" fmla="*/ 22 w 101"/>
                <a:gd name="T5" fmla="*/ 5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1" h="88">
                  <a:moveTo>
                    <a:pt x="22" y="59"/>
                  </a:moveTo>
                  <a:cubicBezTo>
                    <a:pt x="22" y="59"/>
                    <a:pt x="101" y="3"/>
                    <a:pt x="67" y="2"/>
                  </a:cubicBezTo>
                  <a:cubicBezTo>
                    <a:pt x="33" y="0"/>
                    <a:pt x="0" y="88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53"/>
            <p:cNvSpPr/>
            <p:nvPr/>
          </p:nvSpPr>
          <p:spPr bwMode="auto">
            <a:xfrm>
              <a:off x="1268237" y="4363581"/>
              <a:ext cx="776551" cy="936543"/>
            </a:xfrm>
            <a:custGeom>
              <a:avLst/>
              <a:gdLst>
                <a:gd name="T0" fmla="*/ 34 w 84"/>
                <a:gd name="T1" fmla="*/ 80 h 101"/>
                <a:gd name="T2" fmla="*/ 51 w 84"/>
                <a:gd name="T3" fmla="*/ 28 h 101"/>
                <a:gd name="T4" fmla="*/ 34 w 84"/>
                <a:gd name="T5" fmla="*/ 8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01">
                  <a:moveTo>
                    <a:pt x="34" y="80"/>
                  </a:moveTo>
                  <a:cubicBezTo>
                    <a:pt x="38" y="77"/>
                    <a:pt x="84" y="0"/>
                    <a:pt x="51" y="28"/>
                  </a:cubicBezTo>
                  <a:cubicBezTo>
                    <a:pt x="19" y="55"/>
                    <a:pt x="0" y="101"/>
                    <a:pt x="34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54"/>
            <p:cNvSpPr/>
            <p:nvPr/>
          </p:nvSpPr>
          <p:spPr bwMode="auto">
            <a:xfrm>
              <a:off x="222431" y="6646406"/>
              <a:ext cx="702407" cy="768747"/>
            </a:xfrm>
            <a:custGeom>
              <a:avLst/>
              <a:gdLst>
                <a:gd name="T0" fmla="*/ 20 w 76"/>
                <a:gd name="T1" fmla="*/ 60 h 83"/>
                <a:gd name="T2" fmla="*/ 51 w 76"/>
                <a:gd name="T3" fmla="*/ 3 h 83"/>
                <a:gd name="T4" fmla="*/ 20 w 76"/>
                <a:gd name="T5" fmla="*/ 6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83">
                  <a:moveTo>
                    <a:pt x="20" y="60"/>
                  </a:moveTo>
                  <a:cubicBezTo>
                    <a:pt x="24" y="56"/>
                    <a:pt x="76" y="0"/>
                    <a:pt x="51" y="3"/>
                  </a:cubicBezTo>
                  <a:cubicBezTo>
                    <a:pt x="26" y="7"/>
                    <a:pt x="0" y="83"/>
                    <a:pt x="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56"/>
            <p:cNvSpPr/>
            <p:nvPr/>
          </p:nvSpPr>
          <p:spPr bwMode="auto">
            <a:xfrm>
              <a:off x="538513" y="5011357"/>
              <a:ext cx="487784" cy="682897"/>
            </a:xfrm>
            <a:custGeom>
              <a:avLst/>
              <a:gdLst>
                <a:gd name="T0" fmla="*/ 24 w 53"/>
                <a:gd name="T1" fmla="*/ 41 h 74"/>
                <a:gd name="T2" fmla="*/ 34 w 53"/>
                <a:gd name="T3" fmla="*/ 4 h 74"/>
                <a:gd name="T4" fmla="*/ 24 w 53"/>
                <a:gd name="T5" fmla="*/ 4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74">
                  <a:moveTo>
                    <a:pt x="24" y="41"/>
                  </a:moveTo>
                  <a:cubicBezTo>
                    <a:pt x="24" y="41"/>
                    <a:pt x="53" y="7"/>
                    <a:pt x="34" y="4"/>
                  </a:cubicBezTo>
                  <a:cubicBezTo>
                    <a:pt x="16" y="0"/>
                    <a:pt x="0" y="74"/>
                    <a:pt x="2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57"/>
            <p:cNvSpPr/>
            <p:nvPr/>
          </p:nvSpPr>
          <p:spPr bwMode="auto">
            <a:xfrm>
              <a:off x="952153" y="3977258"/>
              <a:ext cx="998979" cy="667288"/>
            </a:xfrm>
            <a:custGeom>
              <a:avLst/>
              <a:gdLst>
                <a:gd name="T0" fmla="*/ 54 w 108"/>
                <a:gd name="T1" fmla="*/ 49 h 72"/>
                <a:gd name="T2" fmla="*/ 85 w 108"/>
                <a:gd name="T3" fmla="*/ 6 h 72"/>
                <a:gd name="T4" fmla="*/ 54 w 108"/>
                <a:gd name="T5" fmla="*/ 49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72">
                  <a:moveTo>
                    <a:pt x="54" y="49"/>
                  </a:moveTo>
                  <a:cubicBezTo>
                    <a:pt x="57" y="48"/>
                    <a:pt x="108" y="12"/>
                    <a:pt x="85" y="6"/>
                  </a:cubicBezTo>
                  <a:cubicBezTo>
                    <a:pt x="61" y="0"/>
                    <a:pt x="0" y="72"/>
                    <a:pt x="54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58"/>
            <p:cNvSpPr/>
            <p:nvPr/>
          </p:nvSpPr>
          <p:spPr bwMode="auto">
            <a:xfrm>
              <a:off x="1958936" y="4632838"/>
              <a:ext cx="546317" cy="581438"/>
            </a:xfrm>
            <a:custGeom>
              <a:avLst/>
              <a:gdLst>
                <a:gd name="T0" fmla="*/ 15 w 59"/>
                <a:gd name="T1" fmla="*/ 48 h 63"/>
                <a:gd name="T2" fmla="*/ 43 w 59"/>
                <a:gd name="T3" fmla="*/ 3 h 63"/>
                <a:gd name="T4" fmla="*/ 15 w 59"/>
                <a:gd name="T5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63">
                  <a:moveTo>
                    <a:pt x="15" y="48"/>
                  </a:moveTo>
                  <a:cubicBezTo>
                    <a:pt x="22" y="41"/>
                    <a:pt x="59" y="0"/>
                    <a:pt x="43" y="3"/>
                  </a:cubicBezTo>
                  <a:cubicBezTo>
                    <a:pt x="27" y="5"/>
                    <a:pt x="0" y="63"/>
                    <a:pt x="15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59"/>
            <p:cNvSpPr/>
            <p:nvPr/>
          </p:nvSpPr>
          <p:spPr bwMode="auto">
            <a:xfrm>
              <a:off x="2809630" y="4909898"/>
              <a:ext cx="519002" cy="565829"/>
            </a:xfrm>
            <a:custGeom>
              <a:avLst/>
              <a:gdLst>
                <a:gd name="T0" fmla="*/ 17 w 56"/>
                <a:gd name="T1" fmla="*/ 41 h 61"/>
                <a:gd name="T2" fmla="*/ 34 w 56"/>
                <a:gd name="T3" fmla="*/ 6 h 61"/>
                <a:gd name="T4" fmla="*/ 17 w 56"/>
                <a:gd name="T5" fmla="*/ 4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61">
                  <a:moveTo>
                    <a:pt x="17" y="41"/>
                  </a:moveTo>
                  <a:cubicBezTo>
                    <a:pt x="17" y="41"/>
                    <a:pt x="56" y="0"/>
                    <a:pt x="34" y="6"/>
                  </a:cubicBezTo>
                  <a:cubicBezTo>
                    <a:pt x="13" y="12"/>
                    <a:pt x="0" y="61"/>
                    <a:pt x="17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60"/>
            <p:cNvSpPr/>
            <p:nvPr/>
          </p:nvSpPr>
          <p:spPr bwMode="auto">
            <a:xfrm>
              <a:off x="2540375" y="6314712"/>
              <a:ext cx="444858" cy="554121"/>
            </a:xfrm>
            <a:custGeom>
              <a:avLst/>
              <a:gdLst>
                <a:gd name="T0" fmla="*/ 16 w 48"/>
                <a:gd name="T1" fmla="*/ 39 h 60"/>
                <a:gd name="T2" fmla="*/ 31 w 48"/>
                <a:gd name="T3" fmla="*/ 11 h 60"/>
                <a:gd name="T4" fmla="*/ 16 w 48"/>
                <a:gd name="T5" fmla="*/ 3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0">
                  <a:moveTo>
                    <a:pt x="16" y="39"/>
                  </a:moveTo>
                  <a:cubicBezTo>
                    <a:pt x="16" y="39"/>
                    <a:pt x="48" y="0"/>
                    <a:pt x="31" y="11"/>
                  </a:cubicBezTo>
                  <a:cubicBezTo>
                    <a:pt x="14" y="21"/>
                    <a:pt x="0" y="60"/>
                    <a:pt x="16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64"/>
            <p:cNvSpPr/>
            <p:nvPr/>
          </p:nvSpPr>
          <p:spPr bwMode="auto">
            <a:xfrm>
              <a:off x="2950111" y="5592795"/>
              <a:ext cx="534611" cy="491685"/>
            </a:xfrm>
            <a:custGeom>
              <a:avLst/>
              <a:gdLst>
                <a:gd name="T0" fmla="*/ 19 w 58"/>
                <a:gd name="T1" fmla="*/ 34 h 53"/>
                <a:gd name="T2" fmla="*/ 35 w 58"/>
                <a:gd name="T3" fmla="*/ 4 h 53"/>
                <a:gd name="T4" fmla="*/ 19 w 58"/>
                <a:gd name="T5" fmla="*/ 3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53">
                  <a:moveTo>
                    <a:pt x="19" y="34"/>
                  </a:moveTo>
                  <a:cubicBezTo>
                    <a:pt x="19" y="34"/>
                    <a:pt x="58" y="0"/>
                    <a:pt x="35" y="4"/>
                  </a:cubicBezTo>
                  <a:cubicBezTo>
                    <a:pt x="13" y="8"/>
                    <a:pt x="0" y="53"/>
                    <a:pt x="19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65"/>
            <p:cNvSpPr/>
            <p:nvPr/>
          </p:nvSpPr>
          <p:spPr bwMode="auto">
            <a:xfrm>
              <a:off x="1350183" y="5491336"/>
              <a:ext cx="386325" cy="546317"/>
            </a:xfrm>
            <a:custGeom>
              <a:avLst/>
              <a:gdLst>
                <a:gd name="T0" fmla="*/ 9 w 42"/>
                <a:gd name="T1" fmla="*/ 46 h 59"/>
                <a:gd name="T2" fmla="*/ 25 w 42"/>
                <a:gd name="T3" fmla="*/ 14 h 59"/>
                <a:gd name="T4" fmla="*/ 9 w 42"/>
                <a:gd name="T5" fmla="*/ 4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59">
                  <a:moveTo>
                    <a:pt x="9" y="46"/>
                  </a:moveTo>
                  <a:cubicBezTo>
                    <a:pt x="11" y="44"/>
                    <a:pt x="42" y="0"/>
                    <a:pt x="25" y="14"/>
                  </a:cubicBezTo>
                  <a:cubicBezTo>
                    <a:pt x="7" y="28"/>
                    <a:pt x="0" y="59"/>
                    <a:pt x="9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66"/>
            <p:cNvSpPr/>
            <p:nvPr/>
          </p:nvSpPr>
          <p:spPr bwMode="auto">
            <a:xfrm>
              <a:off x="175604" y="5659132"/>
              <a:ext cx="398031" cy="417543"/>
            </a:xfrm>
            <a:custGeom>
              <a:avLst/>
              <a:gdLst>
                <a:gd name="T0" fmla="*/ 13 w 43"/>
                <a:gd name="T1" fmla="*/ 28 h 45"/>
                <a:gd name="T2" fmla="*/ 27 w 43"/>
                <a:gd name="T3" fmla="*/ 5 h 45"/>
                <a:gd name="T4" fmla="*/ 13 w 43"/>
                <a:gd name="T5" fmla="*/ 2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45">
                  <a:moveTo>
                    <a:pt x="13" y="28"/>
                  </a:moveTo>
                  <a:cubicBezTo>
                    <a:pt x="15" y="25"/>
                    <a:pt x="43" y="0"/>
                    <a:pt x="27" y="5"/>
                  </a:cubicBezTo>
                  <a:cubicBezTo>
                    <a:pt x="11" y="9"/>
                    <a:pt x="0" y="45"/>
                    <a:pt x="1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67"/>
            <p:cNvSpPr/>
            <p:nvPr/>
          </p:nvSpPr>
          <p:spPr bwMode="auto">
            <a:xfrm>
              <a:off x="682898" y="4410408"/>
              <a:ext cx="370716" cy="378521"/>
            </a:xfrm>
            <a:custGeom>
              <a:avLst/>
              <a:gdLst>
                <a:gd name="T0" fmla="*/ 16 w 40"/>
                <a:gd name="T1" fmla="*/ 28 h 41"/>
                <a:gd name="T2" fmla="*/ 27 w 40"/>
                <a:gd name="T3" fmla="*/ 4 h 41"/>
                <a:gd name="T4" fmla="*/ 16 w 40"/>
                <a:gd name="T5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41">
                  <a:moveTo>
                    <a:pt x="16" y="28"/>
                  </a:moveTo>
                  <a:cubicBezTo>
                    <a:pt x="19" y="26"/>
                    <a:pt x="40" y="0"/>
                    <a:pt x="27" y="4"/>
                  </a:cubicBezTo>
                  <a:cubicBezTo>
                    <a:pt x="13" y="8"/>
                    <a:pt x="0" y="41"/>
                    <a:pt x="1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71"/>
            <p:cNvSpPr/>
            <p:nvPr/>
          </p:nvSpPr>
          <p:spPr bwMode="auto">
            <a:xfrm>
              <a:off x="-109263" y="6342029"/>
              <a:ext cx="339498" cy="378521"/>
            </a:xfrm>
            <a:custGeom>
              <a:avLst/>
              <a:gdLst>
                <a:gd name="T0" fmla="*/ 9 w 37"/>
                <a:gd name="T1" fmla="*/ 27 h 41"/>
                <a:gd name="T2" fmla="*/ 21 w 37"/>
                <a:gd name="T3" fmla="*/ 1 h 41"/>
                <a:gd name="T4" fmla="*/ 9 w 37"/>
                <a:gd name="T5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41">
                  <a:moveTo>
                    <a:pt x="9" y="27"/>
                  </a:moveTo>
                  <a:cubicBezTo>
                    <a:pt x="10" y="26"/>
                    <a:pt x="37" y="1"/>
                    <a:pt x="21" y="1"/>
                  </a:cubicBezTo>
                  <a:cubicBezTo>
                    <a:pt x="5" y="0"/>
                    <a:pt x="0" y="41"/>
                    <a:pt x="9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6" name="任意多边形 115"/>
          <p:cNvSpPr/>
          <p:nvPr/>
        </p:nvSpPr>
        <p:spPr bwMode="auto">
          <a:xfrm>
            <a:off x="8840267" y="0"/>
            <a:ext cx="3351733" cy="2584248"/>
          </a:xfrm>
          <a:custGeom>
            <a:avLst/>
            <a:gdLst>
              <a:gd name="connsiteX0" fmla="*/ 0 w 3351733"/>
              <a:gd name="connsiteY0" fmla="*/ 0 h 2584248"/>
              <a:gd name="connsiteX1" fmla="*/ 3351733 w 3351733"/>
              <a:gd name="connsiteY1" fmla="*/ 0 h 2584248"/>
              <a:gd name="connsiteX2" fmla="*/ 3351733 w 3351733"/>
              <a:gd name="connsiteY2" fmla="*/ 2584248 h 2584248"/>
              <a:gd name="connsiteX3" fmla="*/ 3347561 w 3351733"/>
              <a:gd name="connsiteY3" fmla="*/ 2582757 h 2584248"/>
              <a:gd name="connsiteX4" fmla="*/ 1324165 w 3351733"/>
              <a:gd name="connsiteY4" fmla="*/ 1390972 h 2584248"/>
              <a:gd name="connsiteX5" fmla="*/ 183548 w 3351733"/>
              <a:gd name="connsiteY5" fmla="*/ 48041 h 258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1733" h="2584248">
                <a:moveTo>
                  <a:pt x="0" y="0"/>
                </a:moveTo>
                <a:lnTo>
                  <a:pt x="3351733" y="0"/>
                </a:lnTo>
                <a:lnTo>
                  <a:pt x="3351733" y="2584248"/>
                </a:lnTo>
                <a:lnTo>
                  <a:pt x="3347561" y="2582757"/>
                </a:lnTo>
                <a:cubicBezTo>
                  <a:pt x="2091023" y="2222450"/>
                  <a:pt x="1333404" y="2240927"/>
                  <a:pt x="1324165" y="1390972"/>
                </a:cubicBezTo>
                <a:cubicBezTo>
                  <a:pt x="1306841" y="602800"/>
                  <a:pt x="1127109" y="309942"/>
                  <a:pt x="183548" y="4804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17" name="剪去单角的矩形 116"/>
          <p:cNvSpPr/>
          <p:nvPr/>
        </p:nvSpPr>
        <p:spPr>
          <a:xfrm>
            <a:off x="5693299" y="1655391"/>
            <a:ext cx="809453" cy="809453"/>
          </a:xfrm>
          <a:prstGeom prst="snip1Rect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rgbClr val="FBFBFB"/>
                </a:solidFill>
              </a:rPr>
              <a:t>1</a:t>
            </a:r>
            <a:endParaRPr lang="zh-CN" altLang="en-US" sz="4800" b="1" dirty="0">
              <a:solidFill>
                <a:srgbClr val="FBFBFB"/>
              </a:solidFill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4406385" y="2722409"/>
            <a:ext cx="33832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accent1"/>
                </a:solidFill>
                <a:latin typeface="+mj-ea"/>
                <a:ea typeface="+mj-ea"/>
              </a:rPr>
              <a:t>问题定义</a:t>
            </a:r>
            <a:endParaRPr lang="zh-CN" altLang="en-US" sz="6000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5731575" y="5424196"/>
            <a:ext cx="729210" cy="90214"/>
            <a:chOff x="5773041" y="5614193"/>
            <a:chExt cx="1026547" cy="127000"/>
          </a:xfrm>
        </p:grpSpPr>
        <p:sp>
          <p:nvSpPr>
            <p:cNvPr id="125" name="椭圆 124"/>
            <p:cNvSpPr/>
            <p:nvPr/>
          </p:nvSpPr>
          <p:spPr>
            <a:xfrm>
              <a:off x="5773041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6222816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6672589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8" name="Freeform 8"/>
          <p:cNvSpPr/>
          <p:nvPr/>
        </p:nvSpPr>
        <p:spPr bwMode="auto">
          <a:xfrm rot="6250221" flipH="1">
            <a:off x="9018209" y="4023944"/>
            <a:ext cx="4697401" cy="2996005"/>
          </a:xfrm>
          <a:custGeom>
            <a:avLst/>
            <a:gdLst>
              <a:gd name="T0" fmla="*/ 0 w 614"/>
              <a:gd name="T1" fmla="*/ 390 h 392"/>
              <a:gd name="T2" fmla="*/ 216 w 614"/>
              <a:gd name="T3" fmla="*/ 298 h 392"/>
              <a:gd name="T4" fmla="*/ 355 w 614"/>
              <a:gd name="T5" fmla="*/ 133 h 392"/>
              <a:gd name="T6" fmla="*/ 594 w 614"/>
              <a:gd name="T7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392">
                <a:moveTo>
                  <a:pt x="0" y="390"/>
                </a:moveTo>
                <a:cubicBezTo>
                  <a:pt x="31" y="392"/>
                  <a:pt x="164" y="392"/>
                  <a:pt x="216" y="298"/>
                </a:cubicBezTo>
                <a:cubicBezTo>
                  <a:pt x="268" y="204"/>
                  <a:pt x="226" y="120"/>
                  <a:pt x="355" y="133"/>
                </a:cubicBezTo>
                <a:cubicBezTo>
                  <a:pt x="484" y="146"/>
                  <a:pt x="614" y="99"/>
                  <a:pt x="594" y="0"/>
                </a:cubicBezTo>
              </a:path>
            </a:pathLst>
          </a:custGeom>
          <a:noFill/>
          <a:ln w="12700" cap="flat">
            <a:solidFill>
              <a:srgbClr val="696177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3439"/>
            <a:ext cx="1706880" cy="52197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chemeClr val="accent1"/>
                </a:solidFill>
                <a:sym typeface="+mn-ea"/>
              </a:rPr>
              <a:t>问题定义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1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开源软件已成为现代软件开发的基础设施，据统计超过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90%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的商业软件依赖开源组件，这一比例在云计算、人工智能和大数据领域更为显著。然而，开源项目的健康状况参差不齐，选择不健康的依赖项可能带来技术债务和安全风险。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本研究旨在回答以下核心问题：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defTabSz="2667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第一，如何构建科学合理的量化指标体系来评估开源项目的健康程度？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defTabSz="2667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第二，不同生态系统的项目健康特征存在哪些显著差异？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defTabSz="2667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第三，贡献者网络结构与项目健康度之间存在何种关联？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 52"/>
          <p:cNvSpPr/>
          <p:nvPr/>
        </p:nvSpPr>
        <p:spPr bwMode="auto">
          <a:xfrm flipH="1">
            <a:off x="0" y="4566259"/>
            <a:ext cx="1645680" cy="2291741"/>
          </a:xfrm>
          <a:custGeom>
            <a:avLst/>
            <a:gdLst>
              <a:gd name="connsiteX0" fmla="*/ 1645680 w 1645680"/>
              <a:gd name="connsiteY0" fmla="*/ 0 h 2291741"/>
              <a:gd name="connsiteX1" fmla="*/ 1645680 w 1645680"/>
              <a:gd name="connsiteY1" fmla="*/ 2291741 h 2291741"/>
              <a:gd name="connsiteX2" fmla="*/ 0 w 1645680"/>
              <a:gd name="connsiteY2" fmla="*/ 2291741 h 2291741"/>
              <a:gd name="connsiteX3" fmla="*/ 4068 w 1645680"/>
              <a:gd name="connsiteY3" fmla="*/ 2274870 h 2291741"/>
              <a:gd name="connsiteX4" fmla="*/ 1020507 w 1645680"/>
              <a:gd name="connsiteY4" fmla="*/ 261654 h 2291741"/>
              <a:gd name="connsiteX5" fmla="*/ 1611746 w 1645680"/>
              <a:gd name="connsiteY5" fmla="*/ 18804 h 229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5680" h="2291741">
                <a:moveTo>
                  <a:pt x="1645680" y="0"/>
                </a:moveTo>
                <a:lnTo>
                  <a:pt x="1645680" y="2291741"/>
                </a:lnTo>
                <a:lnTo>
                  <a:pt x="0" y="2291741"/>
                </a:lnTo>
                <a:lnTo>
                  <a:pt x="4068" y="2274870"/>
                </a:lnTo>
                <a:cubicBezTo>
                  <a:pt x="151914" y="1314436"/>
                  <a:pt x="-5172" y="427882"/>
                  <a:pt x="1020507" y="261654"/>
                </a:cubicBezTo>
                <a:cubicBezTo>
                  <a:pt x="1179904" y="233949"/>
                  <a:pt x="1427661" y="117935"/>
                  <a:pt x="1611746" y="188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96" name="Freeform 45"/>
          <p:cNvSpPr/>
          <p:nvPr/>
        </p:nvSpPr>
        <p:spPr bwMode="auto">
          <a:xfrm>
            <a:off x="-2013567" y="-689848"/>
            <a:ext cx="5755839" cy="3484722"/>
          </a:xfrm>
          <a:custGeom>
            <a:avLst/>
            <a:gdLst>
              <a:gd name="T0" fmla="*/ 0 w 623"/>
              <a:gd name="T1" fmla="*/ 369 h 377"/>
              <a:gd name="T2" fmla="*/ 219 w 623"/>
              <a:gd name="T3" fmla="*/ 285 h 377"/>
              <a:gd name="T4" fmla="*/ 363 w 623"/>
              <a:gd name="T5" fmla="*/ 125 h 377"/>
              <a:gd name="T6" fmla="*/ 606 w 623"/>
              <a:gd name="T7" fmla="*/ 0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3" h="377">
                <a:moveTo>
                  <a:pt x="0" y="369"/>
                </a:moveTo>
                <a:cubicBezTo>
                  <a:pt x="31" y="373"/>
                  <a:pt x="164" y="377"/>
                  <a:pt x="219" y="285"/>
                </a:cubicBezTo>
                <a:cubicBezTo>
                  <a:pt x="274" y="193"/>
                  <a:pt x="235" y="107"/>
                  <a:pt x="363" y="125"/>
                </a:cubicBezTo>
                <a:cubicBezTo>
                  <a:pt x="492" y="142"/>
                  <a:pt x="623" y="100"/>
                  <a:pt x="606" y="0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7" name="Freeform 46"/>
          <p:cNvSpPr/>
          <p:nvPr/>
        </p:nvSpPr>
        <p:spPr bwMode="auto">
          <a:xfrm>
            <a:off x="-2310139" y="-947397"/>
            <a:ext cx="5748034" cy="3484722"/>
          </a:xfrm>
          <a:custGeom>
            <a:avLst/>
            <a:gdLst>
              <a:gd name="T0" fmla="*/ 0 w 622"/>
              <a:gd name="T1" fmla="*/ 369 h 377"/>
              <a:gd name="T2" fmla="*/ 219 w 622"/>
              <a:gd name="T3" fmla="*/ 285 h 377"/>
              <a:gd name="T4" fmla="*/ 363 w 622"/>
              <a:gd name="T5" fmla="*/ 125 h 377"/>
              <a:gd name="T6" fmla="*/ 606 w 622"/>
              <a:gd name="T7" fmla="*/ 0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2" h="377">
                <a:moveTo>
                  <a:pt x="0" y="369"/>
                </a:moveTo>
                <a:cubicBezTo>
                  <a:pt x="31" y="373"/>
                  <a:pt x="164" y="377"/>
                  <a:pt x="219" y="285"/>
                </a:cubicBezTo>
                <a:cubicBezTo>
                  <a:pt x="273" y="193"/>
                  <a:pt x="235" y="107"/>
                  <a:pt x="363" y="125"/>
                </a:cubicBezTo>
                <a:cubicBezTo>
                  <a:pt x="491" y="142"/>
                  <a:pt x="622" y="100"/>
                  <a:pt x="606" y="0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9" name="组合 98"/>
          <p:cNvGrpSpPr/>
          <p:nvPr/>
        </p:nvGrpSpPr>
        <p:grpSpPr>
          <a:xfrm>
            <a:off x="492517" y="4242210"/>
            <a:ext cx="3018280" cy="2887193"/>
            <a:chOff x="-109263" y="3977258"/>
            <a:chExt cx="3593985" cy="3437895"/>
          </a:xfrm>
          <a:solidFill>
            <a:srgbClr val="C4E0E6"/>
          </a:solidFill>
        </p:grpSpPr>
        <p:sp>
          <p:nvSpPr>
            <p:cNvPr id="100" name="Freeform 48"/>
            <p:cNvSpPr/>
            <p:nvPr/>
          </p:nvSpPr>
          <p:spPr bwMode="auto">
            <a:xfrm>
              <a:off x="2118930" y="5901073"/>
              <a:ext cx="698506" cy="772648"/>
            </a:xfrm>
            <a:custGeom>
              <a:avLst/>
              <a:gdLst>
                <a:gd name="T0" fmla="*/ 14 w 76"/>
                <a:gd name="T1" fmla="*/ 68 h 84"/>
                <a:gd name="T2" fmla="*/ 40 w 76"/>
                <a:gd name="T3" fmla="*/ 16 h 84"/>
                <a:gd name="T4" fmla="*/ 14 w 76"/>
                <a:gd name="T5" fmla="*/ 6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84">
                  <a:moveTo>
                    <a:pt x="14" y="68"/>
                  </a:moveTo>
                  <a:cubicBezTo>
                    <a:pt x="19" y="63"/>
                    <a:pt x="76" y="0"/>
                    <a:pt x="40" y="16"/>
                  </a:cubicBezTo>
                  <a:cubicBezTo>
                    <a:pt x="5" y="32"/>
                    <a:pt x="0" y="84"/>
                    <a:pt x="1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9"/>
            <p:cNvSpPr/>
            <p:nvPr/>
          </p:nvSpPr>
          <p:spPr bwMode="auto">
            <a:xfrm>
              <a:off x="1034101" y="6205449"/>
              <a:ext cx="776551" cy="819475"/>
            </a:xfrm>
            <a:custGeom>
              <a:avLst/>
              <a:gdLst>
                <a:gd name="T0" fmla="*/ 19 w 84"/>
                <a:gd name="T1" fmla="*/ 68 h 89"/>
                <a:gd name="T2" fmla="*/ 46 w 84"/>
                <a:gd name="T3" fmla="*/ 9 h 89"/>
                <a:gd name="T4" fmla="*/ 19 w 84"/>
                <a:gd name="T5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9">
                  <a:moveTo>
                    <a:pt x="19" y="68"/>
                  </a:moveTo>
                  <a:cubicBezTo>
                    <a:pt x="24" y="63"/>
                    <a:pt x="84" y="0"/>
                    <a:pt x="46" y="9"/>
                  </a:cubicBezTo>
                  <a:cubicBezTo>
                    <a:pt x="8" y="18"/>
                    <a:pt x="0" y="89"/>
                    <a:pt x="19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51"/>
            <p:cNvSpPr/>
            <p:nvPr/>
          </p:nvSpPr>
          <p:spPr bwMode="auto">
            <a:xfrm>
              <a:off x="1923817" y="5030869"/>
              <a:ext cx="515099" cy="940447"/>
            </a:xfrm>
            <a:custGeom>
              <a:avLst/>
              <a:gdLst>
                <a:gd name="T0" fmla="*/ 43 w 56"/>
                <a:gd name="T1" fmla="*/ 77 h 102"/>
                <a:gd name="T2" fmla="*/ 28 w 56"/>
                <a:gd name="T3" fmla="*/ 39 h 102"/>
                <a:gd name="T4" fmla="*/ 43 w 56"/>
                <a:gd name="T5" fmla="*/ 7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102">
                  <a:moveTo>
                    <a:pt x="43" y="77"/>
                  </a:moveTo>
                  <a:cubicBezTo>
                    <a:pt x="48" y="74"/>
                    <a:pt x="56" y="0"/>
                    <a:pt x="28" y="39"/>
                  </a:cubicBezTo>
                  <a:cubicBezTo>
                    <a:pt x="0" y="79"/>
                    <a:pt x="3" y="102"/>
                    <a:pt x="43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52"/>
            <p:cNvSpPr/>
            <p:nvPr/>
          </p:nvSpPr>
          <p:spPr bwMode="auto">
            <a:xfrm>
              <a:off x="159994" y="5901073"/>
              <a:ext cx="932642" cy="811671"/>
            </a:xfrm>
            <a:custGeom>
              <a:avLst/>
              <a:gdLst>
                <a:gd name="T0" fmla="*/ 22 w 101"/>
                <a:gd name="T1" fmla="*/ 59 h 88"/>
                <a:gd name="T2" fmla="*/ 67 w 101"/>
                <a:gd name="T3" fmla="*/ 2 h 88"/>
                <a:gd name="T4" fmla="*/ 22 w 101"/>
                <a:gd name="T5" fmla="*/ 5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1" h="88">
                  <a:moveTo>
                    <a:pt x="22" y="59"/>
                  </a:moveTo>
                  <a:cubicBezTo>
                    <a:pt x="22" y="59"/>
                    <a:pt x="101" y="3"/>
                    <a:pt x="67" y="2"/>
                  </a:cubicBezTo>
                  <a:cubicBezTo>
                    <a:pt x="33" y="0"/>
                    <a:pt x="0" y="88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53"/>
            <p:cNvSpPr/>
            <p:nvPr/>
          </p:nvSpPr>
          <p:spPr bwMode="auto">
            <a:xfrm>
              <a:off x="1268237" y="4363581"/>
              <a:ext cx="776551" cy="936543"/>
            </a:xfrm>
            <a:custGeom>
              <a:avLst/>
              <a:gdLst>
                <a:gd name="T0" fmla="*/ 34 w 84"/>
                <a:gd name="T1" fmla="*/ 80 h 101"/>
                <a:gd name="T2" fmla="*/ 51 w 84"/>
                <a:gd name="T3" fmla="*/ 28 h 101"/>
                <a:gd name="T4" fmla="*/ 34 w 84"/>
                <a:gd name="T5" fmla="*/ 8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01">
                  <a:moveTo>
                    <a:pt x="34" y="80"/>
                  </a:moveTo>
                  <a:cubicBezTo>
                    <a:pt x="38" y="77"/>
                    <a:pt x="84" y="0"/>
                    <a:pt x="51" y="28"/>
                  </a:cubicBezTo>
                  <a:cubicBezTo>
                    <a:pt x="19" y="55"/>
                    <a:pt x="0" y="101"/>
                    <a:pt x="34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54"/>
            <p:cNvSpPr/>
            <p:nvPr/>
          </p:nvSpPr>
          <p:spPr bwMode="auto">
            <a:xfrm>
              <a:off x="222431" y="6646406"/>
              <a:ext cx="702407" cy="768747"/>
            </a:xfrm>
            <a:custGeom>
              <a:avLst/>
              <a:gdLst>
                <a:gd name="T0" fmla="*/ 20 w 76"/>
                <a:gd name="T1" fmla="*/ 60 h 83"/>
                <a:gd name="T2" fmla="*/ 51 w 76"/>
                <a:gd name="T3" fmla="*/ 3 h 83"/>
                <a:gd name="T4" fmla="*/ 20 w 76"/>
                <a:gd name="T5" fmla="*/ 6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83">
                  <a:moveTo>
                    <a:pt x="20" y="60"/>
                  </a:moveTo>
                  <a:cubicBezTo>
                    <a:pt x="24" y="56"/>
                    <a:pt x="76" y="0"/>
                    <a:pt x="51" y="3"/>
                  </a:cubicBezTo>
                  <a:cubicBezTo>
                    <a:pt x="26" y="7"/>
                    <a:pt x="0" y="83"/>
                    <a:pt x="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56"/>
            <p:cNvSpPr/>
            <p:nvPr/>
          </p:nvSpPr>
          <p:spPr bwMode="auto">
            <a:xfrm>
              <a:off x="538513" y="5011357"/>
              <a:ext cx="487784" cy="682897"/>
            </a:xfrm>
            <a:custGeom>
              <a:avLst/>
              <a:gdLst>
                <a:gd name="T0" fmla="*/ 24 w 53"/>
                <a:gd name="T1" fmla="*/ 41 h 74"/>
                <a:gd name="T2" fmla="*/ 34 w 53"/>
                <a:gd name="T3" fmla="*/ 4 h 74"/>
                <a:gd name="T4" fmla="*/ 24 w 53"/>
                <a:gd name="T5" fmla="*/ 4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74">
                  <a:moveTo>
                    <a:pt x="24" y="41"/>
                  </a:moveTo>
                  <a:cubicBezTo>
                    <a:pt x="24" y="41"/>
                    <a:pt x="53" y="7"/>
                    <a:pt x="34" y="4"/>
                  </a:cubicBezTo>
                  <a:cubicBezTo>
                    <a:pt x="16" y="0"/>
                    <a:pt x="0" y="74"/>
                    <a:pt x="2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57"/>
            <p:cNvSpPr/>
            <p:nvPr/>
          </p:nvSpPr>
          <p:spPr bwMode="auto">
            <a:xfrm>
              <a:off x="952153" y="3977258"/>
              <a:ext cx="998979" cy="667288"/>
            </a:xfrm>
            <a:custGeom>
              <a:avLst/>
              <a:gdLst>
                <a:gd name="T0" fmla="*/ 54 w 108"/>
                <a:gd name="T1" fmla="*/ 49 h 72"/>
                <a:gd name="T2" fmla="*/ 85 w 108"/>
                <a:gd name="T3" fmla="*/ 6 h 72"/>
                <a:gd name="T4" fmla="*/ 54 w 108"/>
                <a:gd name="T5" fmla="*/ 49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72">
                  <a:moveTo>
                    <a:pt x="54" y="49"/>
                  </a:moveTo>
                  <a:cubicBezTo>
                    <a:pt x="57" y="48"/>
                    <a:pt x="108" y="12"/>
                    <a:pt x="85" y="6"/>
                  </a:cubicBezTo>
                  <a:cubicBezTo>
                    <a:pt x="61" y="0"/>
                    <a:pt x="0" y="72"/>
                    <a:pt x="54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58"/>
            <p:cNvSpPr/>
            <p:nvPr/>
          </p:nvSpPr>
          <p:spPr bwMode="auto">
            <a:xfrm>
              <a:off x="1958936" y="4632838"/>
              <a:ext cx="546317" cy="581438"/>
            </a:xfrm>
            <a:custGeom>
              <a:avLst/>
              <a:gdLst>
                <a:gd name="T0" fmla="*/ 15 w 59"/>
                <a:gd name="T1" fmla="*/ 48 h 63"/>
                <a:gd name="T2" fmla="*/ 43 w 59"/>
                <a:gd name="T3" fmla="*/ 3 h 63"/>
                <a:gd name="T4" fmla="*/ 15 w 59"/>
                <a:gd name="T5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63">
                  <a:moveTo>
                    <a:pt x="15" y="48"/>
                  </a:moveTo>
                  <a:cubicBezTo>
                    <a:pt x="22" y="41"/>
                    <a:pt x="59" y="0"/>
                    <a:pt x="43" y="3"/>
                  </a:cubicBezTo>
                  <a:cubicBezTo>
                    <a:pt x="27" y="5"/>
                    <a:pt x="0" y="63"/>
                    <a:pt x="15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59"/>
            <p:cNvSpPr/>
            <p:nvPr/>
          </p:nvSpPr>
          <p:spPr bwMode="auto">
            <a:xfrm>
              <a:off x="2809630" y="4909898"/>
              <a:ext cx="519002" cy="565829"/>
            </a:xfrm>
            <a:custGeom>
              <a:avLst/>
              <a:gdLst>
                <a:gd name="T0" fmla="*/ 17 w 56"/>
                <a:gd name="T1" fmla="*/ 41 h 61"/>
                <a:gd name="T2" fmla="*/ 34 w 56"/>
                <a:gd name="T3" fmla="*/ 6 h 61"/>
                <a:gd name="T4" fmla="*/ 17 w 56"/>
                <a:gd name="T5" fmla="*/ 4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61">
                  <a:moveTo>
                    <a:pt x="17" y="41"/>
                  </a:moveTo>
                  <a:cubicBezTo>
                    <a:pt x="17" y="41"/>
                    <a:pt x="56" y="0"/>
                    <a:pt x="34" y="6"/>
                  </a:cubicBezTo>
                  <a:cubicBezTo>
                    <a:pt x="13" y="12"/>
                    <a:pt x="0" y="61"/>
                    <a:pt x="17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60"/>
            <p:cNvSpPr/>
            <p:nvPr/>
          </p:nvSpPr>
          <p:spPr bwMode="auto">
            <a:xfrm>
              <a:off x="2540375" y="6314712"/>
              <a:ext cx="444858" cy="554121"/>
            </a:xfrm>
            <a:custGeom>
              <a:avLst/>
              <a:gdLst>
                <a:gd name="T0" fmla="*/ 16 w 48"/>
                <a:gd name="T1" fmla="*/ 39 h 60"/>
                <a:gd name="T2" fmla="*/ 31 w 48"/>
                <a:gd name="T3" fmla="*/ 11 h 60"/>
                <a:gd name="T4" fmla="*/ 16 w 48"/>
                <a:gd name="T5" fmla="*/ 3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0">
                  <a:moveTo>
                    <a:pt x="16" y="39"/>
                  </a:moveTo>
                  <a:cubicBezTo>
                    <a:pt x="16" y="39"/>
                    <a:pt x="48" y="0"/>
                    <a:pt x="31" y="11"/>
                  </a:cubicBezTo>
                  <a:cubicBezTo>
                    <a:pt x="14" y="21"/>
                    <a:pt x="0" y="60"/>
                    <a:pt x="16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64"/>
            <p:cNvSpPr/>
            <p:nvPr/>
          </p:nvSpPr>
          <p:spPr bwMode="auto">
            <a:xfrm>
              <a:off x="2950111" y="5592795"/>
              <a:ext cx="534611" cy="491685"/>
            </a:xfrm>
            <a:custGeom>
              <a:avLst/>
              <a:gdLst>
                <a:gd name="T0" fmla="*/ 19 w 58"/>
                <a:gd name="T1" fmla="*/ 34 h 53"/>
                <a:gd name="T2" fmla="*/ 35 w 58"/>
                <a:gd name="T3" fmla="*/ 4 h 53"/>
                <a:gd name="T4" fmla="*/ 19 w 58"/>
                <a:gd name="T5" fmla="*/ 3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53">
                  <a:moveTo>
                    <a:pt x="19" y="34"/>
                  </a:moveTo>
                  <a:cubicBezTo>
                    <a:pt x="19" y="34"/>
                    <a:pt x="58" y="0"/>
                    <a:pt x="35" y="4"/>
                  </a:cubicBezTo>
                  <a:cubicBezTo>
                    <a:pt x="13" y="8"/>
                    <a:pt x="0" y="53"/>
                    <a:pt x="19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65"/>
            <p:cNvSpPr/>
            <p:nvPr/>
          </p:nvSpPr>
          <p:spPr bwMode="auto">
            <a:xfrm>
              <a:off x="1350183" y="5491336"/>
              <a:ext cx="386325" cy="546317"/>
            </a:xfrm>
            <a:custGeom>
              <a:avLst/>
              <a:gdLst>
                <a:gd name="T0" fmla="*/ 9 w 42"/>
                <a:gd name="T1" fmla="*/ 46 h 59"/>
                <a:gd name="T2" fmla="*/ 25 w 42"/>
                <a:gd name="T3" fmla="*/ 14 h 59"/>
                <a:gd name="T4" fmla="*/ 9 w 42"/>
                <a:gd name="T5" fmla="*/ 4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59">
                  <a:moveTo>
                    <a:pt x="9" y="46"/>
                  </a:moveTo>
                  <a:cubicBezTo>
                    <a:pt x="11" y="44"/>
                    <a:pt x="42" y="0"/>
                    <a:pt x="25" y="14"/>
                  </a:cubicBezTo>
                  <a:cubicBezTo>
                    <a:pt x="7" y="28"/>
                    <a:pt x="0" y="59"/>
                    <a:pt x="9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66"/>
            <p:cNvSpPr/>
            <p:nvPr/>
          </p:nvSpPr>
          <p:spPr bwMode="auto">
            <a:xfrm>
              <a:off x="175604" y="5659132"/>
              <a:ext cx="398031" cy="417543"/>
            </a:xfrm>
            <a:custGeom>
              <a:avLst/>
              <a:gdLst>
                <a:gd name="T0" fmla="*/ 13 w 43"/>
                <a:gd name="T1" fmla="*/ 28 h 45"/>
                <a:gd name="T2" fmla="*/ 27 w 43"/>
                <a:gd name="T3" fmla="*/ 5 h 45"/>
                <a:gd name="T4" fmla="*/ 13 w 43"/>
                <a:gd name="T5" fmla="*/ 2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45">
                  <a:moveTo>
                    <a:pt x="13" y="28"/>
                  </a:moveTo>
                  <a:cubicBezTo>
                    <a:pt x="15" y="25"/>
                    <a:pt x="43" y="0"/>
                    <a:pt x="27" y="5"/>
                  </a:cubicBezTo>
                  <a:cubicBezTo>
                    <a:pt x="11" y="9"/>
                    <a:pt x="0" y="45"/>
                    <a:pt x="1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67"/>
            <p:cNvSpPr/>
            <p:nvPr/>
          </p:nvSpPr>
          <p:spPr bwMode="auto">
            <a:xfrm>
              <a:off x="682898" y="4410408"/>
              <a:ext cx="370716" cy="378521"/>
            </a:xfrm>
            <a:custGeom>
              <a:avLst/>
              <a:gdLst>
                <a:gd name="T0" fmla="*/ 16 w 40"/>
                <a:gd name="T1" fmla="*/ 28 h 41"/>
                <a:gd name="T2" fmla="*/ 27 w 40"/>
                <a:gd name="T3" fmla="*/ 4 h 41"/>
                <a:gd name="T4" fmla="*/ 16 w 40"/>
                <a:gd name="T5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41">
                  <a:moveTo>
                    <a:pt x="16" y="28"/>
                  </a:moveTo>
                  <a:cubicBezTo>
                    <a:pt x="19" y="26"/>
                    <a:pt x="40" y="0"/>
                    <a:pt x="27" y="4"/>
                  </a:cubicBezTo>
                  <a:cubicBezTo>
                    <a:pt x="13" y="8"/>
                    <a:pt x="0" y="41"/>
                    <a:pt x="1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71"/>
            <p:cNvSpPr/>
            <p:nvPr/>
          </p:nvSpPr>
          <p:spPr bwMode="auto">
            <a:xfrm>
              <a:off x="-109263" y="6342029"/>
              <a:ext cx="339498" cy="378521"/>
            </a:xfrm>
            <a:custGeom>
              <a:avLst/>
              <a:gdLst>
                <a:gd name="T0" fmla="*/ 9 w 37"/>
                <a:gd name="T1" fmla="*/ 27 h 41"/>
                <a:gd name="T2" fmla="*/ 21 w 37"/>
                <a:gd name="T3" fmla="*/ 1 h 41"/>
                <a:gd name="T4" fmla="*/ 9 w 37"/>
                <a:gd name="T5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41">
                  <a:moveTo>
                    <a:pt x="9" y="27"/>
                  </a:moveTo>
                  <a:cubicBezTo>
                    <a:pt x="10" y="26"/>
                    <a:pt x="37" y="1"/>
                    <a:pt x="21" y="1"/>
                  </a:cubicBezTo>
                  <a:cubicBezTo>
                    <a:pt x="5" y="0"/>
                    <a:pt x="0" y="41"/>
                    <a:pt x="9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6" name="任意多边形 115"/>
          <p:cNvSpPr/>
          <p:nvPr/>
        </p:nvSpPr>
        <p:spPr bwMode="auto">
          <a:xfrm>
            <a:off x="8840267" y="0"/>
            <a:ext cx="3351733" cy="2584248"/>
          </a:xfrm>
          <a:custGeom>
            <a:avLst/>
            <a:gdLst>
              <a:gd name="connsiteX0" fmla="*/ 0 w 3351733"/>
              <a:gd name="connsiteY0" fmla="*/ 0 h 2584248"/>
              <a:gd name="connsiteX1" fmla="*/ 3351733 w 3351733"/>
              <a:gd name="connsiteY1" fmla="*/ 0 h 2584248"/>
              <a:gd name="connsiteX2" fmla="*/ 3351733 w 3351733"/>
              <a:gd name="connsiteY2" fmla="*/ 2584248 h 2584248"/>
              <a:gd name="connsiteX3" fmla="*/ 3347561 w 3351733"/>
              <a:gd name="connsiteY3" fmla="*/ 2582757 h 2584248"/>
              <a:gd name="connsiteX4" fmla="*/ 1324165 w 3351733"/>
              <a:gd name="connsiteY4" fmla="*/ 1390972 h 2584248"/>
              <a:gd name="connsiteX5" fmla="*/ 183548 w 3351733"/>
              <a:gd name="connsiteY5" fmla="*/ 48041 h 258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1733" h="2584248">
                <a:moveTo>
                  <a:pt x="0" y="0"/>
                </a:moveTo>
                <a:lnTo>
                  <a:pt x="3351733" y="0"/>
                </a:lnTo>
                <a:lnTo>
                  <a:pt x="3351733" y="2584248"/>
                </a:lnTo>
                <a:lnTo>
                  <a:pt x="3347561" y="2582757"/>
                </a:lnTo>
                <a:cubicBezTo>
                  <a:pt x="2091023" y="2222450"/>
                  <a:pt x="1333404" y="2240927"/>
                  <a:pt x="1324165" y="1390972"/>
                </a:cubicBezTo>
                <a:cubicBezTo>
                  <a:pt x="1306841" y="602800"/>
                  <a:pt x="1127109" y="309942"/>
                  <a:pt x="183548" y="4804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17" name="剪去单角的矩形 116"/>
          <p:cNvSpPr/>
          <p:nvPr/>
        </p:nvSpPr>
        <p:spPr>
          <a:xfrm>
            <a:off x="5693299" y="1655391"/>
            <a:ext cx="809453" cy="809453"/>
          </a:xfrm>
          <a:prstGeom prst="snip1Rect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rgbClr val="FBFBFB"/>
                </a:solidFill>
              </a:rPr>
              <a:t>2</a:t>
            </a:r>
            <a:endParaRPr lang="en-US" altLang="zh-CN" sz="4800" b="1" dirty="0">
              <a:solidFill>
                <a:srgbClr val="FBFBFB"/>
              </a:solidFill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4406385" y="2722409"/>
            <a:ext cx="33832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accent1"/>
                </a:solidFill>
                <a:latin typeface="+mj-ea"/>
                <a:ea typeface="+mj-ea"/>
              </a:rPr>
              <a:t>数据建模</a:t>
            </a:r>
            <a:endParaRPr lang="zh-CN" altLang="en-US" sz="6000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5731575" y="5424196"/>
            <a:ext cx="729210" cy="90214"/>
            <a:chOff x="5773041" y="5614193"/>
            <a:chExt cx="1026547" cy="127000"/>
          </a:xfrm>
        </p:grpSpPr>
        <p:sp>
          <p:nvSpPr>
            <p:cNvPr id="125" name="椭圆 124"/>
            <p:cNvSpPr/>
            <p:nvPr/>
          </p:nvSpPr>
          <p:spPr>
            <a:xfrm>
              <a:off x="5773041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6222816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6672589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8" name="Freeform 8"/>
          <p:cNvSpPr/>
          <p:nvPr/>
        </p:nvSpPr>
        <p:spPr bwMode="auto">
          <a:xfrm rot="6250221" flipH="1">
            <a:off x="9018209" y="4023944"/>
            <a:ext cx="4697401" cy="2996005"/>
          </a:xfrm>
          <a:custGeom>
            <a:avLst/>
            <a:gdLst>
              <a:gd name="T0" fmla="*/ 0 w 614"/>
              <a:gd name="T1" fmla="*/ 390 h 392"/>
              <a:gd name="T2" fmla="*/ 216 w 614"/>
              <a:gd name="T3" fmla="*/ 298 h 392"/>
              <a:gd name="T4" fmla="*/ 355 w 614"/>
              <a:gd name="T5" fmla="*/ 133 h 392"/>
              <a:gd name="T6" fmla="*/ 594 w 614"/>
              <a:gd name="T7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392">
                <a:moveTo>
                  <a:pt x="0" y="390"/>
                </a:moveTo>
                <a:cubicBezTo>
                  <a:pt x="31" y="392"/>
                  <a:pt x="164" y="392"/>
                  <a:pt x="216" y="298"/>
                </a:cubicBezTo>
                <a:cubicBezTo>
                  <a:pt x="268" y="204"/>
                  <a:pt x="226" y="120"/>
                  <a:pt x="355" y="133"/>
                </a:cubicBezTo>
                <a:cubicBezTo>
                  <a:pt x="484" y="146"/>
                  <a:pt x="614" y="99"/>
                  <a:pt x="594" y="0"/>
                </a:cubicBezTo>
              </a:path>
            </a:pathLst>
          </a:custGeom>
          <a:noFill/>
          <a:ln w="12700" cap="flat">
            <a:solidFill>
              <a:srgbClr val="696177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3439"/>
            <a:ext cx="1656080" cy="52197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</a:rPr>
              <a:t>数据建模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2</a:t>
            </a:r>
            <a:endParaRPr lang="en-US" altLang="zh-CN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343" y="1214479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本研究从三大生态系统中选取十四个具有代表性的项目。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云原生生态包括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Istio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Cilium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Argo-CD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Podman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五个项目，这些项目构成了现代云原生基础设施的核心组件。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Apache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生态包括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Spark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Flink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Airflow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Pulsar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Superset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五个项目，代表了大数据处理领域的主流技术。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AI/ML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生态包括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PyTorch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TensorFlow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Transformers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Scikit-Learn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四个项目，覆盖了深度学习和机器学习的主流框架。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3439"/>
            <a:ext cx="1656080" cy="52197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</a:rPr>
              <a:t>数据建模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2</a:t>
            </a:r>
            <a:endParaRPr lang="en-US" altLang="zh-CN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343" y="1214479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研究从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top_300_metrics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目录中提取六类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JSON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格式指标文件，包括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activity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（活跃度）、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openrank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（网络影响力）、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stars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（关注度）、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bus_factor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（关键人员因子）、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contributor_email_suffixes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（贡献者邮箱域名）和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new_contributors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（新增贡献者）。数据加载后经过时序趋势计算、贡献者多样性统计和非线性标准化处理，最终输入健康度评估模型进行量化分析。</a:t>
            </a:r>
            <a:endParaRPr lang="zh-CN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3439"/>
            <a:ext cx="1656080" cy="52197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</a:rPr>
              <a:t>数据建模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2</a:t>
            </a:r>
            <a:endParaRPr lang="en-US" altLang="zh-CN" sz="2400" b="1" dirty="0">
              <a:solidFill>
                <a:srgbClr val="FBFBFB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26343" y="1214479"/>
                <a:ext cx="9761220" cy="478536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endParaRPr lang="en-US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本研究采用加权因子模型构建开源项目健康度评估体系，通过非线性变换将原始指标映射到标准化得分。综合健康度计算公式为</a:t>
                </a:r>
                <a:endParaRPr lang="zh-CN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act</m:t>
                        </m:r>
                      </m:sub>
                    </m:sSub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zh-CN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inf</m:t>
                        </m:r>
                      </m:sub>
                    </m:sSub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zh-CN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div</m:t>
                        </m:r>
                      </m:sub>
                    </m:sSub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zh-CN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risk</m:t>
                        </m:r>
                      </m:sub>
                    </m:sSub>
                  </m:oMath>
                </a14:m>
                <a:endParaRPr lang="zh-CN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其中活跃度和影响力各占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30%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权重，多样性和风险抵抗各占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20%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权重。权重设置参考了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CHAOSS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社区的开源健康度指标研究成果。</a:t>
                </a:r>
                <a:endParaRPr lang="zh-CN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	</a:t>
                </a:r>
                <a:endParaRPr lang="zh-CN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43" y="1214479"/>
                <a:ext cx="9761220" cy="4785360"/>
              </a:xfrm>
              <a:prstGeom prst="rect">
                <a:avLst/>
              </a:prstGeom>
              <a:blipFill rotWithShape="1">
                <a:blip r:embed="rId1"/>
                <a:stretch>
                  <a:fillRect l="-2" t="-8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3439"/>
            <a:ext cx="1656080" cy="52197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</a:rPr>
              <a:t>数据建模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2</a:t>
            </a:r>
            <a:endParaRPr lang="en-US" altLang="zh-CN" sz="2400" b="1" dirty="0">
              <a:solidFill>
                <a:srgbClr val="FBFBFB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26343" y="1214479"/>
                <a:ext cx="9761220" cy="478536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活跃度维度反映项目的持续开发强度和社区活力，采用对数变换和双曲正切函数进行非线性映射，公式为水平分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avg</m:t>
                        </m:r>
                        <m:r>
                          <m:rPr>
                            <m:lit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，增长分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zh-CN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  <m:r>
                              <m:rPr>
                                <m:lit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act</m:t>
                        </m:r>
                      </m:sub>
                    </m:sSub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水平分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增长分</m:t>
                    </m:r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。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影响力维度基于</a:t>
                </a:r>
                <a:r>
                  <a:rPr lang="en-US" altLang="zh-CN" sz="2000" dirty="0" err="1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OpenRank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指标，采用平方根变换缓解马太效应，公式为水平分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sqrt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avg</m:t>
                        </m:r>
                      </m:e>
                    </m:d>
                  </m:oMath>
                </a14:m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。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多样性维度综合贡献者域名数量和企业参与度，采用指数衰减模型反映边际效应递减。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风险抵抗维度基于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Bus Factor</a:t>
                </a:r>
                <a:r>
                  <a:rPr lang="zh-CN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，公式为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risk</m:t>
                        </m:r>
                      </m:sub>
                    </m:sSub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zh-CN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bf</m:t>
                            </m:r>
                            <m:r>
                              <m:rPr>
                                <m:lit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.</a:t>
                </a:r>
                <a:endParaRPr lang="zh-CN" altLang="zh-CN" sz="2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43" y="1214479"/>
                <a:ext cx="9761220" cy="4785360"/>
              </a:xfrm>
              <a:prstGeom prst="rect">
                <a:avLst/>
              </a:prstGeom>
              <a:blipFill rotWithShape="1">
                <a:blip r:embed="rId1"/>
                <a:stretch>
                  <a:fillRect l="-2" t="-8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 52"/>
          <p:cNvSpPr/>
          <p:nvPr/>
        </p:nvSpPr>
        <p:spPr bwMode="auto">
          <a:xfrm flipH="1">
            <a:off x="0" y="4566259"/>
            <a:ext cx="1645680" cy="2291741"/>
          </a:xfrm>
          <a:custGeom>
            <a:avLst/>
            <a:gdLst>
              <a:gd name="connsiteX0" fmla="*/ 1645680 w 1645680"/>
              <a:gd name="connsiteY0" fmla="*/ 0 h 2291741"/>
              <a:gd name="connsiteX1" fmla="*/ 1645680 w 1645680"/>
              <a:gd name="connsiteY1" fmla="*/ 2291741 h 2291741"/>
              <a:gd name="connsiteX2" fmla="*/ 0 w 1645680"/>
              <a:gd name="connsiteY2" fmla="*/ 2291741 h 2291741"/>
              <a:gd name="connsiteX3" fmla="*/ 4068 w 1645680"/>
              <a:gd name="connsiteY3" fmla="*/ 2274870 h 2291741"/>
              <a:gd name="connsiteX4" fmla="*/ 1020507 w 1645680"/>
              <a:gd name="connsiteY4" fmla="*/ 261654 h 2291741"/>
              <a:gd name="connsiteX5" fmla="*/ 1611746 w 1645680"/>
              <a:gd name="connsiteY5" fmla="*/ 18804 h 229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5680" h="2291741">
                <a:moveTo>
                  <a:pt x="1645680" y="0"/>
                </a:moveTo>
                <a:lnTo>
                  <a:pt x="1645680" y="2291741"/>
                </a:lnTo>
                <a:lnTo>
                  <a:pt x="0" y="2291741"/>
                </a:lnTo>
                <a:lnTo>
                  <a:pt x="4068" y="2274870"/>
                </a:lnTo>
                <a:cubicBezTo>
                  <a:pt x="151914" y="1314436"/>
                  <a:pt x="-5172" y="427882"/>
                  <a:pt x="1020507" y="261654"/>
                </a:cubicBezTo>
                <a:cubicBezTo>
                  <a:pt x="1179904" y="233949"/>
                  <a:pt x="1427661" y="117935"/>
                  <a:pt x="1611746" y="188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96" name="Freeform 45"/>
          <p:cNvSpPr/>
          <p:nvPr/>
        </p:nvSpPr>
        <p:spPr bwMode="auto">
          <a:xfrm>
            <a:off x="-2013567" y="-689848"/>
            <a:ext cx="5755839" cy="3484722"/>
          </a:xfrm>
          <a:custGeom>
            <a:avLst/>
            <a:gdLst>
              <a:gd name="T0" fmla="*/ 0 w 623"/>
              <a:gd name="T1" fmla="*/ 369 h 377"/>
              <a:gd name="T2" fmla="*/ 219 w 623"/>
              <a:gd name="T3" fmla="*/ 285 h 377"/>
              <a:gd name="T4" fmla="*/ 363 w 623"/>
              <a:gd name="T5" fmla="*/ 125 h 377"/>
              <a:gd name="T6" fmla="*/ 606 w 623"/>
              <a:gd name="T7" fmla="*/ 0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3" h="377">
                <a:moveTo>
                  <a:pt x="0" y="369"/>
                </a:moveTo>
                <a:cubicBezTo>
                  <a:pt x="31" y="373"/>
                  <a:pt x="164" y="377"/>
                  <a:pt x="219" y="285"/>
                </a:cubicBezTo>
                <a:cubicBezTo>
                  <a:pt x="274" y="193"/>
                  <a:pt x="235" y="107"/>
                  <a:pt x="363" y="125"/>
                </a:cubicBezTo>
                <a:cubicBezTo>
                  <a:pt x="492" y="142"/>
                  <a:pt x="623" y="100"/>
                  <a:pt x="606" y="0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7" name="Freeform 46"/>
          <p:cNvSpPr/>
          <p:nvPr/>
        </p:nvSpPr>
        <p:spPr bwMode="auto">
          <a:xfrm>
            <a:off x="-2310139" y="-947397"/>
            <a:ext cx="5748034" cy="3484722"/>
          </a:xfrm>
          <a:custGeom>
            <a:avLst/>
            <a:gdLst>
              <a:gd name="T0" fmla="*/ 0 w 622"/>
              <a:gd name="T1" fmla="*/ 369 h 377"/>
              <a:gd name="T2" fmla="*/ 219 w 622"/>
              <a:gd name="T3" fmla="*/ 285 h 377"/>
              <a:gd name="T4" fmla="*/ 363 w 622"/>
              <a:gd name="T5" fmla="*/ 125 h 377"/>
              <a:gd name="T6" fmla="*/ 606 w 622"/>
              <a:gd name="T7" fmla="*/ 0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2" h="377">
                <a:moveTo>
                  <a:pt x="0" y="369"/>
                </a:moveTo>
                <a:cubicBezTo>
                  <a:pt x="31" y="373"/>
                  <a:pt x="164" y="377"/>
                  <a:pt x="219" y="285"/>
                </a:cubicBezTo>
                <a:cubicBezTo>
                  <a:pt x="273" y="193"/>
                  <a:pt x="235" y="107"/>
                  <a:pt x="363" y="125"/>
                </a:cubicBezTo>
                <a:cubicBezTo>
                  <a:pt x="491" y="142"/>
                  <a:pt x="622" y="100"/>
                  <a:pt x="606" y="0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9" name="组合 98"/>
          <p:cNvGrpSpPr/>
          <p:nvPr/>
        </p:nvGrpSpPr>
        <p:grpSpPr>
          <a:xfrm>
            <a:off x="492517" y="4242210"/>
            <a:ext cx="3018280" cy="2887193"/>
            <a:chOff x="-109263" y="3977258"/>
            <a:chExt cx="3593985" cy="3437895"/>
          </a:xfrm>
          <a:solidFill>
            <a:srgbClr val="C4E0E6"/>
          </a:solidFill>
        </p:grpSpPr>
        <p:sp>
          <p:nvSpPr>
            <p:cNvPr id="100" name="Freeform 48"/>
            <p:cNvSpPr/>
            <p:nvPr/>
          </p:nvSpPr>
          <p:spPr bwMode="auto">
            <a:xfrm>
              <a:off x="2118930" y="5901073"/>
              <a:ext cx="698506" cy="772648"/>
            </a:xfrm>
            <a:custGeom>
              <a:avLst/>
              <a:gdLst>
                <a:gd name="T0" fmla="*/ 14 w 76"/>
                <a:gd name="T1" fmla="*/ 68 h 84"/>
                <a:gd name="T2" fmla="*/ 40 w 76"/>
                <a:gd name="T3" fmla="*/ 16 h 84"/>
                <a:gd name="T4" fmla="*/ 14 w 76"/>
                <a:gd name="T5" fmla="*/ 6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84">
                  <a:moveTo>
                    <a:pt x="14" y="68"/>
                  </a:moveTo>
                  <a:cubicBezTo>
                    <a:pt x="19" y="63"/>
                    <a:pt x="76" y="0"/>
                    <a:pt x="40" y="16"/>
                  </a:cubicBezTo>
                  <a:cubicBezTo>
                    <a:pt x="5" y="32"/>
                    <a:pt x="0" y="84"/>
                    <a:pt x="1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9"/>
            <p:cNvSpPr/>
            <p:nvPr/>
          </p:nvSpPr>
          <p:spPr bwMode="auto">
            <a:xfrm>
              <a:off x="1034101" y="6205449"/>
              <a:ext cx="776551" cy="819475"/>
            </a:xfrm>
            <a:custGeom>
              <a:avLst/>
              <a:gdLst>
                <a:gd name="T0" fmla="*/ 19 w 84"/>
                <a:gd name="T1" fmla="*/ 68 h 89"/>
                <a:gd name="T2" fmla="*/ 46 w 84"/>
                <a:gd name="T3" fmla="*/ 9 h 89"/>
                <a:gd name="T4" fmla="*/ 19 w 84"/>
                <a:gd name="T5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9">
                  <a:moveTo>
                    <a:pt x="19" y="68"/>
                  </a:moveTo>
                  <a:cubicBezTo>
                    <a:pt x="24" y="63"/>
                    <a:pt x="84" y="0"/>
                    <a:pt x="46" y="9"/>
                  </a:cubicBezTo>
                  <a:cubicBezTo>
                    <a:pt x="8" y="18"/>
                    <a:pt x="0" y="89"/>
                    <a:pt x="19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51"/>
            <p:cNvSpPr/>
            <p:nvPr/>
          </p:nvSpPr>
          <p:spPr bwMode="auto">
            <a:xfrm>
              <a:off x="1923817" y="5030869"/>
              <a:ext cx="515099" cy="940447"/>
            </a:xfrm>
            <a:custGeom>
              <a:avLst/>
              <a:gdLst>
                <a:gd name="T0" fmla="*/ 43 w 56"/>
                <a:gd name="T1" fmla="*/ 77 h 102"/>
                <a:gd name="T2" fmla="*/ 28 w 56"/>
                <a:gd name="T3" fmla="*/ 39 h 102"/>
                <a:gd name="T4" fmla="*/ 43 w 56"/>
                <a:gd name="T5" fmla="*/ 7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102">
                  <a:moveTo>
                    <a:pt x="43" y="77"/>
                  </a:moveTo>
                  <a:cubicBezTo>
                    <a:pt x="48" y="74"/>
                    <a:pt x="56" y="0"/>
                    <a:pt x="28" y="39"/>
                  </a:cubicBezTo>
                  <a:cubicBezTo>
                    <a:pt x="0" y="79"/>
                    <a:pt x="3" y="102"/>
                    <a:pt x="43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52"/>
            <p:cNvSpPr/>
            <p:nvPr/>
          </p:nvSpPr>
          <p:spPr bwMode="auto">
            <a:xfrm>
              <a:off x="159994" y="5901073"/>
              <a:ext cx="932642" cy="811671"/>
            </a:xfrm>
            <a:custGeom>
              <a:avLst/>
              <a:gdLst>
                <a:gd name="T0" fmla="*/ 22 w 101"/>
                <a:gd name="T1" fmla="*/ 59 h 88"/>
                <a:gd name="T2" fmla="*/ 67 w 101"/>
                <a:gd name="T3" fmla="*/ 2 h 88"/>
                <a:gd name="T4" fmla="*/ 22 w 101"/>
                <a:gd name="T5" fmla="*/ 5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1" h="88">
                  <a:moveTo>
                    <a:pt x="22" y="59"/>
                  </a:moveTo>
                  <a:cubicBezTo>
                    <a:pt x="22" y="59"/>
                    <a:pt x="101" y="3"/>
                    <a:pt x="67" y="2"/>
                  </a:cubicBezTo>
                  <a:cubicBezTo>
                    <a:pt x="33" y="0"/>
                    <a:pt x="0" y="88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53"/>
            <p:cNvSpPr/>
            <p:nvPr/>
          </p:nvSpPr>
          <p:spPr bwMode="auto">
            <a:xfrm>
              <a:off x="1268237" y="4363581"/>
              <a:ext cx="776551" cy="936543"/>
            </a:xfrm>
            <a:custGeom>
              <a:avLst/>
              <a:gdLst>
                <a:gd name="T0" fmla="*/ 34 w 84"/>
                <a:gd name="T1" fmla="*/ 80 h 101"/>
                <a:gd name="T2" fmla="*/ 51 w 84"/>
                <a:gd name="T3" fmla="*/ 28 h 101"/>
                <a:gd name="T4" fmla="*/ 34 w 84"/>
                <a:gd name="T5" fmla="*/ 8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01">
                  <a:moveTo>
                    <a:pt x="34" y="80"/>
                  </a:moveTo>
                  <a:cubicBezTo>
                    <a:pt x="38" y="77"/>
                    <a:pt x="84" y="0"/>
                    <a:pt x="51" y="28"/>
                  </a:cubicBezTo>
                  <a:cubicBezTo>
                    <a:pt x="19" y="55"/>
                    <a:pt x="0" y="101"/>
                    <a:pt x="34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54"/>
            <p:cNvSpPr/>
            <p:nvPr/>
          </p:nvSpPr>
          <p:spPr bwMode="auto">
            <a:xfrm>
              <a:off x="222431" y="6646406"/>
              <a:ext cx="702407" cy="768747"/>
            </a:xfrm>
            <a:custGeom>
              <a:avLst/>
              <a:gdLst>
                <a:gd name="T0" fmla="*/ 20 w 76"/>
                <a:gd name="T1" fmla="*/ 60 h 83"/>
                <a:gd name="T2" fmla="*/ 51 w 76"/>
                <a:gd name="T3" fmla="*/ 3 h 83"/>
                <a:gd name="T4" fmla="*/ 20 w 76"/>
                <a:gd name="T5" fmla="*/ 6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83">
                  <a:moveTo>
                    <a:pt x="20" y="60"/>
                  </a:moveTo>
                  <a:cubicBezTo>
                    <a:pt x="24" y="56"/>
                    <a:pt x="76" y="0"/>
                    <a:pt x="51" y="3"/>
                  </a:cubicBezTo>
                  <a:cubicBezTo>
                    <a:pt x="26" y="7"/>
                    <a:pt x="0" y="83"/>
                    <a:pt x="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56"/>
            <p:cNvSpPr/>
            <p:nvPr/>
          </p:nvSpPr>
          <p:spPr bwMode="auto">
            <a:xfrm>
              <a:off x="538513" y="5011357"/>
              <a:ext cx="487784" cy="682897"/>
            </a:xfrm>
            <a:custGeom>
              <a:avLst/>
              <a:gdLst>
                <a:gd name="T0" fmla="*/ 24 w 53"/>
                <a:gd name="T1" fmla="*/ 41 h 74"/>
                <a:gd name="T2" fmla="*/ 34 w 53"/>
                <a:gd name="T3" fmla="*/ 4 h 74"/>
                <a:gd name="T4" fmla="*/ 24 w 53"/>
                <a:gd name="T5" fmla="*/ 4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74">
                  <a:moveTo>
                    <a:pt x="24" y="41"/>
                  </a:moveTo>
                  <a:cubicBezTo>
                    <a:pt x="24" y="41"/>
                    <a:pt x="53" y="7"/>
                    <a:pt x="34" y="4"/>
                  </a:cubicBezTo>
                  <a:cubicBezTo>
                    <a:pt x="16" y="0"/>
                    <a:pt x="0" y="74"/>
                    <a:pt x="2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57"/>
            <p:cNvSpPr/>
            <p:nvPr/>
          </p:nvSpPr>
          <p:spPr bwMode="auto">
            <a:xfrm>
              <a:off x="952153" y="3977258"/>
              <a:ext cx="998979" cy="667288"/>
            </a:xfrm>
            <a:custGeom>
              <a:avLst/>
              <a:gdLst>
                <a:gd name="T0" fmla="*/ 54 w 108"/>
                <a:gd name="T1" fmla="*/ 49 h 72"/>
                <a:gd name="T2" fmla="*/ 85 w 108"/>
                <a:gd name="T3" fmla="*/ 6 h 72"/>
                <a:gd name="T4" fmla="*/ 54 w 108"/>
                <a:gd name="T5" fmla="*/ 49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72">
                  <a:moveTo>
                    <a:pt x="54" y="49"/>
                  </a:moveTo>
                  <a:cubicBezTo>
                    <a:pt x="57" y="48"/>
                    <a:pt x="108" y="12"/>
                    <a:pt x="85" y="6"/>
                  </a:cubicBezTo>
                  <a:cubicBezTo>
                    <a:pt x="61" y="0"/>
                    <a:pt x="0" y="72"/>
                    <a:pt x="54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58"/>
            <p:cNvSpPr/>
            <p:nvPr/>
          </p:nvSpPr>
          <p:spPr bwMode="auto">
            <a:xfrm>
              <a:off x="1958936" y="4632838"/>
              <a:ext cx="546317" cy="581438"/>
            </a:xfrm>
            <a:custGeom>
              <a:avLst/>
              <a:gdLst>
                <a:gd name="T0" fmla="*/ 15 w 59"/>
                <a:gd name="T1" fmla="*/ 48 h 63"/>
                <a:gd name="T2" fmla="*/ 43 w 59"/>
                <a:gd name="T3" fmla="*/ 3 h 63"/>
                <a:gd name="T4" fmla="*/ 15 w 59"/>
                <a:gd name="T5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63">
                  <a:moveTo>
                    <a:pt x="15" y="48"/>
                  </a:moveTo>
                  <a:cubicBezTo>
                    <a:pt x="22" y="41"/>
                    <a:pt x="59" y="0"/>
                    <a:pt x="43" y="3"/>
                  </a:cubicBezTo>
                  <a:cubicBezTo>
                    <a:pt x="27" y="5"/>
                    <a:pt x="0" y="63"/>
                    <a:pt x="15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59"/>
            <p:cNvSpPr/>
            <p:nvPr/>
          </p:nvSpPr>
          <p:spPr bwMode="auto">
            <a:xfrm>
              <a:off x="2809630" y="4909898"/>
              <a:ext cx="519002" cy="565829"/>
            </a:xfrm>
            <a:custGeom>
              <a:avLst/>
              <a:gdLst>
                <a:gd name="T0" fmla="*/ 17 w 56"/>
                <a:gd name="T1" fmla="*/ 41 h 61"/>
                <a:gd name="T2" fmla="*/ 34 w 56"/>
                <a:gd name="T3" fmla="*/ 6 h 61"/>
                <a:gd name="T4" fmla="*/ 17 w 56"/>
                <a:gd name="T5" fmla="*/ 4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61">
                  <a:moveTo>
                    <a:pt x="17" y="41"/>
                  </a:moveTo>
                  <a:cubicBezTo>
                    <a:pt x="17" y="41"/>
                    <a:pt x="56" y="0"/>
                    <a:pt x="34" y="6"/>
                  </a:cubicBezTo>
                  <a:cubicBezTo>
                    <a:pt x="13" y="12"/>
                    <a:pt x="0" y="61"/>
                    <a:pt x="17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60"/>
            <p:cNvSpPr/>
            <p:nvPr/>
          </p:nvSpPr>
          <p:spPr bwMode="auto">
            <a:xfrm>
              <a:off x="2540375" y="6314712"/>
              <a:ext cx="444858" cy="554121"/>
            </a:xfrm>
            <a:custGeom>
              <a:avLst/>
              <a:gdLst>
                <a:gd name="T0" fmla="*/ 16 w 48"/>
                <a:gd name="T1" fmla="*/ 39 h 60"/>
                <a:gd name="T2" fmla="*/ 31 w 48"/>
                <a:gd name="T3" fmla="*/ 11 h 60"/>
                <a:gd name="T4" fmla="*/ 16 w 48"/>
                <a:gd name="T5" fmla="*/ 3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0">
                  <a:moveTo>
                    <a:pt x="16" y="39"/>
                  </a:moveTo>
                  <a:cubicBezTo>
                    <a:pt x="16" y="39"/>
                    <a:pt x="48" y="0"/>
                    <a:pt x="31" y="11"/>
                  </a:cubicBezTo>
                  <a:cubicBezTo>
                    <a:pt x="14" y="21"/>
                    <a:pt x="0" y="60"/>
                    <a:pt x="16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64"/>
            <p:cNvSpPr/>
            <p:nvPr/>
          </p:nvSpPr>
          <p:spPr bwMode="auto">
            <a:xfrm>
              <a:off x="2950111" y="5592795"/>
              <a:ext cx="534611" cy="491685"/>
            </a:xfrm>
            <a:custGeom>
              <a:avLst/>
              <a:gdLst>
                <a:gd name="T0" fmla="*/ 19 w 58"/>
                <a:gd name="T1" fmla="*/ 34 h 53"/>
                <a:gd name="T2" fmla="*/ 35 w 58"/>
                <a:gd name="T3" fmla="*/ 4 h 53"/>
                <a:gd name="T4" fmla="*/ 19 w 58"/>
                <a:gd name="T5" fmla="*/ 3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53">
                  <a:moveTo>
                    <a:pt x="19" y="34"/>
                  </a:moveTo>
                  <a:cubicBezTo>
                    <a:pt x="19" y="34"/>
                    <a:pt x="58" y="0"/>
                    <a:pt x="35" y="4"/>
                  </a:cubicBezTo>
                  <a:cubicBezTo>
                    <a:pt x="13" y="8"/>
                    <a:pt x="0" y="53"/>
                    <a:pt x="19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65"/>
            <p:cNvSpPr/>
            <p:nvPr/>
          </p:nvSpPr>
          <p:spPr bwMode="auto">
            <a:xfrm>
              <a:off x="1350183" y="5491336"/>
              <a:ext cx="386325" cy="546317"/>
            </a:xfrm>
            <a:custGeom>
              <a:avLst/>
              <a:gdLst>
                <a:gd name="T0" fmla="*/ 9 w 42"/>
                <a:gd name="T1" fmla="*/ 46 h 59"/>
                <a:gd name="T2" fmla="*/ 25 w 42"/>
                <a:gd name="T3" fmla="*/ 14 h 59"/>
                <a:gd name="T4" fmla="*/ 9 w 42"/>
                <a:gd name="T5" fmla="*/ 4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59">
                  <a:moveTo>
                    <a:pt x="9" y="46"/>
                  </a:moveTo>
                  <a:cubicBezTo>
                    <a:pt x="11" y="44"/>
                    <a:pt x="42" y="0"/>
                    <a:pt x="25" y="14"/>
                  </a:cubicBezTo>
                  <a:cubicBezTo>
                    <a:pt x="7" y="28"/>
                    <a:pt x="0" y="59"/>
                    <a:pt x="9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66"/>
            <p:cNvSpPr/>
            <p:nvPr/>
          </p:nvSpPr>
          <p:spPr bwMode="auto">
            <a:xfrm>
              <a:off x="175604" y="5659132"/>
              <a:ext cx="398031" cy="417543"/>
            </a:xfrm>
            <a:custGeom>
              <a:avLst/>
              <a:gdLst>
                <a:gd name="T0" fmla="*/ 13 w 43"/>
                <a:gd name="T1" fmla="*/ 28 h 45"/>
                <a:gd name="T2" fmla="*/ 27 w 43"/>
                <a:gd name="T3" fmla="*/ 5 h 45"/>
                <a:gd name="T4" fmla="*/ 13 w 43"/>
                <a:gd name="T5" fmla="*/ 2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45">
                  <a:moveTo>
                    <a:pt x="13" y="28"/>
                  </a:moveTo>
                  <a:cubicBezTo>
                    <a:pt x="15" y="25"/>
                    <a:pt x="43" y="0"/>
                    <a:pt x="27" y="5"/>
                  </a:cubicBezTo>
                  <a:cubicBezTo>
                    <a:pt x="11" y="9"/>
                    <a:pt x="0" y="45"/>
                    <a:pt x="1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67"/>
            <p:cNvSpPr/>
            <p:nvPr/>
          </p:nvSpPr>
          <p:spPr bwMode="auto">
            <a:xfrm>
              <a:off x="682898" y="4410408"/>
              <a:ext cx="370716" cy="378521"/>
            </a:xfrm>
            <a:custGeom>
              <a:avLst/>
              <a:gdLst>
                <a:gd name="T0" fmla="*/ 16 w 40"/>
                <a:gd name="T1" fmla="*/ 28 h 41"/>
                <a:gd name="T2" fmla="*/ 27 w 40"/>
                <a:gd name="T3" fmla="*/ 4 h 41"/>
                <a:gd name="T4" fmla="*/ 16 w 40"/>
                <a:gd name="T5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41">
                  <a:moveTo>
                    <a:pt x="16" y="28"/>
                  </a:moveTo>
                  <a:cubicBezTo>
                    <a:pt x="19" y="26"/>
                    <a:pt x="40" y="0"/>
                    <a:pt x="27" y="4"/>
                  </a:cubicBezTo>
                  <a:cubicBezTo>
                    <a:pt x="13" y="8"/>
                    <a:pt x="0" y="41"/>
                    <a:pt x="1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71"/>
            <p:cNvSpPr/>
            <p:nvPr/>
          </p:nvSpPr>
          <p:spPr bwMode="auto">
            <a:xfrm>
              <a:off x="-109263" y="6342029"/>
              <a:ext cx="339498" cy="378521"/>
            </a:xfrm>
            <a:custGeom>
              <a:avLst/>
              <a:gdLst>
                <a:gd name="T0" fmla="*/ 9 w 37"/>
                <a:gd name="T1" fmla="*/ 27 h 41"/>
                <a:gd name="T2" fmla="*/ 21 w 37"/>
                <a:gd name="T3" fmla="*/ 1 h 41"/>
                <a:gd name="T4" fmla="*/ 9 w 37"/>
                <a:gd name="T5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41">
                  <a:moveTo>
                    <a:pt x="9" y="27"/>
                  </a:moveTo>
                  <a:cubicBezTo>
                    <a:pt x="10" y="26"/>
                    <a:pt x="37" y="1"/>
                    <a:pt x="21" y="1"/>
                  </a:cubicBezTo>
                  <a:cubicBezTo>
                    <a:pt x="5" y="0"/>
                    <a:pt x="0" y="41"/>
                    <a:pt x="9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6" name="任意多边形 115"/>
          <p:cNvSpPr/>
          <p:nvPr/>
        </p:nvSpPr>
        <p:spPr bwMode="auto">
          <a:xfrm>
            <a:off x="8840267" y="0"/>
            <a:ext cx="3351733" cy="2584248"/>
          </a:xfrm>
          <a:custGeom>
            <a:avLst/>
            <a:gdLst>
              <a:gd name="connsiteX0" fmla="*/ 0 w 3351733"/>
              <a:gd name="connsiteY0" fmla="*/ 0 h 2584248"/>
              <a:gd name="connsiteX1" fmla="*/ 3351733 w 3351733"/>
              <a:gd name="connsiteY1" fmla="*/ 0 h 2584248"/>
              <a:gd name="connsiteX2" fmla="*/ 3351733 w 3351733"/>
              <a:gd name="connsiteY2" fmla="*/ 2584248 h 2584248"/>
              <a:gd name="connsiteX3" fmla="*/ 3347561 w 3351733"/>
              <a:gd name="connsiteY3" fmla="*/ 2582757 h 2584248"/>
              <a:gd name="connsiteX4" fmla="*/ 1324165 w 3351733"/>
              <a:gd name="connsiteY4" fmla="*/ 1390972 h 2584248"/>
              <a:gd name="connsiteX5" fmla="*/ 183548 w 3351733"/>
              <a:gd name="connsiteY5" fmla="*/ 48041 h 258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1733" h="2584248">
                <a:moveTo>
                  <a:pt x="0" y="0"/>
                </a:moveTo>
                <a:lnTo>
                  <a:pt x="3351733" y="0"/>
                </a:lnTo>
                <a:lnTo>
                  <a:pt x="3351733" y="2584248"/>
                </a:lnTo>
                <a:lnTo>
                  <a:pt x="3347561" y="2582757"/>
                </a:lnTo>
                <a:cubicBezTo>
                  <a:pt x="2091023" y="2222450"/>
                  <a:pt x="1333404" y="2240927"/>
                  <a:pt x="1324165" y="1390972"/>
                </a:cubicBezTo>
                <a:cubicBezTo>
                  <a:pt x="1306841" y="602800"/>
                  <a:pt x="1127109" y="309942"/>
                  <a:pt x="183548" y="4804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17" name="剪去单角的矩形 116"/>
          <p:cNvSpPr/>
          <p:nvPr/>
        </p:nvSpPr>
        <p:spPr>
          <a:xfrm>
            <a:off x="5693299" y="1655391"/>
            <a:ext cx="809453" cy="809453"/>
          </a:xfrm>
          <a:prstGeom prst="snip1Rect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rgbClr val="FBFBFB"/>
                </a:solidFill>
              </a:rPr>
              <a:t>3</a:t>
            </a:r>
            <a:endParaRPr lang="zh-CN" altLang="en-US" sz="4800" b="1" dirty="0">
              <a:solidFill>
                <a:srgbClr val="FBFBFB"/>
              </a:solidFill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3985911" y="2722409"/>
            <a:ext cx="4224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accent1"/>
                </a:solidFill>
                <a:latin typeface="+mj-ea"/>
                <a:ea typeface="+mj-ea"/>
              </a:rPr>
              <a:t>数据可视化</a:t>
            </a:r>
            <a:endParaRPr lang="zh-CN" altLang="en-US" sz="6000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5731575" y="5424196"/>
            <a:ext cx="729210" cy="90214"/>
            <a:chOff x="5773041" y="5614193"/>
            <a:chExt cx="1026547" cy="127000"/>
          </a:xfrm>
        </p:grpSpPr>
        <p:sp>
          <p:nvSpPr>
            <p:cNvPr id="125" name="椭圆 124"/>
            <p:cNvSpPr/>
            <p:nvPr/>
          </p:nvSpPr>
          <p:spPr>
            <a:xfrm>
              <a:off x="5773041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6222816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6672589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8" name="Freeform 8"/>
          <p:cNvSpPr/>
          <p:nvPr/>
        </p:nvSpPr>
        <p:spPr bwMode="auto">
          <a:xfrm rot="6250221" flipH="1">
            <a:off x="9018209" y="4023944"/>
            <a:ext cx="4697401" cy="2996005"/>
          </a:xfrm>
          <a:custGeom>
            <a:avLst/>
            <a:gdLst>
              <a:gd name="T0" fmla="*/ 0 w 614"/>
              <a:gd name="T1" fmla="*/ 390 h 392"/>
              <a:gd name="T2" fmla="*/ 216 w 614"/>
              <a:gd name="T3" fmla="*/ 298 h 392"/>
              <a:gd name="T4" fmla="*/ 355 w 614"/>
              <a:gd name="T5" fmla="*/ 133 h 392"/>
              <a:gd name="T6" fmla="*/ 594 w 614"/>
              <a:gd name="T7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392">
                <a:moveTo>
                  <a:pt x="0" y="390"/>
                </a:moveTo>
                <a:cubicBezTo>
                  <a:pt x="31" y="392"/>
                  <a:pt x="164" y="392"/>
                  <a:pt x="216" y="298"/>
                </a:cubicBezTo>
                <a:cubicBezTo>
                  <a:pt x="268" y="204"/>
                  <a:pt x="226" y="120"/>
                  <a:pt x="355" y="133"/>
                </a:cubicBezTo>
                <a:cubicBezTo>
                  <a:pt x="484" y="146"/>
                  <a:pt x="614" y="99"/>
                  <a:pt x="594" y="0"/>
                </a:cubicBezTo>
              </a:path>
            </a:pathLst>
          </a:custGeom>
          <a:noFill/>
          <a:ln w="12700" cap="flat">
            <a:solidFill>
              <a:srgbClr val="696177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从健康度评分结果可以观察到，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位居首位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(85.4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(84.5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Cilium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位列第三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(80.4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TensorFlow(78.8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Spark(77.4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处于中上水平。得分最低的三个项目是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scikit-learn(69.9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superset(69.1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pulsar(68.1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。整体来看，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个项目健康度得分范围在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68-86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分之间，差异明显。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492" y="3361959"/>
            <a:ext cx="5465541" cy="2732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生态系统对比分析显示：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Cloud Native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生态平均健康度最高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(78.3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，得益于广泛的企业参与和良好的社区治理；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AI/ML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(77.1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，虽然活跃度最高但多样性得分稍低；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Apache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(72.2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，与项目普遍处于成熟期、增长放缓有关。活跃度排名为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AI/ML(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1366)&gt;Cloud Native(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1006)&gt;Apache(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732)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，与健康度排名存在差异，说明高活跃度不等同于高健康度。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3851155"/>
            <a:ext cx="4114800" cy="2571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图中展示了四个代表性项目的年度平均活跃度演变。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近期均值最高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(2684)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，峰值出现在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(2930)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，呈上升趋势。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近期均值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2466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，峰值在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(3690)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后逐步回落。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TensorFlow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近期均值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，峰值在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(2832)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，目前呈下降趋势。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近期均值最低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(883)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，峰值在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(1413)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，持续下降。活跃度时序变化揭示了项目生命周期特征，新兴项目处于快速增长期，成熟项目进入稳定维护阶段。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2195" y="3999230"/>
            <a:ext cx="5029200" cy="209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OpenRank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反映项目的网络影响力。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近期均值最高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(1220)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，峰值在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(1363)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近期均值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，峰值在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(1426)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Airflow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近期均值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，峰值在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(476)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Istio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近期均值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，峰值在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(495)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OpenRank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排名：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&gt;Kubernetes&gt;Airflow&gt;Istio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3072" y="3429000"/>
            <a:ext cx="5572740" cy="2321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贡献者多样性是项目健康的重要指标。域名数量排名：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Kubernetes(693)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(501)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Spark(387)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TensorFlow(372)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。企业参与度排名：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Cilium(91.1%)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(87.2%)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Istio(83.1%)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TensorFlow(82.8%)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的域名数量最高，反映了其广泛的贡献者基础；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Cilium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的企业参与度最高，说明该项目在企业用户中影响力较强。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0158" y="3789076"/>
            <a:ext cx="5831532" cy="20822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 Factor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表示项目对核心贡献者的依赖程度，数值越高说明项目越健康。排名：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Kubernetes(200)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(126)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TensorFlow(107)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Spark(41)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 Factor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远高于其他项目，反映了其成熟的社区治理和广泛的贡献者基础。得分较低的项目需要关注核心贡献者离开后项目的可持续性风险。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1015" y="3490546"/>
            <a:ext cx="5029200" cy="3017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为例进行深入分析。图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展示了其年度活跃度趋势：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年约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年达到峰值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3690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，之后逐步回落，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2461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。这一趋势反映了项目从快速增长期进入成熟稳定期的生命周期特征。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9182" y="3055631"/>
            <a:ext cx="5655226" cy="2827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的贡献者域名分布。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google.com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占比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26%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，体现了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作为项目创始者的主导地位；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gmail.com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占比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21%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，反映了大量个人贡献者的参与；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redhat.com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占比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11.4%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，体现了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 Hat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在云原生领域的重要地位。企业参与度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70.7%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，共有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个不同域名参与贡献。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857980"/>
            <a:ext cx="3913505" cy="3913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309370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展示了主要项目的年度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增长情况。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2017-2018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年达到峰值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万星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2019-2021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年快速增长，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TensorFlow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在早期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增长较快但近年放缓。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增长是项目关注度的重要指标，但不能完全代表项目健康状况。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0926" y="3229634"/>
            <a:ext cx="5850147" cy="2437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 dirty="0">
                <a:solidFill>
                  <a:schemeClr val="accent1"/>
                </a:solidFill>
                <a:effectLst/>
                <a:sym typeface="+mn-ea"/>
              </a:rPr>
              <a:t>数据可视化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3</a:t>
            </a:r>
            <a:endParaRPr lang="zh-CN" altLang="en-US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185" y="1244217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66700">
              <a:lnSpc>
                <a:spcPct val="150000"/>
              </a:lnSpc>
              <a:spcAft>
                <a:spcPts val="10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EasyGraph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库构建贡献者协作网络，计算度中心性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(Degree Centrality)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衡量各组织在协作网络中的核心程度。以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Kubernetes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项目为例，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google.com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度中心性最高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850)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gmail.com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redhat.com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位列第三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650)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。企业域名如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redhat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vmware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zte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huawei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microsoft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占据了多数高中心性位置，反映了企业组织在云原生生态中的核心协作地位。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2195" y="3636897"/>
            <a:ext cx="5029200" cy="3017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 52"/>
          <p:cNvSpPr/>
          <p:nvPr/>
        </p:nvSpPr>
        <p:spPr bwMode="auto">
          <a:xfrm flipH="1">
            <a:off x="0" y="4566259"/>
            <a:ext cx="1645680" cy="2291741"/>
          </a:xfrm>
          <a:custGeom>
            <a:avLst/>
            <a:gdLst>
              <a:gd name="connsiteX0" fmla="*/ 1645680 w 1645680"/>
              <a:gd name="connsiteY0" fmla="*/ 0 h 2291741"/>
              <a:gd name="connsiteX1" fmla="*/ 1645680 w 1645680"/>
              <a:gd name="connsiteY1" fmla="*/ 2291741 h 2291741"/>
              <a:gd name="connsiteX2" fmla="*/ 0 w 1645680"/>
              <a:gd name="connsiteY2" fmla="*/ 2291741 h 2291741"/>
              <a:gd name="connsiteX3" fmla="*/ 4068 w 1645680"/>
              <a:gd name="connsiteY3" fmla="*/ 2274870 h 2291741"/>
              <a:gd name="connsiteX4" fmla="*/ 1020507 w 1645680"/>
              <a:gd name="connsiteY4" fmla="*/ 261654 h 2291741"/>
              <a:gd name="connsiteX5" fmla="*/ 1611746 w 1645680"/>
              <a:gd name="connsiteY5" fmla="*/ 18804 h 229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5680" h="2291741">
                <a:moveTo>
                  <a:pt x="1645680" y="0"/>
                </a:moveTo>
                <a:lnTo>
                  <a:pt x="1645680" y="2291741"/>
                </a:lnTo>
                <a:lnTo>
                  <a:pt x="0" y="2291741"/>
                </a:lnTo>
                <a:lnTo>
                  <a:pt x="4068" y="2274870"/>
                </a:lnTo>
                <a:cubicBezTo>
                  <a:pt x="151914" y="1314436"/>
                  <a:pt x="-5172" y="427882"/>
                  <a:pt x="1020507" y="261654"/>
                </a:cubicBezTo>
                <a:cubicBezTo>
                  <a:pt x="1179904" y="233949"/>
                  <a:pt x="1427661" y="117935"/>
                  <a:pt x="1611746" y="188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96" name="Freeform 45"/>
          <p:cNvSpPr/>
          <p:nvPr/>
        </p:nvSpPr>
        <p:spPr bwMode="auto">
          <a:xfrm>
            <a:off x="-2013567" y="-689848"/>
            <a:ext cx="5755839" cy="3484722"/>
          </a:xfrm>
          <a:custGeom>
            <a:avLst/>
            <a:gdLst>
              <a:gd name="T0" fmla="*/ 0 w 623"/>
              <a:gd name="T1" fmla="*/ 369 h 377"/>
              <a:gd name="T2" fmla="*/ 219 w 623"/>
              <a:gd name="T3" fmla="*/ 285 h 377"/>
              <a:gd name="T4" fmla="*/ 363 w 623"/>
              <a:gd name="T5" fmla="*/ 125 h 377"/>
              <a:gd name="T6" fmla="*/ 606 w 623"/>
              <a:gd name="T7" fmla="*/ 0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3" h="377">
                <a:moveTo>
                  <a:pt x="0" y="369"/>
                </a:moveTo>
                <a:cubicBezTo>
                  <a:pt x="31" y="373"/>
                  <a:pt x="164" y="377"/>
                  <a:pt x="219" y="285"/>
                </a:cubicBezTo>
                <a:cubicBezTo>
                  <a:pt x="274" y="193"/>
                  <a:pt x="235" y="107"/>
                  <a:pt x="363" y="125"/>
                </a:cubicBezTo>
                <a:cubicBezTo>
                  <a:pt x="492" y="142"/>
                  <a:pt x="623" y="100"/>
                  <a:pt x="606" y="0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7" name="Freeform 46"/>
          <p:cNvSpPr/>
          <p:nvPr/>
        </p:nvSpPr>
        <p:spPr bwMode="auto">
          <a:xfrm>
            <a:off x="-2310139" y="-947397"/>
            <a:ext cx="5748034" cy="3484722"/>
          </a:xfrm>
          <a:custGeom>
            <a:avLst/>
            <a:gdLst>
              <a:gd name="T0" fmla="*/ 0 w 622"/>
              <a:gd name="T1" fmla="*/ 369 h 377"/>
              <a:gd name="T2" fmla="*/ 219 w 622"/>
              <a:gd name="T3" fmla="*/ 285 h 377"/>
              <a:gd name="T4" fmla="*/ 363 w 622"/>
              <a:gd name="T5" fmla="*/ 125 h 377"/>
              <a:gd name="T6" fmla="*/ 606 w 622"/>
              <a:gd name="T7" fmla="*/ 0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2" h="377">
                <a:moveTo>
                  <a:pt x="0" y="369"/>
                </a:moveTo>
                <a:cubicBezTo>
                  <a:pt x="31" y="373"/>
                  <a:pt x="164" y="377"/>
                  <a:pt x="219" y="285"/>
                </a:cubicBezTo>
                <a:cubicBezTo>
                  <a:pt x="273" y="193"/>
                  <a:pt x="235" y="107"/>
                  <a:pt x="363" y="125"/>
                </a:cubicBezTo>
                <a:cubicBezTo>
                  <a:pt x="491" y="142"/>
                  <a:pt x="622" y="100"/>
                  <a:pt x="606" y="0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99" name="组合 98"/>
          <p:cNvGrpSpPr/>
          <p:nvPr/>
        </p:nvGrpSpPr>
        <p:grpSpPr>
          <a:xfrm>
            <a:off x="492517" y="4242210"/>
            <a:ext cx="3018280" cy="2887193"/>
            <a:chOff x="-109263" y="3977258"/>
            <a:chExt cx="3593985" cy="3437895"/>
          </a:xfrm>
          <a:solidFill>
            <a:srgbClr val="C4E0E6"/>
          </a:solidFill>
        </p:grpSpPr>
        <p:sp>
          <p:nvSpPr>
            <p:cNvPr id="100" name="Freeform 48"/>
            <p:cNvSpPr/>
            <p:nvPr/>
          </p:nvSpPr>
          <p:spPr bwMode="auto">
            <a:xfrm>
              <a:off x="2118930" y="5901073"/>
              <a:ext cx="698506" cy="772648"/>
            </a:xfrm>
            <a:custGeom>
              <a:avLst/>
              <a:gdLst>
                <a:gd name="T0" fmla="*/ 14 w 76"/>
                <a:gd name="T1" fmla="*/ 68 h 84"/>
                <a:gd name="T2" fmla="*/ 40 w 76"/>
                <a:gd name="T3" fmla="*/ 16 h 84"/>
                <a:gd name="T4" fmla="*/ 14 w 76"/>
                <a:gd name="T5" fmla="*/ 6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84">
                  <a:moveTo>
                    <a:pt x="14" y="68"/>
                  </a:moveTo>
                  <a:cubicBezTo>
                    <a:pt x="19" y="63"/>
                    <a:pt x="76" y="0"/>
                    <a:pt x="40" y="16"/>
                  </a:cubicBezTo>
                  <a:cubicBezTo>
                    <a:pt x="5" y="32"/>
                    <a:pt x="0" y="84"/>
                    <a:pt x="1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49"/>
            <p:cNvSpPr/>
            <p:nvPr/>
          </p:nvSpPr>
          <p:spPr bwMode="auto">
            <a:xfrm>
              <a:off x="1034101" y="6205449"/>
              <a:ext cx="776551" cy="819475"/>
            </a:xfrm>
            <a:custGeom>
              <a:avLst/>
              <a:gdLst>
                <a:gd name="T0" fmla="*/ 19 w 84"/>
                <a:gd name="T1" fmla="*/ 68 h 89"/>
                <a:gd name="T2" fmla="*/ 46 w 84"/>
                <a:gd name="T3" fmla="*/ 9 h 89"/>
                <a:gd name="T4" fmla="*/ 19 w 84"/>
                <a:gd name="T5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9">
                  <a:moveTo>
                    <a:pt x="19" y="68"/>
                  </a:moveTo>
                  <a:cubicBezTo>
                    <a:pt x="24" y="63"/>
                    <a:pt x="84" y="0"/>
                    <a:pt x="46" y="9"/>
                  </a:cubicBezTo>
                  <a:cubicBezTo>
                    <a:pt x="8" y="18"/>
                    <a:pt x="0" y="89"/>
                    <a:pt x="19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51"/>
            <p:cNvSpPr/>
            <p:nvPr/>
          </p:nvSpPr>
          <p:spPr bwMode="auto">
            <a:xfrm>
              <a:off x="1923817" y="5030869"/>
              <a:ext cx="515099" cy="940447"/>
            </a:xfrm>
            <a:custGeom>
              <a:avLst/>
              <a:gdLst>
                <a:gd name="T0" fmla="*/ 43 w 56"/>
                <a:gd name="T1" fmla="*/ 77 h 102"/>
                <a:gd name="T2" fmla="*/ 28 w 56"/>
                <a:gd name="T3" fmla="*/ 39 h 102"/>
                <a:gd name="T4" fmla="*/ 43 w 56"/>
                <a:gd name="T5" fmla="*/ 7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102">
                  <a:moveTo>
                    <a:pt x="43" y="77"/>
                  </a:moveTo>
                  <a:cubicBezTo>
                    <a:pt x="48" y="74"/>
                    <a:pt x="56" y="0"/>
                    <a:pt x="28" y="39"/>
                  </a:cubicBezTo>
                  <a:cubicBezTo>
                    <a:pt x="0" y="79"/>
                    <a:pt x="3" y="102"/>
                    <a:pt x="43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52"/>
            <p:cNvSpPr/>
            <p:nvPr/>
          </p:nvSpPr>
          <p:spPr bwMode="auto">
            <a:xfrm>
              <a:off x="159994" y="5901073"/>
              <a:ext cx="932642" cy="811671"/>
            </a:xfrm>
            <a:custGeom>
              <a:avLst/>
              <a:gdLst>
                <a:gd name="T0" fmla="*/ 22 w 101"/>
                <a:gd name="T1" fmla="*/ 59 h 88"/>
                <a:gd name="T2" fmla="*/ 67 w 101"/>
                <a:gd name="T3" fmla="*/ 2 h 88"/>
                <a:gd name="T4" fmla="*/ 22 w 101"/>
                <a:gd name="T5" fmla="*/ 5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1" h="88">
                  <a:moveTo>
                    <a:pt x="22" y="59"/>
                  </a:moveTo>
                  <a:cubicBezTo>
                    <a:pt x="22" y="59"/>
                    <a:pt x="101" y="3"/>
                    <a:pt x="67" y="2"/>
                  </a:cubicBezTo>
                  <a:cubicBezTo>
                    <a:pt x="33" y="0"/>
                    <a:pt x="0" y="88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53"/>
            <p:cNvSpPr/>
            <p:nvPr/>
          </p:nvSpPr>
          <p:spPr bwMode="auto">
            <a:xfrm>
              <a:off x="1268237" y="4363581"/>
              <a:ext cx="776551" cy="936543"/>
            </a:xfrm>
            <a:custGeom>
              <a:avLst/>
              <a:gdLst>
                <a:gd name="T0" fmla="*/ 34 w 84"/>
                <a:gd name="T1" fmla="*/ 80 h 101"/>
                <a:gd name="T2" fmla="*/ 51 w 84"/>
                <a:gd name="T3" fmla="*/ 28 h 101"/>
                <a:gd name="T4" fmla="*/ 34 w 84"/>
                <a:gd name="T5" fmla="*/ 8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01">
                  <a:moveTo>
                    <a:pt x="34" y="80"/>
                  </a:moveTo>
                  <a:cubicBezTo>
                    <a:pt x="38" y="77"/>
                    <a:pt x="84" y="0"/>
                    <a:pt x="51" y="28"/>
                  </a:cubicBezTo>
                  <a:cubicBezTo>
                    <a:pt x="19" y="55"/>
                    <a:pt x="0" y="101"/>
                    <a:pt x="34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54"/>
            <p:cNvSpPr/>
            <p:nvPr/>
          </p:nvSpPr>
          <p:spPr bwMode="auto">
            <a:xfrm>
              <a:off x="222431" y="6646406"/>
              <a:ext cx="702407" cy="768747"/>
            </a:xfrm>
            <a:custGeom>
              <a:avLst/>
              <a:gdLst>
                <a:gd name="T0" fmla="*/ 20 w 76"/>
                <a:gd name="T1" fmla="*/ 60 h 83"/>
                <a:gd name="T2" fmla="*/ 51 w 76"/>
                <a:gd name="T3" fmla="*/ 3 h 83"/>
                <a:gd name="T4" fmla="*/ 20 w 76"/>
                <a:gd name="T5" fmla="*/ 6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83">
                  <a:moveTo>
                    <a:pt x="20" y="60"/>
                  </a:moveTo>
                  <a:cubicBezTo>
                    <a:pt x="24" y="56"/>
                    <a:pt x="76" y="0"/>
                    <a:pt x="51" y="3"/>
                  </a:cubicBezTo>
                  <a:cubicBezTo>
                    <a:pt x="26" y="7"/>
                    <a:pt x="0" y="83"/>
                    <a:pt x="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56"/>
            <p:cNvSpPr/>
            <p:nvPr/>
          </p:nvSpPr>
          <p:spPr bwMode="auto">
            <a:xfrm>
              <a:off x="538513" y="5011357"/>
              <a:ext cx="487784" cy="682897"/>
            </a:xfrm>
            <a:custGeom>
              <a:avLst/>
              <a:gdLst>
                <a:gd name="T0" fmla="*/ 24 w 53"/>
                <a:gd name="T1" fmla="*/ 41 h 74"/>
                <a:gd name="T2" fmla="*/ 34 w 53"/>
                <a:gd name="T3" fmla="*/ 4 h 74"/>
                <a:gd name="T4" fmla="*/ 24 w 53"/>
                <a:gd name="T5" fmla="*/ 4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74">
                  <a:moveTo>
                    <a:pt x="24" y="41"/>
                  </a:moveTo>
                  <a:cubicBezTo>
                    <a:pt x="24" y="41"/>
                    <a:pt x="53" y="7"/>
                    <a:pt x="34" y="4"/>
                  </a:cubicBezTo>
                  <a:cubicBezTo>
                    <a:pt x="16" y="0"/>
                    <a:pt x="0" y="74"/>
                    <a:pt x="2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57"/>
            <p:cNvSpPr/>
            <p:nvPr/>
          </p:nvSpPr>
          <p:spPr bwMode="auto">
            <a:xfrm>
              <a:off x="952153" y="3977258"/>
              <a:ext cx="998979" cy="667288"/>
            </a:xfrm>
            <a:custGeom>
              <a:avLst/>
              <a:gdLst>
                <a:gd name="T0" fmla="*/ 54 w 108"/>
                <a:gd name="T1" fmla="*/ 49 h 72"/>
                <a:gd name="T2" fmla="*/ 85 w 108"/>
                <a:gd name="T3" fmla="*/ 6 h 72"/>
                <a:gd name="T4" fmla="*/ 54 w 108"/>
                <a:gd name="T5" fmla="*/ 49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72">
                  <a:moveTo>
                    <a:pt x="54" y="49"/>
                  </a:moveTo>
                  <a:cubicBezTo>
                    <a:pt x="57" y="48"/>
                    <a:pt x="108" y="12"/>
                    <a:pt x="85" y="6"/>
                  </a:cubicBezTo>
                  <a:cubicBezTo>
                    <a:pt x="61" y="0"/>
                    <a:pt x="0" y="72"/>
                    <a:pt x="54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58"/>
            <p:cNvSpPr/>
            <p:nvPr/>
          </p:nvSpPr>
          <p:spPr bwMode="auto">
            <a:xfrm>
              <a:off x="1958936" y="4632838"/>
              <a:ext cx="546317" cy="581438"/>
            </a:xfrm>
            <a:custGeom>
              <a:avLst/>
              <a:gdLst>
                <a:gd name="T0" fmla="*/ 15 w 59"/>
                <a:gd name="T1" fmla="*/ 48 h 63"/>
                <a:gd name="T2" fmla="*/ 43 w 59"/>
                <a:gd name="T3" fmla="*/ 3 h 63"/>
                <a:gd name="T4" fmla="*/ 15 w 59"/>
                <a:gd name="T5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63">
                  <a:moveTo>
                    <a:pt x="15" y="48"/>
                  </a:moveTo>
                  <a:cubicBezTo>
                    <a:pt x="22" y="41"/>
                    <a:pt x="59" y="0"/>
                    <a:pt x="43" y="3"/>
                  </a:cubicBezTo>
                  <a:cubicBezTo>
                    <a:pt x="27" y="5"/>
                    <a:pt x="0" y="63"/>
                    <a:pt x="15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59"/>
            <p:cNvSpPr/>
            <p:nvPr/>
          </p:nvSpPr>
          <p:spPr bwMode="auto">
            <a:xfrm>
              <a:off x="2809630" y="4909898"/>
              <a:ext cx="519002" cy="565829"/>
            </a:xfrm>
            <a:custGeom>
              <a:avLst/>
              <a:gdLst>
                <a:gd name="T0" fmla="*/ 17 w 56"/>
                <a:gd name="T1" fmla="*/ 41 h 61"/>
                <a:gd name="T2" fmla="*/ 34 w 56"/>
                <a:gd name="T3" fmla="*/ 6 h 61"/>
                <a:gd name="T4" fmla="*/ 17 w 56"/>
                <a:gd name="T5" fmla="*/ 4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" h="61">
                  <a:moveTo>
                    <a:pt x="17" y="41"/>
                  </a:moveTo>
                  <a:cubicBezTo>
                    <a:pt x="17" y="41"/>
                    <a:pt x="56" y="0"/>
                    <a:pt x="34" y="6"/>
                  </a:cubicBezTo>
                  <a:cubicBezTo>
                    <a:pt x="13" y="12"/>
                    <a:pt x="0" y="61"/>
                    <a:pt x="17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60"/>
            <p:cNvSpPr/>
            <p:nvPr/>
          </p:nvSpPr>
          <p:spPr bwMode="auto">
            <a:xfrm>
              <a:off x="2540375" y="6314712"/>
              <a:ext cx="444858" cy="554121"/>
            </a:xfrm>
            <a:custGeom>
              <a:avLst/>
              <a:gdLst>
                <a:gd name="T0" fmla="*/ 16 w 48"/>
                <a:gd name="T1" fmla="*/ 39 h 60"/>
                <a:gd name="T2" fmla="*/ 31 w 48"/>
                <a:gd name="T3" fmla="*/ 11 h 60"/>
                <a:gd name="T4" fmla="*/ 16 w 48"/>
                <a:gd name="T5" fmla="*/ 3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0">
                  <a:moveTo>
                    <a:pt x="16" y="39"/>
                  </a:moveTo>
                  <a:cubicBezTo>
                    <a:pt x="16" y="39"/>
                    <a:pt x="48" y="0"/>
                    <a:pt x="31" y="11"/>
                  </a:cubicBezTo>
                  <a:cubicBezTo>
                    <a:pt x="14" y="21"/>
                    <a:pt x="0" y="60"/>
                    <a:pt x="16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64"/>
            <p:cNvSpPr/>
            <p:nvPr/>
          </p:nvSpPr>
          <p:spPr bwMode="auto">
            <a:xfrm>
              <a:off x="2950111" y="5592795"/>
              <a:ext cx="534611" cy="491685"/>
            </a:xfrm>
            <a:custGeom>
              <a:avLst/>
              <a:gdLst>
                <a:gd name="T0" fmla="*/ 19 w 58"/>
                <a:gd name="T1" fmla="*/ 34 h 53"/>
                <a:gd name="T2" fmla="*/ 35 w 58"/>
                <a:gd name="T3" fmla="*/ 4 h 53"/>
                <a:gd name="T4" fmla="*/ 19 w 58"/>
                <a:gd name="T5" fmla="*/ 3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53">
                  <a:moveTo>
                    <a:pt x="19" y="34"/>
                  </a:moveTo>
                  <a:cubicBezTo>
                    <a:pt x="19" y="34"/>
                    <a:pt x="58" y="0"/>
                    <a:pt x="35" y="4"/>
                  </a:cubicBezTo>
                  <a:cubicBezTo>
                    <a:pt x="13" y="8"/>
                    <a:pt x="0" y="53"/>
                    <a:pt x="19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65"/>
            <p:cNvSpPr/>
            <p:nvPr/>
          </p:nvSpPr>
          <p:spPr bwMode="auto">
            <a:xfrm>
              <a:off x="1350183" y="5491336"/>
              <a:ext cx="386325" cy="546317"/>
            </a:xfrm>
            <a:custGeom>
              <a:avLst/>
              <a:gdLst>
                <a:gd name="T0" fmla="*/ 9 w 42"/>
                <a:gd name="T1" fmla="*/ 46 h 59"/>
                <a:gd name="T2" fmla="*/ 25 w 42"/>
                <a:gd name="T3" fmla="*/ 14 h 59"/>
                <a:gd name="T4" fmla="*/ 9 w 42"/>
                <a:gd name="T5" fmla="*/ 4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59">
                  <a:moveTo>
                    <a:pt x="9" y="46"/>
                  </a:moveTo>
                  <a:cubicBezTo>
                    <a:pt x="11" y="44"/>
                    <a:pt x="42" y="0"/>
                    <a:pt x="25" y="14"/>
                  </a:cubicBezTo>
                  <a:cubicBezTo>
                    <a:pt x="7" y="28"/>
                    <a:pt x="0" y="59"/>
                    <a:pt x="9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66"/>
            <p:cNvSpPr/>
            <p:nvPr/>
          </p:nvSpPr>
          <p:spPr bwMode="auto">
            <a:xfrm>
              <a:off x="175604" y="5659132"/>
              <a:ext cx="398031" cy="417543"/>
            </a:xfrm>
            <a:custGeom>
              <a:avLst/>
              <a:gdLst>
                <a:gd name="T0" fmla="*/ 13 w 43"/>
                <a:gd name="T1" fmla="*/ 28 h 45"/>
                <a:gd name="T2" fmla="*/ 27 w 43"/>
                <a:gd name="T3" fmla="*/ 5 h 45"/>
                <a:gd name="T4" fmla="*/ 13 w 43"/>
                <a:gd name="T5" fmla="*/ 2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45">
                  <a:moveTo>
                    <a:pt x="13" y="28"/>
                  </a:moveTo>
                  <a:cubicBezTo>
                    <a:pt x="15" y="25"/>
                    <a:pt x="43" y="0"/>
                    <a:pt x="27" y="5"/>
                  </a:cubicBezTo>
                  <a:cubicBezTo>
                    <a:pt x="11" y="9"/>
                    <a:pt x="0" y="45"/>
                    <a:pt x="1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67"/>
            <p:cNvSpPr/>
            <p:nvPr/>
          </p:nvSpPr>
          <p:spPr bwMode="auto">
            <a:xfrm>
              <a:off x="682898" y="4410408"/>
              <a:ext cx="370716" cy="378521"/>
            </a:xfrm>
            <a:custGeom>
              <a:avLst/>
              <a:gdLst>
                <a:gd name="T0" fmla="*/ 16 w 40"/>
                <a:gd name="T1" fmla="*/ 28 h 41"/>
                <a:gd name="T2" fmla="*/ 27 w 40"/>
                <a:gd name="T3" fmla="*/ 4 h 41"/>
                <a:gd name="T4" fmla="*/ 16 w 40"/>
                <a:gd name="T5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41">
                  <a:moveTo>
                    <a:pt x="16" y="28"/>
                  </a:moveTo>
                  <a:cubicBezTo>
                    <a:pt x="19" y="26"/>
                    <a:pt x="40" y="0"/>
                    <a:pt x="27" y="4"/>
                  </a:cubicBezTo>
                  <a:cubicBezTo>
                    <a:pt x="13" y="8"/>
                    <a:pt x="0" y="41"/>
                    <a:pt x="1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71"/>
            <p:cNvSpPr/>
            <p:nvPr/>
          </p:nvSpPr>
          <p:spPr bwMode="auto">
            <a:xfrm>
              <a:off x="-109263" y="6342029"/>
              <a:ext cx="339498" cy="378521"/>
            </a:xfrm>
            <a:custGeom>
              <a:avLst/>
              <a:gdLst>
                <a:gd name="T0" fmla="*/ 9 w 37"/>
                <a:gd name="T1" fmla="*/ 27 h 41"/>
                <a:gd name="T2" fmla="*/ 21 w 37"/>
                <a:gd name="T3" fmla="*/ 1 h 41"/>
                <a:gd name="T4" fmla="*/ 9 w 37"/>
                <a:gd name="T5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41">
                  <a:moveTo>
                    <a:pt x="9" y="27"/>
                  </a:moveTo>
                  <a:cubicBezTo>
                    <a:pt x="10" y="26"/>
                    <a:pt x="37" y="1"/>
                    <a:pt x="21" y="1"/>
                  </a:cubicBezTo>
                  <a:cubicBezTo>
                    <a:pt x="5" y="0"/>
                    <a:pt x="0" y="41"/>
                    <a:pt x="9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6" name="任意多边形 115"/>
          <p:cNvSpPr/>
          <p:nvPr/>
        </p:nvSpPr>
        <p:spPr bwMode="auto">
          <a:xfrm>
            <a:off x="8840267" y="0"/>
            <a:ext cx="3351733" cy="2584248"/>
          </a:xfrm>
          <a:custGeom>
            <a:avLst/>
            <a:gdLst>
              <a:gd name="connsiteX0" fmla="*/ 0 w 3351733"/>
              <a:gd name="connsiteY0" fmla="*/ 0 h 2584248"/>
              <a:gd name="connsiteX1" fmla="*/ 3351733 w 3351733"/>
              <a:gd name="connsiteY1" fmla="*/ 0 h 2584248"/>
              <a:gd name="connsiteX2" fmla="*/ 3351733 w 3351733"/>
              <a:gd name="connsiteY2" fmla="*/ 2584248 h 2584248"/>
              <a:gd name="connsiteX3" fmla="*/ 3347561 w 3351733"/>
              <a:gd name="connsiteY3" fmla="*/ 2582757 h 2584248"/>
              <a:gd name="connsiteX4" fmla="*/ 1324165 w 3351733"/>
              <a:gd name="connsiteY4" fmla="*/ 1390972 h 2584248"/>
              <a:gd name="connsiteX5" fmla="*/ 183548 w 3351733"/>
              <a:gd name="connsiteY5" fmla="*/ 48041 h 258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1733" h="2584248">
                <a:moveTo>
                  <a:pt x="0" y="0"/>
                </a:moveTo>
                <a:lnTo>
                  <a:pt x="3351733" y="0"/>
                </a:lnTo>
                <a:lnTo>
                  <a:pt x="3351733" y="2584248"/>
                </a:lnTo>
                <a:lnTo>
                  <a:pt x="3347561" y="2582757"/>
                </a:lnTo>
                <a:cubicBezTo>
                  <a:pt x="2091023" y="2222450"/>
                  <a:pt x="1333404" y="2240927"/>
                  <a:pt x="1324165" y="1390972"/>
                </a:cubicBezTo>
                <a:cubicBezTo>
                  <a:pt x="1306841" y="602800"/>
                  <a:pt x="1127109" y="309942"/>
                  <a:pt x="183548" y="4804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17" name="剪去单角的矩形 116"/>
          <p:cNvSpPr/>
          <p:nvPr/>
        </p:nvSpPr>
        <p:spPr>
          <a:xfrm>
            <a:off x="5693299" y="1655391"/>
            <a:ext cx="809453" cy="809453"/>
          </a:xfrm>
          <a:prstGeom prst="snip1Rect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rgbClr val="FBFBFB"/>
                </a:solidFill>
              </a:rPr>
              <a:t>4</a:t>
            </a:r>
            <a:endParaRPr lang="en-US" altLang="zh-CN" sz="4800" b="1" dirty="0">
              <a:solidFill>
                <a:srgbClr val="FBFBFB"/>
              </a:solidFill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3985909" y="2722409"/>
            <a:ext cx="4224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accent1"/>
                </a:solidFill>
                <a:latin typeface="+mj-ea"/>
                <a:ea typeface="+mj-ea"/>
              </a:rPr>
              <a:t>结论与建议</a:t>
            </a:r>
            <a:endParaRPr lang="zh-CN" altLang="en-US" sz="6000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5731575" y="5424196"/>
            <a:ext cx="729210" cy="90214"/>
            <a:chOff x="5773041" y="5614193"/>
            <a:chExt cx="1026547" cy="127000"/>
          </a:xfrm>
        </p:grpSpPr>
        <p:sp>
          <p:nvSpPr>
            <p:cNvPr id="125" name="椭圆 124"/>
            <p:cNvSpPr/>
            <p:nvPr/>
          </p:nvSpPr>
          <p:spPr>
            <a:xfrm>
              <a:off x="5773041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6222816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6672589" y="5614193"/>
              <a:ext cx="126999" cy="127000"/>
            </a:xfrm>
            <a:prstGeom prst="ellipse">
              <a:avLst/>
            </a:prstGeom>
            <a:noFill/>
            <a:ln w="19050">
              <a:solidFill>
                <a:srgbClr val="6CC4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8" name="Freeform 8"/>
          <p:cNvSpPr/>
          <p:nvPr/>
        </p:nvSpPr>
        <p:spPr bwMode="auto">
          <a:xfrm rot="6250221" flipH="1">
            <a:off x="9018209" y="4023944"/>
            <a:ext cx="4697401" cy="2996005"/>
          </a:xfrm>
          <a:custGeom>
            <a:avLst/>
            <a:gdLst>
              <a:gd name="T0" fmla="*/ 0 w 614"/>
              <a:gd name="T1" fmla="*/ 390 h 392"/>
              <a:gd name="T2" fmla="*/ 216 w 614"/>
              <a:gd name="T3" fmla="*/ 298 h 392"/>
              <a:gd name="T4" fmla="*/ 355 w 614"/>
              <a:gd name="T5" fmla="*/ 133 h 392"/>
              <a:gd name="T6" fmla="*/ 594 w 614"/>
              <a:gd name="T7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392">
                <a:moveTo>
                  <a:pt x="0" y="390"/>
                </a:moveTo>
                <a:cubicBezTo>
                  <a:pt x="31" y="392"/>
                  <a:pt x="164" y="392"/>
                  <a:pt x="216" y="298"/>
                </a:cubicBezTo>
                <a:cubicBezTo>
                  <a:pt x="268" y="204"/>
                  <a:pt x="226" y="120"/>
                  <a:pt x="355" y="133"/>
                </a:cubicBezTo>
                <a:cubicBezTo>
                  <a:pt x="484" y="146"/>
                  <a:pt x="614" y="99"/>
                  <a:pt x="594" y="0"/>
                </a:cubicBezTo>
              </a:path>
            </a:pathLst>
          </a:custGeom>
          <a:noFill/>
          <a:ln w="12700" cap="flat">
            <a:solidFill>
              <a:srgbClr val="696177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29994" y="4929137"/>
            <a:ext cx="1106551" cy="954107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effectLst/>
                <a:latin typeface="+mj-ea"/>
                <a:ea typeface="+mj-ea"/>
              </a:rPr>
              <a:t>添加主题</a:t>
            </a:r>
            <a:endParaRPr lang="en-US" altLang="zh-CN" sz="2800" b="1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26343" y="372814"/>
            <a:ext cx="204414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>
              <a:defRPr sz="3200" spc="200">
                <a:solidFill>
                  <a:srgbClr val="245188"/>
                </a:solidFill>
                <a:effectLst>
                  <a:outerShdw blurRad="127000" dist="63500" dir="2700000" algn="tl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spc="100">
                <a:solidFill>
                  <a:schemeClr val="accent1"/>
                </a:solidFill>
                <a:effectLst/>
              </a:rPr>
              <a:t>结论与建议</a:t>
            </a:r>
            <a:endParaRPr lang="zh-CN" altLang="en-US" sz="2800" spc="10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0" y="632614"/>
            <a:ext cx="5009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3783970" y="632614"/>
            <a:ext cx="840803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剪去单角的矩形 55"/>
          <p:cNvSpPr/>
          <p:nvPr/>
        </p:nvSpPr>
        <p:spPr>
          <a:xfrm>
            <a:off x="653756" y="417111"/>
            <a:ext cx="431006" cy="431006"/>
          </a:xfrm>
          <a:prstGeom prst="snip1Rect">
            <a:avLst/>
          </a:prstGeom>
          <a:gradFill>
            <a:gsLst>
              <a:gs pos="11000">
                <a:schemeClr val="accent2"/>
              </a:gs>
              <a:gs pos="99000">
                <a:srgbClr val="FBFBFB"/>
              </a:gs>
            </a:gsLst>
            <a:lin ang="2700000" scaled="0"/>
          </a:gra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BFBFB"/>
                </a:solidFill>
              </a:rPr>
              <a:t>4</a:t>
            </a:r>
            <a:endParaRPr lang="en-US" altLang="zh-CN" sz="2400" b="1" dirty="0">
              <a:solidFill>
                <a:srgbClr val="FBFBFB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6343" y="1214479"/>
            <a:ext cx="9761220" cy="47853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本研究构建的加权因子健康度评估模型能够有效区分项目健康状态。实验结果显示：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PyTorch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(85.4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Kubernetes(84.5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健康度最高，均超过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分高健康线；研究发现高活跃度不等同于高健康度，多样性和风险抵抗能力同样重要。企业参与度高的项目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cilium 91.1%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pytorch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87.2%)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风险抵抗能力更强。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对于开发者，建议优先选择综合得分高于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分的项目，同时关注项目的生命周期阶段。对于项目运营者，应注重提升贡献者多样性和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Bus Factor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，避免对少数核心贡献者的过度依赖。未来研究可进一步引入代码质量、安全漏洞等维度，构建更全面的评估体系。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PA" val="v5.2.2"/>
</p:tagLst>
</file>

<file path=ppt/tags/tag2.xml><?xml version="1.0" encoding="utf-8"?>
<p:tagLst xmlns:p="http://schemas.openxmlformats.org/presentationml/2006/main">
  <p:tag name="PA" val="v5.2.2"/>
</p:tagLst>
</file>

<file path=ppt/tags/tag3.xml><?xml version="1.0" encoding="utf-8"?>
<p:tagLst xmlns:p="http://schemas.openxmlformats.org/presentationml/2006/main">
  <p:tag name="PA" val="v5.2.2"/>
</p:tagLst>
</file>

<file path=ppt/tags/tag4.xml><?xml version="1.0" encoding="utf-8"?>
<p:tagLst xmlns:p="http://schemas.openxmlformats.org/presentationml/2006/main">
  <p:tag name="PA" val="v5.2.2"/>
</p:tagLst>
</file>

<file path=ppt/tags/tag5.xml><?xml version="1.0" encoding="utf-8"?>
<p:tagLst xmlns:p="http://schemas.openxmlformats.org/presentationml/2006/main">
  <p:tag name="PA" val="v5.2.2"/>
</p:tagLst>
</file>

<file path=ppt/tags/tag6.xml><?xml version="1.0" encoding="utf-8"?>
<p:tagLst xmlns:p="http://schemas.openxmlformats.org/presentationml/2006/main">
  <p:tag name="KSO_WM_DIAGRAM_VIRTUALLY_FRAME" val="{&quot;height&quot;:148.9808661417323,&quot;left&quot;:163.9427559055118,&quot;top&quot;:190.19724409448818,&quot;width&quot;:625.4656692913386}"/>
</p:tagLst>
</file>

<file path=ppt/tags/tag7.xml><?xml version="1.0" encoding="utf-8"?>
<p:tagLst xmlns:p="http://schemas.openxmlformats.org/presentationml/2006/main">
  <p:tag name="KSO_WM_DIAGRAM_VIRTUALLY_FRAME" val="{&quot;height&quot;:148.9808661417323,&quot;left&quot;:163.9427559055118,&quot;top&quot;:190.19724409448818,&quot;width&quot;:625.4656692913386}"/>
</p:tagLst>
</file>

<file path=ppt/tags/tag8.xml><?xml version="1.0" encoding="utf-8"?>
<p:tagLst xmlns:p="http://schemas.openxmlformats.org/presentationml/2006/main">
  <p:tag name="KSO_WM_DIAGRAM_VIRTUALLY_FRAME" val="{&quot;height&quot;:148.9808661417323,&quot;left&quot;:163.9427559055118,&quot;top&quot;:190.19724409448818,&quot;width&quot;:625.4656692913386}"/>
</p:tagLst>
</file>

<file path=ppt/tags/tag9.xml><?xml version="1.0" encoding="utf-8"?>
<p:tagLst xmlns:p="http://schemas.openxmlformats.org/presentationml/2006/main">
  <p:tag name="KSO_WM_DIAGRAM_VIRTUALLY_FRAME" val="{&quot;height&quot;:148.9808661417323,&quot;left&quot;:163.9427559055118,&quot;top&quot;:190.19724409448818,&quot;width&quot;:625.4656692913386}"/>
</p:tagLst>
</file>

<file path=ppt/tags/tag10.xml><?xml version="1.0" encoding="utf-8"?>
<p:tagLst xmlns:p="http://schemas.openxmlformats.org/presentationml/2006/main">
  <p:tag name="KSO_WM_DIAGRAM_VIRTUALLY_FRAME" val="{&quot;height&quot;:148.9808661417323,&quot;left&quot;:163.9427559055118,&quot;top&quot;:190.19724409448818,&quot;width&quot;:625.4656692913386}"/>
</p:tagLst>
</file>

<file path=ppt/tags/tag11.xml><?xml version="1.0" encoding="utf-8"?>
<p:tagLst xmlns:p="http://schemas.openxmlformats.org/presentationml/2006/main">
  <p:tag name="KSO_WM_DIAGRAM_VIRTUALLY_FRAME" val="{&quot;height&quot;:148.9808661417323,&quot;left&quot;:163.9427559055118,&quot;top&quot;:190.19724409448818,&quot;width&quot;:625.4656692913386}"/>
</p:tagLst>
</file>

<file path=ppt/tags/tag12.xml><?xml version="1.0" encoding="utf-8"?>
<p:tagLst xmlns:p="http://schemas.openxmlformats.org/presentationml/2006/main">
  <p:tag name="KSO_WM_DIAGRAM_VIRTUALLY_FRAME" val="{&quot;height&quot;:148.9808661417323,&quot;left&quot;:163.9427559055118,&quot;top&quot;:190.19724409448818,&quot;width&quot;:625.4656692913386}"/>
</p:tagLst>
</file>

<file path=ppt/tags/tag13.xml><?xml version="1.0" encoding="utf-8"?>
<p:tagLst xmlns:p="http://schemas.openxmlformats.org/presentationml/2006/main">
  <p:tag name="KSO_WM_DIAGRAM_VIRTUALLY_FRAME" val="{&quot;height&quot;:148.9808661417323,&quot;left&quot;:163.9427559055118,&quot;top&quot;:190.19724409448818,&quot;width&quot;:625.4656692913386}"/>
</p:tagLst>
</file>

<file path=ppt/theme/theme1.xml><?xml version="1.0" encoding="utf-8"?>
<a:theme xmlns:a="http://schemas.openxmlformats.org/drawingml/2006/main" name="Office 主题">
  <a:themeElements>
    <a:clrScheme name="自定义 2009">
      <a:dk1>
        <a:sysClr val="windowText" lastClr="000000"/>
      </a:dk1>
      <a:lt1>
        <a:sysClr val="window" lastClr="FFFFFF"/>
      </a:lt1>
      <a:dk2>
        <a:srgbClr val="3F3F3F"/>
      </a:dk2>
      <a:lt2>
        <a:srgbClr val="E7E6E6"/>
      </a:lt2>
      <a:accent1>
        <a:srgbClr val="333561"/>
      </a:accent1>
      <a:accent2>
        <a:srgbClr val="72B7BE"/>
      </a:accent2>
      <a:accent3>
        <a:srgbClr val="FFC939"/>
      </a:accent3>
      <a:accent4>
        <a:srgbClr val="FFC000"/>
      </a:accent4>
      <a:accent5>
        <a:srgbClr val="FFC939"/>
      </a:accent5>
      <a:accent6>
        <a:srgbClr val="FFC000"/>
      </a:accent6>
      <a:hlink>
        <a:srgbClr val="0563C1"/>
      </a:hlink>
      <a:folHlink>
        <a:srgbClr val="954F72"/>
      </a:folHlink>
    </a:clrScheme>
    <a:fontScheme name="自定义 50">
      <a:majorFont>
        <a:latin typeface="Century Gothic"/>
        <a:ea typeface="思源黑体 CN Bold"/>
        <a:cs typeface=""/>
      </a:majorFont>
      <a:minorFont>
        <a:latin typeface="Century Gothic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3673</Words>
  <Application>WPS 演示</Application>
  <PresentationFormat>宽屏</PresentationFormat>
  <Paragraphs>194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Lato</vt:lpstr>
      <vt:lpstr>DIN-BlackItalic</vt:lpstr>
      <vt:lpstr>Segoe Print</vt:lpstr>
      <vt:lpstr>思源黑体 CN Heavy</vt:lpstr>
      <vt:lpstr>黑体</vt:lpstr>
      <vt:lpstr>微软雅黑</vt:lpstr>
      <vt:lpstr>Century Gothic</vt:lpstr>
      <vt:lpstr>思源黑体 CN Bold</vt:lpstr>
      <vt:lpstr>Arial Unicode MS</vt:lpstr>
      <vt:lpstr>Calibri</vt:lpstr>
      <vt:lpstr>Cambria Math</vt:lpstr>
      <vt:lpstr>思源黑体 CN Normal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syy</cp:lastModifiedBy>
  <cp:revision>4</cp:revision>
  <dcterms:created xsi:type="dcterms:W3CDTF">2026-01-13T10:44:00Z</dcterms:created>
  <dcterms:modified xsi:type="dcterms:W3CDTF">2026-01-13T12:00:04Z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0C8C27A865174221AEA23C1EBDD58BC8_13</vt:lpwstr>
  </property>
  <property fmtid="{D5CDD505-2E9C-101B-9397-08002B2CF9AE}" pid="3" name="KSOProductBuildVer">
    <vt:lpwstr>2052-12.1.0.23542</vt:lpwstr>
  </property>
  <property fmtid="{D5CDD505-2E9C-101B-9397-08002B2CF9AE}" pid="4" name="KSOTemplateUUID">
    <vt:lpwstr>v1.0_mb_w1fFbVHteU6icVawpyrBnw==</vt:lpwstr>
  </property>
</Properties>
</file>